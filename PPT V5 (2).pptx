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2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39"/>
  </p:notesMasterIdLst>
  <p:sldIdLst>
    <p:sldId id="256" r:id="rId2"/>
    <p:sldId id="272" r:id="rId3"/>
    <p:sldId id="293" r:id="rId4"/>
    <p:sldId id="294" r:id="rId5"/>
    <p:sldId id="311" r:id="rId6"/>
    <p:sldId id="257" r:id="rId7"/>
    <p:sldId id="312" r:id="rId8"/>
    <p:sldId id="313" r:id="rId9"/>
    <p:sldId id="283" r:id="rId10"/>
    <p:sldId id="301" r:id="rId11"/>
    <p:sldId id="264" r:id="rId12"/>
    <p:sldId id="334" r:id="rId13"/>
    <p:sldId id="315" r:id="rId14"/>
    <p:sldId id="316" r:id="rId15"/>
    <p:sldId id="328" r:id="rId16"/>
    <p:sldId id="258" r:id="rId17"/>
    <p:sldId id="259" r:id="rId18"/>
    <p:sldId id="318" r:id="rId19"/>
    <p:sldId id="321" r:id="rId20"/>
    <p:sldId id="335" r:id="rId21"/>
    <p:sldId id="317" r:id="rId22"/>
    <p:sldId id="320" r:id="rId23"/>
    <p:sldId id="326" r:id="rId24"/>
    <p:sldId id="323" r:id="rId25"/>
    <p:sldId id="336" r:id="rId26"/>
    <p:sldId id="329" r:id="rId27"/>
    <p:sldId id="281" r:id="rId28"/>
    <p:sldId id="319" r:id="rId29"/>
    <p:sldId id="325" r:id="rId30"/>
    <p:sldId id="322" r:id="rId31"/>
    <p:sldId id="327" r:id="rId32"/>
    <p:sldId id="331" r:id="rId33"/>
    <p:sldId id="330" r:id="rId34"/>
    <p:sldId id="332" r:id="rId35"/>
    <p:sldId id="333" r:id="rId36"/>
    <p:sldId id="268" r:id="rId37"/>
    <p:sldId id="270" r:id="rId38"/>
  </p:sldIdLst>
  <p:sldSz cx="18288000" cy="10287000"/>
  <p:notesSz cx="6858000" cy="9144000"/>
  <p:embeddedFontLst>
    <p:embeddedFont>
      <p:font typeface="Montaser Arabic Bold" panose="020B0604020202020204" charset="-78"/>
      <p:regular r:id="rId40"/>
    </p:embeddedFont>
    <p:embeddedFont>
      <p:font typeface="Montaser Arabic Semi-Bold" panose="020B0604020202020204" charset="-78"/>
      <p:regular r:id="rId41"/>
    </p:embeddedFont>
    <p:embeddedFont>
      <p:font typeface="Roboto" panose="02000000000000000000" pitchFamily="2" charset="0"/>
      <p:regular r:id="rId42"/>
      <p:bold r:id="rId43"/>
      <p:italic r:id="rId44"/>
      <p:boldItalic r:id="rId45"/>
    </p:embeddedFont>
    <p:embeddedFont>
      <p:font typeface="Roboto Bold" panose="02000000000000000000" charset="0"/>
      <p:regular r:id="rId4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46" d="100"/>
          <a:sy n="46" d="100"/>
        </p:scale>
        <p:origin x="1186" y="4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font" Target="fonts/font3.fntdata"/><Relationship Id="rId47" Type="http://schemas.openxmlformats.org/officeDocument/2006/relationships/presProps" Target="presProps.xml"/><Relationship Id="rId50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font" Target="fonts/font7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font" Target="fonts/font2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font" Target="fonts/font1.fntdata"/><Relationship Id="rId45" Type="http://schemas.openxmlformats.org/officeDocument/2006/relationships/font" Target="fonts/font6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font" Target="fonts/font5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font" Target="fonts/font4.fntdata"/><Relationship Id="rId48" Type="http://schemas.openxmlformats.org/officeDocument/2006/relationships/viewProps" Target="viewProps.xml"/><Relationship Id="rId8" Type="http://schemas.openxmlformats.org/officeDocument/2006/relationships/slide" Target="slides/slide7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5_2">
  <dgm:title val=""/>
  <dgm:desc val=""/>
  <dgm:catLst>
    <dgm:cat type="accent5" pri="11200"/>
  </dgm:catLst>
  <dgm:styleLbl name="node0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5"/>
    </dgm:fillClrLst>
    <dgm:linClrLst meth="repeat">
      <a:schemeClr val="accent5"/>
    </dgm:linClrLst>
    <dgm:effectClrLst/>
    <dgm:txLinClrLst/>
    <dgm:txFillClrLst/>
    <dgm:txEffectClrLst/>
  </dgm:styleLbl>
  <dgm:styleLbl name="lnNode1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5"/>
    </dgm:fillClrLst>
    <dgm:linClrLst meth="repeat">
      <a:schemeClr val="accent5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5"/>
    </dgm:fillClrLst>
    <dgm:linClrLst meth="repeat">
      <a:schemeClr val="accent5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/>
    </dgm:fillClrLst>
    <dgm:linClrLst meth="repeat">
      <a:schemeClr val="accent5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8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5">
  <dgm:title val=""/>
  <dgm:desc val=""/>
  <dgm:catLst>
    <dgm:cat type="accent1" pri="11500"/>
  </dgm:catLst>
  <dgm:styleLbl name="node0">
    <dgm:fillClrLst meth="cycle">
      <a:schemeClr val="accent1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1">
        <a:alpha val="90000"/>
      </a:schemeClr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1">
        <a:alpha val="90000"/>
      </a:schemeClr>
      <a:schemeClr val="accent1">
        <a:alpha val="5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/>
    <dgm:txEffectClrLst/>
  </dgm:styleLbl>
  <dgm:styleLbl name="lnNode1">
    <dgm:fillClrLst>
      <a:schemeClr val="accent1">
        <a:shade val="90000"/>
      </a:schemeClr>
      <a:schemeClr val="accent1">
        <a:alpha val="50000"/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1">
        <a:shade val="80000"/>
        <a:alpha val="50000"/>
      </a:schemeClr>
      <a:schemeClr val="accent1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1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>
        <a:alpha val="3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1">
        <a:tint val="50000"/>
        <a:alpha val="90000"/>
      </a:schemeClr>
      <a:schemeClr val="accent1">
        <a:tint val="20000"/>
        <a:alpha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fgSibTrans2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bgSibTrans2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sibTrans1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1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1">
        <a:alpha val="90000"/>
        <a:tint val="40000"/>
      </a:schemeClr>
      <a:schemeClr val="accent1">
        <a:alpha val="5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D1D3F1B9-55AE-44F9-A423-771BE324DCF0}" type="doc">
      <dgm:prSet loTypeId="urn:microsoft.com/office/officeart/2005/8/layout/vProcess5" loCatId="process" qsTypeId="urn:microsoft.com/office/officeart/2005/8/quickstyle/simple4" qsCatId="simple" csTypeId="urn:microsoft.com/office/officeart/2005/8/colors/accent5_2" csCatId="accent5" phldr="1"/>
      <dgm:spPr/>
      <dgm:t>
        <a:bodyPr/>
        <a:lstStyle/>
        <a:p>
          <a:endParaRPr lang="en-US"/>
        </a:p>
      </dgm:t>
    </dgm:pt>
    <dgm:pt modelId="{DEB4C5DD-4EBB-4140-9A51-05674ADCB764}">
      <dgm:prSet/>
      <dgm:spPr>
        <a:solidFill>
          <a:schemeClr val="accent1">
            <a:lumMod val="75000"/>
          </a:schemeClr>
        </a:solidFill>
      </dgm:spPr>
      <dgm:t>
        <a:bodyPr/>
        <a:lstStyle/>
        <a:p>
          <a:r>
            <a:rPr lang="en-US" dirty="0"/>
            <a:t>Sara Helmy (leader)</a:t>
          </a:r>
        </a:p>
      </dgm:t>
    </dgm:pt>
    <dgm:pt modelId="{1BDD1D0A-5DB2-46CF-BBD9-3C17905AC02A}" type="parTrans" cxnId="{0EB256DA-9569-4851-9745-272052F1889F}">
      <dgm:prSet/>
      <dgm:spPr/>
      <dgm:t>
        <a:bodyPr/>
        <a:lstStyle/>
        <a:p>
          <a:endParaRPr lang="en-US"/>
        </a:p>
      </dgm:t>
    </dgm:pt>
    <dgm:pt modelId="{C877BB59-B769-4BB0-AE95-33D039A2A2C2}" type="sibTrans" cxnId="{0EB256DA-9569-4851-9745-272052F1889F}">
      <dgm:prSet/>
      <dgm:spPr/>
      <dgm:t>
        <a:bodyPr/>
        <a:lstStyle/>
        <a:p>
          <a:endParaRPr lang="en-US"/>
        </a:p>
      </dgm:t>
    </dgm:pt>
    <dgm:pt modelId="{C9C5A639-107E-41AA-ACCF-44138F84E137}">
      <dgm:prSet/>
      <dgm:spPr>
        <a:solidFill>
          <a:schemeClr val="accent1">
            <a:lumMod val="75000"/>
          </a:schemeClr>
        </a:solidFill>
      </dgm:spPr>
      <dgm:t>
        <a:bodyPr/>
        <a:lstStyle/>
        <a:p>
          <a:r>
            <a:rPr lang="en-US"/>
            <a:t>Alaa Khalaf </a:t>
          </a:r>
        </a:p>
      </dgm:t>
    </dgm:pt>
    <dgm:pt modelId="{E2F442E7-EEEF-4349-BFEE-6D5176C37F4F}" type="parTrans" cxnId="{6D0DCAE7-EB80-466D-B35D-D8E5D9637037}">
      <dgm:prSet/>
      <dgm:spPr/>
      <dgm:t>
        <a:bodyPr/>
        <a:lstStyle/>
        <a:p>
          <a:endParaRPr lang="en-US"/>
        </a:p>
      </dgm:t>
    </dgm:pt>
    <dgm:pt modelId="{87B68C21-9847-44D2-8F6A-FAD181924881}" type="sibTrans" cxnId="{6D0DCAE7-EB80-466D-B35D-D8E5D9637037}">
      <dgm:prSet/>
      <dgm:spPr/>
      <dgm:t>
        <a:bodyPr/>
        <a:lstStyle/>
        <a:p>
          <a:endParaRPr lang="en-US"/>
        </a:p>
      </dgm:t>
    </dgm:pt>
    <dgm:pt modelId="{86346CA4-9622-47A3-8FCF-CA30F57D8484}">
      <dgm:prSet/>
      <dgm:spPr>
        <a:solidFill>
          <a:schemeClr val="accent1">
            <a:lumMod val="75000"/>
          </a:schemeClr>
        </a:solidFill>
      </dgm:spPr>
      <dgm:t>
        <a:bodyPr/>
        <a:lstStyle/>
        <a:p>
          <a:r>
            <a:rPr lang="en-US"/>
            <a:t>Doaa Soliman </a:t>
          </a:r>
        </a:p>
      </dgm:t>
    </dgm:pt>
    <dgm:pt modelId="{38CEB735-6F37-400C-852B-637CF5EB5236}" type="parTrans" cxnId="{4E25C744-BF46-48F9-BA77-079E3D9C2501}">
      <dgm:prSet/>
      <dgm:spPr/>
      <dgm:t>
        <a:bodyPr/>
        <a:lstStyle/>
        <a:p>
          <a:endParaRPr lang="en-US"/>
        </a:p>
      </dgm:t>
    </dgm:pt>
    <dgm:pt modelId="{6DDBF39D-D359-4FDD-9EA6-7206F111D30B}" type="sibTrans" cxnId="{4E25C744-BF46-48F9-BA77-079E3D9C2501}">
      <dgm:prSet/>
      <dgm:spPr/>
      <dgm:t>
        <a:bodyPr/>
        <a:lstStyle/>
        <a:p>
          <a:endParaRPr lang="en-US"/>
        </a:p>
      </dgm:t>
    </dgm:pt>
    <dgm:pt modelId="{B465AF9F-FA5B-4DBD-A7D7-D1FB079B9530}">
      <dgm:prSet/>
      <dgm:spPr>
        <a:solidFill>
          <a:schemeClr val="accent1">
            <a:lumMod val="75000"/>
          </a:schemeClr>
        </a:solidFill>
      </dgm:spPr>
      <dgm:t>
        <a:bodyPr/>
        <a:lstStyle/>
        <a:p>
          <a:r>
            <a:rPr lang="en-US"/>
            <a:t>Shaimaa sayed </a:t>
          </a:r>
        </a:p>
      </dgm:t>
    </dgm:pt>
    <dgm:pt modelId="{0025B329-B772-4031-8FF7-90A0C27EB0DA}" type="parTrans" cxnId="{52F65FDF-1913-4976-9CBB-55DB15B6EE53}">
      <dgm:prSet/>
      <dgm:spPr/>
      <dgm:t>
        <a:bodyPr/>
        <a:lstStyle/>
        <a:p>
          <a:endParaRPr lang="en-US"/>
        </a:p>
      </dgm:t>
    </dgm:pt>
    <dgm:pt modelId="{C17ABF6D-C7AB-4EDB-B769-56CE8E0C067C}" type="sibTrans" cxnId="{52F65FDF-1913-4976-9CBB-55DB15B6EE53}">
      <dgm:prSet/>
      <dgm:spPr/>
      <dgm:t>
        <a:bodyPr/>
        <a:lstStyle/>
        <a:p>
          <a:endParaRPr lang="en-US"/>
        </a:p>
      </dgm:t>
    </dgm:pt>
    <dgm:pt modelId="{3A36AFE7-A7F5-43AF-8C57-2C085FABB6C4}">
      <dgm:prSet/>
      <dgm:spPr>
        <a:solidFill>
          <a:schemeClr val="accent1">
            <a:lumMod val="75000"/>
          </a:schemeClr>
        </a:solidFill>
      </dgm:spPr>
      <dgm:t>
        <a:bodyPr/>
        <a:lstStyle/>
        <a:p>
          <a:r>
            <a:rPr lang="en-US" dirty="0"/>
            <a:t>Maha Maher</a:t>
          </a:r>
        </a:p>
      </dgm:t>
    </dgm:pt>
    <dgm:pt modelId="{D4DCA4BE-E9B4-40D7-B839-301F2D266386}" type="parTrans" cxnId="{989D3651-85DB-484E-9D67-A11E5DFECE32}">
      <dgm:prSet/>
      <dgm:spPr/>
      <dgm:t>
        <a:bodyPr/>
        <a:lstStyle/>
        <a:p>
          <a:endParaRPr lang="en-US"/>
        </a:p>
      </dgm:t>
    </dgm:pt>
    <dgm:pt modelId="{294AFD43-21B7-419D-A521-3903F69A3F55}" type="sibTrans" cxnId="{989D3651-85DB-484E-9D67-A11E5DFECE32}">
      <dgm:prSet/>
      <dgm:spPr/>
      <dgm:t>
        <a:bodyPr/>
        <a:lstStyle/>
        <a:p>
          <a:endParaRPr lang="en-US"/>
        </a:p>
      </dgm:t>
    </dgm:pt>
    <dgm:pt modelId="{0367A1D9-EA94-4AF9-B38B-31BEF5BF5CE9}" type="pres">
      <dgm:prSet presAssocID="{D1D3F1B9-55AE-44F9-A423-771BE324DCF0}" presName="outerComposite" presStyleCnt="0">
        <dgm:presLayoutVars>
          <dgm:chMax val="5"/>
          <dgm:dir/>
          <dgm:resizeHandles val="exact"/>
        </dgm:presLayoutVars>
      </dgm:prSet>
      <dgm:spPr/>
    </dgm:pt>
    <dgm:pt modelId="{C380E393-6C06-4761-B081-2DC7A4DC3598}" type="pres">
      <dgm:prSet presAssocID="{D1D3F1B9-55AE-44F9-A423-771BE324DCF0}" presName="dummyMaxCanvas" presStyleCnt="0">
        <dgm:presLayoutVars/>
      </dgm:prSet>
      <dgm:spPr/>
    </dgm:pt>
    <dgm:pt modelId="{7022390F-4935-4C6D-927F-2835A8583D0E}" type="pres">
      <dgm:prSet presAssocID="{D1D3F1B9-55AE-44F9-A423-771BE324DCF0}" presName="FiveNodes_1" presStyleLbl="node1" presStyleIdx="0" presStyleCnt="5">
        <dgm:presLayoutVars>
          <dgm:bulletEnabled val="1"/>
        </dgm:presLayoutVars>
      </dgm:prSet>
      <dgm:spPr/>
    </dgm:pt>
    <dgm:pt modelId="{3331B175-2E9C-4A4E-9B99-11FD17AA42F4}" type="pres">
      <dgm:prSet presAssocID="{D1D3F1B9-55AE-44F9-A423-771BE324DCF0}" presName="FiveNodes_2" presStyleLbl="node1" presStyleIdx="1" presStyleCnt="5">
        <dgm:presLayoutVars>
          <dgm:bulletEnabled val="1"/>
        </dgm:presLayoutVars>
      </dgm:prSet>
      <dgm:spPr/>
    </dgm:pt>
    <dgm:pt modelId="{36D3642B-BCF4-4C7A-8F9D-9A21225A89B6}" type="pres">
      <dgm:prSet presAssocID="{D1D3F1B9-55AE-44F9-A423-771BE324DCF0}" presName="FiveNodes_3" presStyleLbl="node1" presStyleIdx="2" presStyleCnt="5">
        <dgm:presLayoutVars>
          <dgm:bulletEnabled val="1"/>
        </dgm:presLayoutVars>
      </dgm:prSet>
      <dgm:spPr/>
    </dgm:pt>
    <dgm:pt modelId="{81B083E8-CE64-4152-AAE5-FD6B3B81B2C9}" type="pres">
      <dgm:prSet presAssocID="{D1D3F1B9-55AE-44F9-A423-771BE324DCF0}" presName="FiveNodes_4" presStyleLbl="node1" presStyleIdx="3" presStyleCnt="5">
        <dgm:presLayoutVars>
          <dgm:bulletEnabled val="1"/>
        </dgm:presLayoutVars>
      </dgm:prSet>
      <dgm:spPr/>
    </dgm:pt>
    <dgm:pt modelId="{2EFA47B3-BA5B-4108-8921-2ADF43187D52}" type="pres">
      <dgm:prSet presAssocID="{D1D3F1B9-55AE-44F9-A423-771BE324DCF0}" presName="FiveNodes_5" presStyleLbl="node1" presStyleIdx="4" presStyleCnt="5">
        <dgm:presLayoutVars>
          <dgm:bulletEnabled val="1"/>
        </dgm:presLayoutVars>
      </dgm:prSet>
      <dgm:spPr/>
    </dgm:pt>
    <dgm:pt modelId="{283226DF-EFFD-4A45-9C10-2181672688E4}" type="pres">
      <dgm:prSet presAssocID="{D1D3F1B9-55AE-44F9-A423-771BE324DCF0}" presName="FiveConn_1-2" presStyleLbl="fgAccFollowNode1" presStyleIdx="0" presStyleCnt="4">
        <dgm:presLayoutVars>
          <dgm:bulletEnabled val="1"/>
        </dgm:presLayoutVars>
      </dgm:prSet>
      <dgm:spPr/>
    </dgm:pt>
    <dgm:pt modelId="{5BD9A7A6-074E-4817-8B58-9C4C8741C942}" type="pres">
      <dgm:prSet presAssocID="{D1D3F1B9-55AE-44F9-A423-771BE324DCF0}" presName="FiveConn_2-3" presStyleLbl="fgAccFollowNode1" presStyleIdx="1" presStyleCnt="4">
        <dgm:presLayoutVars>
          <dgm:bulletEnabled val="1"/>
        </dgm:presLayoutVars>
      </dgm:prSet>
      <dgm:spPr/>
    </dgm:pt>
    <dgm:pt modelId="{C93E7463-3801-438D-8689-52E92194BC98}" type="pres">
      <dgm:prSet presAssocID="{D1D3F1B9-55AE-44F9-A423-771BE324DCF0}" presName="FiveConn_3-4" presStyleLbl="fgAccFollowNode1" presStyleIdx="2" presStyleCnt="4">
        <dgm:presLayoutVars>
          <dgm:bulletEnabled val="1"/>
        </dgm:presLayoutVars>
      </dgm:prSet>
      <dgm:spPr/>
    </dgm:pt>
    <dgm:pt modelId="{30603C10-9818-42F9-AAC6-2EF9F5486DDE}" type="pres">
      <dgm:prSet presAssocID="{D1D3F1B9-55AE-44F9-A423-771BE324DCF0}" presName="FiveConn_4-5" presStyleLbl="fgAccFollowNode1" presStyleIdx="3" presStyleCnt="4">
        <dgm:presLayoutVars>
          <dgm:bulletEnabled val="1"/>
        </dgm:presLayoutVars>
      </dgm:prSet>
      <dgm:spPr/>
    </dgm:pt>
    <dgm:pt modelId="{6F9C1ACC-5151-4F17-A169-BE2DA2368837}" type="pres">
      <dgm:prSet presAssocID="{D1D3F1B9-55AE-44F9-A423-771BE324DCF0}" presName="FiveNodes_1_text" presStyleLbl="node1" presStyleIdx="4" presStyleCnt="5">
        <dgm:presLayoutVars>
          <dgm:bulletEnabled val="1"/>
        </dgm:presLayoutVars>
      </dgm:prSet>
      <dgm:spPr/>
    </dgm:pt>
    <dgm:pt modelId="{296138A3-022C-4A60-B756-199BF3E84A91}" type="pres">
      <dgm:prSet presAssocID="{D1D3F1B9-55AE-44F9-A423-771BE324DCF0}" presName="FiveNodes_2_text" presStyleLbl="node1" presStyleIdx="4" presStyleCnt="5">
        <dgm:presLayoutVars>
          <dgm:bulletEnabled val="1"/>
        </dgm:presLayoutVars>
      </dgm:prSet>
      <dgm:spPr/>
    </dgm:pt>
    <dgm:pt modelId="{30FC1727-4C4A-4781-8E20-EA788267D48B}" type="pres">
      <dgm:prSet presAssocID="{D1D3F1B9-55AE-44F9-A423-771BE324DCF0}" presName="FiveNodes_3_text" presStyleLbl="node1" presStyleIdx="4" presStyleCnt="5">
        <dgm:presLayoutVars>
          <dgm:bulletEnabled val="1"/>
        </dgm:presLayoutVars>
      </dgm:prSet>
      <dgm:spPr/>
    </dgm:pt>
    <dgm:pt modelId="{B7C368FD-91E0-456A-A4ED-BE8097BBC45B}" type="pres">
      <dgm:prSet presAssocID="{D1D3F1B9-55AE-44F9-A423-771BE324DCF0}" presName="FiveNodes_4_text" presStyleLbl="node1" presStyleIdx="4" presStyleCnt="5">
        <dgm:presLayoutVars>
          <dgm:bulletEnabled val="1"/>
        </dgm:presLayoutVars>
      </dgm:prSet>
      <dgm:spPr/>
    </dgm:pt>
    <dgm:pt modelId="{ED2C0106-6BDB-46FE-BF7C-352D1E7566C7}" type="pres">
      <dgm:prSet presAssocID="{D1D3F1B9-55AE-44F9-A423-771BE324DCF0}" presName="FiveNodes_5_text" presStyleLbl="node1" presStyleIdx="4" presStyleCnt="5">
        <dgm:presLayoutVars>
          <dgm:bulletEnabled val="1"/>
        </dgm:presLayoutVars>
      </dgm:prSet>
      <dgm:spPr/>
    </dgm:pt>
  </dgm:ptLst>
  <dgm:cxnLst>
    <dgm:cxn modelId="{7544AD37-69E9-4781-AA2D-B06BBF4708D1}" type="presOf" srcId="{D1D3F1B9-55AE-44F9-A423-771BE324DCF0}" destId="{0367A1D9-EA94-4AF9-B38B-31BEF5BF5CE9}" srcOrd="0" destOrd="0" presId="urn:microsoft.com/office/officeart/2005/8/layout/vProcess5"/>
    <dgm:cxn modelId="{4E25C744-BF46-48F9-BA77-079E3D9C2501}" srcId="{D1D3F1B9-55AE-44F9-A423-771BE324DCF0}" destId="{86346CA4-9622-47A3-8FCF-CA30F57D8484}" srcOrd="2" destOrd="0" parTransId="{38CEB735-6F37-400C-852B-637CF5EB5236}" sibTransId="{6DDBF39D-D359-4FDD-9EA6-7206F111D30B}"/>
    <dgm:cxn modelId="{9ECADE4C-C4DC-42BB-95F0-A8C8759642C1}" type="presOf" srcId="{DEB4C5DD-4EBB-4140-9A51-05674ADCB764}" destId="{7022390F-4935-4C6D-927F-2835A8583D0E}" srcOrd="0" destOrd="0" presId="urn:microsoft.com/office/officeart/2005/8/layout/vProcess5"/>
    <dgm:cxn modelId="{56BD754D-152D-487D-8523-B8DAB5A44430}" type="presOf" srcId="{3A36AFE7-A7F5-43AF-8C57-2C085FABB6C4}" destId="{2EFA47B3-BA5B-4108-8921-2ADF43187D52}" srcOrd="0" destOrd="0" presId="urn:microsoft.com/office/officeart/2005/8/layout/vProcess5"/>
    <dgm:cxn modelId="{989D3651-85DB-484E-9D67-A11E5DFECE32}" srcId="{D1D3F1B9-55AE-44F9-A423-771BE324DCF0}" destId="{3A36AFE7-A7F5-43AF-8C57-2C085FABB6C4}" srcOrd="4" destOrd="0" parTransId="{D4DCA4BE-E9B4-40D7-B839-301F2D266386}" sibTransId="{294AFD43-21B7-419D-A521-3903F69A3F55}"/>
    <dgm:cxn modelId="{D20A7171-ECD9-413C-A3FC-7441967228D0}" type="presOf" srcId="{87B68C21-9847-44D2-8F6A-FAD181924881}" destId="{5BD9A7A6-074E-4817-8B58-9C4C8741C942}" srcOrd="0" destOrd="0" presId="urn:microsoft.com/office/officeart/2005/8/layout/vProcess5"/>
    <dgm:cxn modelId="{A9E06556-56AF-4093-A26A-7A49E53D0FAD}" type="presOf" srcId="{86346CA4-9622-47A3-8FCF-CA30F57D8484}" destId="{30FC1727-4C4A-4781-8E20-EA788267D48B}" srcOrd="1" destOrd="0" presId="urn:microsoft.com/office/officeart/2005/8/layout/vProcess5"/>
    <dgm:cxn modelId="{438F7E57-6A7D-4237-AD18-7E5528814056}" type="presOf" srcId="{B465AF9F-FA5B-4DBD-A7D7-D1FB079B9530}" destId="{81B083E8-CE64-4152-AAE5-FD6B3B81B2C9}" srcOrd="0" destOrd="0" presId="urn:microsoft.com/office/officeart/2005/8/layout/vProcess5"/>
    <dgm:cxn modelId="{F9477C8D-BF43-45AD-B77F-99E1B8F50CC7}" type="presOf" srcId="{6DDBF39D-D359-4FDD-9EA6-7206F111D30B}" destId="{C93E7463-3801-438D-8689-52E92194BC98}" srcOrd="0" destOrd="0" presId="urn:microsoft.com/office/officeart/2005/8/layout/vProcess5"/>
    <dgm:cxn modelId="{315C1A8F-104F-42BE-BFE2-53FD458423C4}" type="presOf" srcId="{C17ABF6D-C7AB-4EDB-B769-56CE8E0C067C}" destId="{30603C10-9818-42F9-AAC6-2EF9F5486DDE}" srcOrd="0" destOrd="0" presId="urn:microsoft.com/office/officeart/2005/8/layout/vProcess5"/>
    <dgm:cxn modelId="{1E56AB99-5481-4018-8DAB-CDA842391E2B}" type="presOf" srcId="{C877BB59-B769-4BB0-AE95-33D039A2A2C2}" destId="{283226DF-EFFD-4A45-9C10-2181672688E4}" srcOrd="0" destOrd="0" presId="urn:microsoft.com/office/officeart/2005/8/layout/vProcess5"/>
    <dgm:cxn modelId="{BC80C8A5-6852-43AB-8E60-A72699BE846D}" type="presOf" srcId="{B465AF9F-FA5B-4DBD-A7D7-D1FB079B9530}" destId="{B7C368FD-91E0-456A-A4ED-BE8097BBC45B}" srcOrd="1" destOrd="0" presId="urn:microsoft.com/office/officeart/2005/8/layout/vProcess5"/>
    <dgm:cxn modelId="{E9DEDDAB-7F79-4981-896E-6623A4825A4B}" type="presOf" srcId="{3A36AFE7-A7F5-43AF-8C57-2C085FABB6C4}" destId="{ED2C0106-6BDB-46FE-BF7C-352D1E7566C7}" srcOrd="1" destOrd="0" presId="urn:microsoft.com/office/officeart/2005/8/layout/vProcess5"/>
    <dgm:cxn modelId="{F5926FBD-524E-4BCC-9CCE-6A6EE7D2BF83}" type="presOf" srcId="{C9C5A639-107E-41AA-ACCF-44138F84E137}" destId="{296138A3-022C-4A60-B756-199BF3E84A91}" srcOrd="1" destOrd="0" presId="urn:microsoft.com/office/officeart/2005/8/layout/vProcess5"/>
    <dgm:cxn modelId="{0ABDE5D4-83E5-47CB-9DB9-1C1559A8943C}" type="presOf" srcId="{DEB4C5DD-4EBB-4140-9A51-05674ADCB764}" destId="{6F9C1ACC-5151-4F17-A169-BE2DA2368837}" srcOrd="1" destOrd="0" presId="urn:microsoft.com/office/officeart/2005/8/layout/vProcess5"/>
    <dgm:cxn modelId="{0EB256DA-9569-4851-9745-272052F1889F}" srcId="{D1D3F1B9-55AE-44F9-A423-771BE324DCF0}" destId="{DEB4C5DD-4EBB-4140-9A51-05674ADCB764}" srcOrd="0" destOrd="0" parTransId="{1BDD1D0A-5DB2-46CF-BBD9-3C17905AC02A}" sibTransId="{C877BB59-B769-4BB0-AE95-33D039A2A2C2}"/>
    <dgm:cxn modelId="{52F65FDF-1913-4976-9CBB-55DB15B6EE53}" srcId="{D1D3F1B9-55AE-44F9-A423-771BE324DCF0}" destId="{B465AF9F-FA5B-4DBD-A7D7-D1FB079B9530}" srcOrd="3" destOrd="0" parTransId="{0025B329-B772-4031-8FF7-90A0C27EB0DA}" sibTransId="{C17ABF6D-C7AB-4EDB-B769-56CE8E0C067C}"/>
    <dgm:cxn modelId="{6D0DCAE7-EB80-466D-B35D-D8E5D9637037}" srcId="{D1D3F1B9-55AE-44F9-A423-771BE324DCF0}" destId="{C9C5A639-107E-41AA-ACCF-44138F84E137}" srcOrd="1" destOrd="0" parTransId="{E2F442E7-EEEF-4349-BFEE-6D5176C37F4F}" sibTransId="{87B68C21-9847-44D2-8F6A-FAD181924881}"/>
    <dgm:cxn modelId="{86B69BEC-DC47-49D8-BD4B-44E640FEF3FF}" type="presOf" srcId="{C9C5A639-107E-41AA-ACCF-44138F84E137}" destId="{3331B175-2E9C-4A4E-9B99-11FD17AA42F4}" srcOrd="0" destOrd="0" presId="urn:microsoft.com/office/officeart/2005/8/layout/vProcess5"/>
    <dgm:cxn modelId="{E0F4E2ED-7A38-4DD5-82D2-8C8B664BD6C9}" type="presOf" srcId="{86346CA4-9622-47A3-8FCF-CA30F57D8484}" destId="{36D3642B-BCF4-4C7A-8F9D-9A21225A89B6}" srcOrd="0" destOrd="0" presId="urn:microsoft.com/office/officeart/2005/8/layout/vProcess5"/>
    <dgm:cxn modelId="{10D53AF6-A9BF-4603-9F14-3AA1455B745C}" type="presParOf" srcId="{0367A1D9-EA94-4AF9-B38B-31BEF5BF5CE9}" destId="{C380E393-6C06-4761-B081-2DC7A4DC3598}" srcOrd="0" destOrd="0" presId="urn:microsoft.com/office/officeart/2005/8/layout/vProcess5"/>
    <dgm:cxn modelId="{B20E55F9-9706-42C3-805C-BC2BD1E12B56}" type="presParOf" srcId="{0367A1D9-EA94-4AF9-B38B-31BEF5BF5CE9}" destId="{7022390F-4935-4C6D-927F-2835A8583D0E}" srcOrd="1" destOrd="0" presId="urn:microsoft.com/office/officeart/2005/8/layout/vProcess5"/>
    <dgm:cxn modelId="{EECDC2DD-0F42-461A-8C56-5B4139803636}" type="presParOf" srcId="{0367A1D9-EA94-4AF9-B38B-31BEF5BF5CE9}" destId="{3331B175-2E9C-4A4E-9B99-11FD17AA42F4}" srcOrd="2" destOrd="0" presId="urn:microsoft.com/office/officeart/2005/8/layout/vProcess5"/>
    <dgm:cxn modelId="{2C9BC75F-0AC1-4ECE-8A44-3DE082070C56}" type="presParOf" srcId="{0367A1D9-EA94-4AF9-B38B-31BEF5BF5CE9}" destId="{36D3642B-BCF4-4C7A-8F9D-9A21225A89B6}" srcOrd="3" destOrd="0" presId="urn:microsoft.com/office/officeart/2005/8/layout/vProcess5"/>
    <dgm:cxn modelId="{01035412-96A7-4DAD-9BB5-FF69F2A25237}" type="presParOf" srcId="{0367A1D9-EA94-4AF9-B38B-31BEF5BF5CE9}" destId="{81B083E8-CE64-4152-AAE5-FD6B3B81B2C9}" srcOrd="4" destOrd="0" presId="urn:microsoft.com/office/officeart/2005/8/layout/vProcess5"/>
    <dgm:cxn modelId="{2DF6B4F3-BBA5-4DF2-AD97-452663B57F5C}" type="presParOf" srcId="{0367A1D9-EA94-4AF9-B38B-31BEF5BF5CE9}" destId="{2EFA47B3-BA5B-4108-8921-2ADF43187D52}" srcOrd="5" destOrd="0" presId="urn:microsoft.com/office/officeart/2005/8/layout/vProcess5"/>
    <dgm:cxn modelId="{B5CF98DE-2358-4858-81E7-7E7D37742FE7}" type="presParOf" srcId="{0367A1D9-EA94-4AF9-B38B-31BEF5BF5CE9}" destId="{283226DF-EFFD-4A45-9C10-2181672688E4}" srcOrd="6" destOrd="0" presId="urn:microsoft.com/office/officeart/2005/8/layout/vProcess5"/>
    <dgm:cxn modelId="{E419F1B0-9404-47A6-9B0E-21B8EEC78DDD}" type="presParOf" srcId="{0367A1D9-EA94-4AF9-B38B-31BEF5BF5CE9}" destId="{5BD9A7A6-074E-4817-8B58-9C4C8741C942}" srcOrd="7" destOrd="0" presId="urn:microsoft.com/office/officeart/2005/8/layout/vProcess5"/>
    <dgm:cxn modelId="{533FA465-FE1D-4FF6-839A-CAC162FD3F3B}" type="presParOf" srcId="{0367A1D9-EA94-4AF9-B38B-31BEF5BF5CE9}" destId="{C93E7463-3801-438D-8689-52E92194BC98}" srcOrd="8" destOrd="0" presId="urn:microsoft.com/office/officeart/2005/8/layout/vProcess5"/>
    <dgm:cxn modelId="{335389C2-FBCC-48FD-8BD5-3988E6C23E49}" type="presParOf" srcId="{0367A1D9-EA94-4AF9-B38B-31BEF5BF5CE9}" destId="{30603C10-9818-42F9-AAC6-2EF9F5486DDE}" srcOrd="9" destOrd="0" presId="urn:microsoft.com/office/officeart/2005/8/layout/vProcess5"/>
    <dgm:cxn modelId="{FB1EA0D6-F775-40E4-9C91-4E9AF89B7A48}" type="presParOf" srcId="{0367A1D9-EA94-4AF9-B38B-31BEF5BF5CE9}" destId="{6F9C1ACC-5151-4F17-A169-BE2DA2368837}" srcOrd="10" destOrd="0" presId="urn:microsoft.com/office/officeart/2005/8/layout/vProcess5"/>
    <dgm:cxn modelId="{BABF7D11-C21B-4596-96B2-A74902B09A80}" type="presParOf" srcId="{0367A1D9-EA94-4AF9-B38B-31BEF5BF5CE9}" destId="{296138A3-022C-4A60-B756-199BF3E84A91}" srcOrd="11" destOrd="0" presId="urn:microsoft.com/office/officeart/2005/8/layout/vProcess5"/>
    <dgm:cxn modelId="{441245DC-13F0-45DB-AE6A-00EEACEAF886}" type="presParOf" srcId="{0367A1D9-EA94-4AF9-B38B-31BEF5BF5CE9}" destId="{30FC1727-4C4A-4781-8E20-EA788267D48B}" srcOrd="12" destOrd="0" presId="urn:microsoft.com/office/officeart/2005/8/layout/vProcess5"/>
    <dgm:cxn modelId="{BEA751EA-21F4-47F7-9C5D-80114745218A}" type="presParOf" srcId="{0367A1D9-EA94-4AF9-B38B-31BEF5BF5CE9}" destId="{B7C368FD-91E0-456A-A4ED-BE8097BBC45B}" srcOrd="13" destOrd="0" presId="urn:microsoft.com/office/officeart/2005/8/layout/vProcess5"/>
    <dgm:cxn modelId="{EC1FB343-7856-4CED-ACFD-A26034C1E53D}" type="presParOf" srcId="{0367A1D9-EA94-4AF9-B38B-31BEF5BF5CE9}" destId="{ED2C0106-6BDB-46FE-BF7C-352D1E7566C7}" srcOrd="14" destOrd="0" presId="urn:microsoft.com/office/officeart/2005/8/layout/vProcess5"/>
  </dgm:cxnLst>
  <dgm:bg>
    <a:noFill/>
  </dgm:bg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88782354-1506-4733-857A-920DAD46A760}" type="doc">
      <dgm:prSet loTypeId="urn:microsoft.com/office/officeart/2005/8/layout/hProcess7" loCatId="list" qsTypeId="urn:microsoft.com/office/officeart/2005/8/quickstyle/3d1" qsCatId="3D" csTypeId="urn:microsoft.com/office/officeart/2005/8/colors/accent1_5" csCatId="accent1" phldr="1"/>
      <dgm:spPr/>
      <dgm:t>
        <a:bodyPr/>
        <a:lstStyle/>
        <a:p>
          <a:endParaRPr lang="en-US"/>
        </a:p>
      </dgm:t>
    </dgm:pt>
    <dgm:pt modelId="{03B59B79-0663-4B41-AC62-D94B685B3FE5}">
      <dgm:prSet phldrT="[Text]" phldr="0" custT="1"/>
      <dgm:spPr/>
      <dgm:t>
        <a:bodyPr/>
        <a:lstStyle/>
        <a:p>
          <a:pPr algn="ctr"/>
          <a:r>
            <a:rPr lang="en-US" sz="3600" b="1" dirty="0">
              <a:solidFill>
                <a:schemeClr val="tx2"/>
              </a:solidFill>
            </a:rPr>
            <a:t>Products </a:t>
          </a:r>
        </a:p>
      </dgm:t>
    </dgm:pt>
    <dgm:pt modelId="{F96B4324-4EF4-4E3C-8EBD-764A9C5D2F85}" type="parTrans" cxnId="{FDCE16A2-CCDB-44DD-B2D8-4A0036429B9E}">
      <dgm:prSet/>
      <dgm:spPr/>
      <dgm:t>
        <a:bodyPr/>
        <a:lstStyle/>
        <a:p>
          <a:endParaRPr lang="en-US"/>
        </a:p>
      </dgm:t>
    </dgm:pt>
    <dgm:pt modelId="{EA6666D5-5EB8-45AB-B57C-EDCDA6EABBAC}" type="sibTrans" cxnId="{FDCE16A2-CCDB-44DD-B2D8-4A0036429B9E}">
      <dgm:prSet/>
      <dgm:spPr/>
      <dgm:t>
        <a:bodyPr/>
        <a:lstStyle/>
        <a:p>
          <a:endParaRPr lang="en-US"/>
        </a:p>
      </dgm:t>
    </dgm:pt>
    <dgm:pt modelId="{4F6A8422-DE2F-4929-9D11-EBEFBEEECA10}">
      <dgm:prSet phldrT="[Text]" phldr="0"/>
      <dgm:spPr/>
      <dgm:t>
        <a:bodyPr/>
        <a:lstStyle/>
        <a:p>
          <a:r>
            <a:rPr lang="en-US" dirty="0">
              <a:solidFill>
                <a:schemeClr val="bg1"/>
              </a:solidFill>
            </a:rPr>
            <a:t>Total products # </a:t>
          </a:r>
          <a:r>
            <a:rPr lang="en-US" dirty="0">
              <a:solidFill>
                <a:schemeClr val="tx2">
                  <a:lumMod val="50000"/>
                </a:schemeClr>
              </a:solidFill>
            </a:rPr>
            <a:t>793</a:t>
          </a:r>
          <a:r>
            <a:rPr lang="en-US" dirty="0">
              <a:solidFill>
                <a:srgbClr val="FF0000"/>
              </a:solidFill>
            </a:rPr>
            <a:t> </a:t>
          </a:r>
        </a:p>
        <a:p>
          <a:endParaRPr lang="en-US" dirty="0">
            <a:solidFill>
              <a:srgbClr val="FF0000"/>
            </a:solidFill>
          </a:endParaRPr>
        </a:p>
      </dgm:t>
    </dgm:pt>
    <dgm:pt modelId="{0B7D7B21-2847-4811-815C-FC6322D2B371}" type="parTrans" cxnId="{9EE520D5-652D-4128-A459-9F9A3DEF706A}">
      <dgm:prSet/>
      <dgm:spPr/>
      <dgm:t>
        <a:bodyPr/>
        <a:lstStyle/>
        <a:p>
          <a:endParaRPr lang="en-US"/>
        </a:p>
      </dgm:t>
    </dgm:pt>
    <dgm:pt modelId="{5D18C74E-03ED-45B4-8C96-F5EF13A2AD3B}" type="sibTrans" cxnId="{9EE520D5-652D-4128-A459-9F9A3DEF706A}">
      <dgm:prSet/>
      <dgm:spPr/>
      <dgm:t>
        <a:bodyPr/>
        <a:lstStyle/>
        <a:p>
          <a:endParaRPr lang="en-US"/>
        </a:p>
      </dgm:t>
    </dgm:pt>
    <dgm:pt modelId="{5D1735D4-18FA-4AB2-BA62-351967487BB2}">
      <dgm:prSet phldrT="[Text]" phldr="0" custT="1"/>
      <dgm:spPr/>
      <dgm:t>
        <a:bodyPr/>
        <a:lstStyle/>
        <a:p>
          <a:pPr algn="ctr"/>
          <a:r>
            <a:rPr lang="en-US" sz="3600" b="1" dirty="0">
              <a:solidFill>
                <a:schemeClr val="tx2"/>
              </a:solidFill>
            </a:rPr>
            <a:t>Sales</a:t>
          </a:r>
          <a:endParaRPr lang="en-US" sz="3000" b="1" dirty="0">
            <a:solidFill>
              <a:schemeClr val="tx2"/>
            </a:solidFill>
          </a:endParaRPr>
        </a:p>
      </dgm:t>
    </dgm:pt>
    <dgm:pt modelId="{D59BB396-8D83-443A-AF2B-35A55D05F33D}" type="parTrans" cxnId="{E31B4A93-8264-4991-9E3E-ED3FC94C6AA8}">
      <dgm:prSet/>
      <dgm:spPr/>
      <dgm:t>
        <a:bodyPr/>
        <a:lstStyle/>
        <a:p>
          <a:endParaRPr lang="en-US"/>
        </a:p>
      </dgm:t>
    </dgm:pt>
    <dgm:pt modelId="{CADE4805-05E6-4F47-9DE4-3F12888E2FF4}" type="sibTrans" cxnId="{E31B4A93-8264-4991-9E3E-ED3FC94C6AA8}">
      <dgm:prSet/>
      <dgm:spPr/>
      <dgm:t>
        <a:bodyPr/>
        <a:lstStyle/>
        <a:p>
          <a:endParaRPr lang="en-US"/>
        </a:p>
      </dgm:t>
    </dgm:pt>
    <dgm:pt modelId="{84B765D8-C650-4C41-AEFA-A2C1A460EDA2}">
      <dgm:prSet phldrT="[Text]" phldr="0"/>
      <dgm:spPr/>
      <dgm:t>
        <a:bodyPr/>
        <a:lstStyle/>
        <a:p>
          <a:r>
            <a:rPr lang="en-US" dirty="0"/>
            <a:t>Total sales </a:t>
          </a:r>
          <a:r>
            <a:rPr lang="en-US" dirty="0">
              <a:solidFill>
                <a:schemeClr val="tx2">
                  <a:lumMod val="50000"/>
                </a:schemeClr>
              </a:solidFill>
            </a:rPr>
            <a:t>2.2 M </a:t>
          </a:r>
        </a:p>
        <a:p>
          <a:endParaRPr lang="en-US" dirty="0">
            <a:solidFill>
              <a:srgbClr val="FF0000"/>
            </a:solidFill>
          </a:endParaRPr>
        </a:p>
        <a:p>
          <a:r>
            <a:rPr lang="en-US" dirty="0"/>
            <a:t>Orders # </a:t>
          </a:r>
          <a:r>
            <a:rPr lang="en-US" dirty="0">
              <a:solidFill>
                <a:schemeClr val="tx2">
                  <a:lumMod val="50000"/>
                </a:schemeClr>
              </a:solidFill>
            </a:rPr>
            <a:t>4922</a:t>
          </a:r>
        </a:p>
        <a:p>
          <a:endParaRPr lang="en-US" dirty="0">
            <a:solidFill>
              <a:srgbClr val="FF0000"/>
            </a:solidFill>
          </a:endParaRPr>
        </a:p>
        <a:p>
          <a:r>
            <a:rPr lang="ar-EG" dirty="0"/>
            <a:t> </a:t>
          </a:r>
          <a:r>
            <a:rPr lang="en-US" dirty="0"/>
            <a:t>Top sales  per region: </a:t>
          </a:r>
          <a:r>
            <a:rPr lang="en-US" dirty="0">
              <a:solidFill>
                <a:schemeClr val="tx2">
                  <a:lumMod val="50000"/>
                </a:schemeClr>
              </a:solidFill>
            </a:rPr>
            <a:t>west,</a:t>
          </a:r>
          <a:r>
            <a:rPr lang="en-US" dirty="0">
              <a:solidFill>
                <a:srgbClr val="FF0000"/>
              </a:solidFill>
            </a:rPr>
            <a:t> </a:t>
          </a:r>
          <a:r>
            <a:rPr lang="en-US" dirty="0">
              <a:solidFill>
                <a:schemeClr val="tx2">
                  <a:lumMod val="50000"/>
                </a:schemeClr>
              </a:solidFill>
            </a:rPr>
            <a:t>east</a:t>
          </a:r>
        </a:p>
      </dgm:t>
    </dgm:pt>
    <dgm:pt modelId="{84DD43C5-4DA3-44C8-A504-2E230D1AC581}" type="parTrans" cxnId="{7F8197F4-7E9B-4823-8995-857389139218}">
      <dgm:prSet/>
      <dgm:spPr/>
      <dgm:t>
        <a:bodyPr/>
        <a:lstStyle/>
        <a:p>
          <a:endParaRPr lang="en-US"/>
        </a:p>
      </dgm:t>
    </dgm:pt>
    <dgm:pt modelId="{74893D34-171D-4F0F-8625-F86BB640B9D3}" type="sibTrans" cxnId="{7F8197F4-7E9B-4823-8995-857389139218}">
      <dgm:prSet/>
      <dgm:spPr/>
      <dgm:t>
        <a:bodyPr/>
        <a:lstStyle/>
        <a:p>
          <a:endParaRPr lang="en-US"/>
        </a:p>
      </dgm:t>
    </dgm:pt>
    <dgm:pt modelId="{F2B7E6FC-9C67-4D3F-AE73-AD82BC8D61E8}">
      <dgm:prSet phldrT="[Text]" phldr="0" custT="1"/>
      <dgm:spPr/>
      <dgm:t>
        <a:bodyPr/>
        <a:lstStyle/>
        <a:p>
          <a:pPr algn="ctr"/>
          <a:r>
            <a:rPr lang="en-US" sz="3600" b="1" dirty="0">
              <a:solidFill>
                <a:schemeClr val="tx2"/>
              </a:solidFill>
            </a:rPr>
            <a:t>Shipping</a:t>
          </a:r>
          <a:endParaRPr lang="en-US" sz="3000" b="1" dirty="0">
            <a:solidFill>
              <a:schemeClr val="tx2"/>
            </a:solidFill>
          </a:endParaRPr>
        </a:p>
      </dgm:t>
    </dgm:pt>
    <dgm:pt modelId="{7DAB77CA-5021-4BB1-9CDF-0680BE777D7A}" type="parTrans" cxnId="{7A5F87A8-D976-4DFF-80D2-6E720833897F}">
      <dgm:prSet/>
      <dgm:spPr/>
      <dgm:t>
        <a:bodyPr/>
        <a:lstStyle/>
        <a:p>
          <a:endParaRPr lang="en-US"/>
        </a:p>
      </dgm:t>
    </dgm:pt>
    <dgm:pt modelId="{47662D7B-D462-44E4-92C4-658EE6C1E37F}" type="sibTrans" cxnId="{7A5F87A8-D976-4DFF-80D2-6E720833897F}">
      <dgm:prSet/>
      <dgm:spPr/>
      <dgm:t>
        <a:bodyPr/>
        <a:lstStyle/>
        <a:p>
          <a:endParaRPr lang="en-US"/>
        </a:p>
      </dgm:t>
    </dgm:pt>
    <dgm:pt modelId="{9495E04C-FB63-478E-9B1B-F2ACD2DD1FB8}">
      <dgm:prSet phldrT="[Text]" phldr="0"/>
      <dgm:spPr/>
      <dgm:t>
        <a:bodyPr/>
        <a:lstStyle/>
        <a:p>
          <a:r>
            <a:rPr lang="en-US" dirty="0"/>
            <a:t> </a:t>
          </a:r>
          <a:r>
            <a:rPr lang="en-US" dirty="0" err="1"/>
            <a:t>AV.shipping</a:t>
          </a:r>
          <a:r>
            <a:rPr lang="en-US" dirty="0"/>
            <a:t> time  </a:t>
          </a:r>
          <a:r>
            <a:rPr lang="en-US" dirty="0">
              <a:solidFill>
                <a:schemeClr val="tx2">
                  <a:lumMod val="50000"/>
                </a:schemeClr>
              </a:solidFill>
            </a:rPr>
            <a:t>4</a:t>
          </a:r>
          <a:r>
            <a:rPr lang="en-US" dirty="0"/>
            <a:t> days </a:t>
          </a:r>
        </a:p>
        <a:p>
          <a:endParaRPr lang="en-US" dirty="0"/>
        </a:p>
        <a:p>
          <a:r>
            <a:rPr lang="ar-EG" dirty="0">
              <a:solidFill>
                <a:srgbClr val="FF0000"/>
              </a:solidFill>
            </a:rPr>
            <a:t> </a:t>
          </a:r>
          <a:r>
            <a:rPr lang="en-US" dirty="0">
              <a:solidFill>
                <a:schemeClr val="tx2">
                  <a:lumMod val="50000"/>
                </a:schemeClr>
              </a:solidFill>
            </a:rPr>
            <a:t>32</a:t>
          </a:r>
          <a:r>
            <a:rPr lang="en-US" dirty="0"/>
            <a:t>% delay</a:t>
          </a:r>
          <a:r>
            <a:rPr lang="en-US"/>
            <a:t>, </a:t>
          </a:r>
          <a:r>
            <a:rPr lang="en-US">
              <a:solidFill>
                <a:schemeClr val="tx2">
                  <a:lumMod val="50000"/>
                </a:schemeClr>
              </a:solidFill>
            </a:rPr>
            <a:t>68</a:t>
          </a:r>
          <a:r>
            <a:rPr lang="en-US"/>
            <a:t>% </a:t>
          </a:r>
          <a:r>
            <a:rPr lang="en-US" dirty="0"/>
            <a:t>on time</a:t>
          </a:r>
        </a:p>
      </dgm:t>
    </dgm:pt>
    <dgm:pt modelId="{A9424B6E-F5F0-46A4-9E74-EF4058F95E0D}" type="parTrans" cxnId="{353A63A5-0C1C-4A0B-AE45-F10554F8DA5F}">
      <dgm:prSet/>
      <dgm:spPr/>
      <dgm:t>
        <a:bodyPr/>
        <a:lstStyle/>
        <a:p>
          <a:endParaRPr lang="en-US"/>
        </a:p>
      </dgm:t>
    </dgm:pt>
    <dgm:pt modelId="{3B4C5F41-3085-472C-AAB7-5D3CD5935C83}" type="sibTrans" cxnId="{353A63A5-0C1C-4A0B-AE45-F10554F8DA5F}">
      <dgm:prSet/>
      <dgm:spPr/>
      <dgm:t>
        <a:bodyPr/>
        <a:lstStyle/>
        <a:p>
          <a:endParaRPr lang="en-US"/>
        </a:p>
      </dgm:t>
    </dgm:pt>
    <dgm:pt modelId="{D32CADF8-274D-4F15-AF46-189211320159}">
      <dgm:prSet/>
      <dgm:spPr/>
      <dgm:t>
        <a:bodyPr/>
        <a:lstStyle/>
        <a:p>
          <a:r>
            <a:rPr lang="en-US" dirty="0">
              <a:solidFill>
                <a:schemeClr val="bg1"/>
              </a:solidFill>
            </a:rPr>
            <a:t>Total categories # </a:t>
          </a:r>
          <a:r>
            <a:rPr lang="en-US" dirty="0">
              <a:solidFill>
                <a:schemeClr val="tx2">
                  <a:lumMod val="50000"/>
                </a:schemeClr>
              </a:solidFill>
            </a:rPr>
            <a:t>3</a:t>
          </a:r>
        </a:p>
      </dgm:t>
    </dgm:pt>
    <dgm:pt modelId="{8F09E912-BE0D-4262-BA0B-3AB973A5DFF4}" type="parTrans" cxnId="{AF77A1F5-4E17-4C12-B759-1DC0595A8E66}">
      <dgm:prSet/>
      <dgm:spPr/>
      <dgm:t>
        <a:bodyPr/>
        <a:lstStyle/>
        <a:p>
          <a:endParaRPr lang="en-US"/>
        </a:p>
      </dgm:t>
    </dgm:pt>
    <dgm:pt modelId="{F6D4ACE0-9BF7-4C8D-B94A-9FE7D6878AB7}" type="sibTrans" cxnId="{AF77A1F5-4E17-4C12-B759-1DC0595A8E66}">
      <dgm:prSet/>
      <dgm:spPr/>
      <dgm:t>
        <a:bodyPr/>
        <a:lstStyle/>
        <a:p>
          <a:endParaRPr lang="en-US"/>
        </a:p>
      </dgm:t>
    </dgm:pt>
    <dgm:pt modelId="{3E7A406C-0B60-4575-9405-6D32B0DFF252}">
      <dgm:prSet/>
      <dgm:spPr/>
      <dgm:t>
        <a:bodyPr/>
        <a:lstStyle/>
        <a:p>
          <a:endParaRPr lang="en-US" dirty="0">
            <a:solidFill>
              <a:schemeClr val="bg1"/>
            </a:solidFill>
          </a:endParaRPr>
        </a:p>
        <a:p>
          <a:r>
            <a:rPr lang="en-US" dirty="0">
              <a:solidFill>
                <a:schemeClr val="bg1"/>
              </a:solidFill>
            </a:rPr>
            <a:t>Total </a:t>
          </a:r>
        </a:p>
        <a:p>
          <a:r>
            <a:rPr lang="en-US" dirty="0">
              <a:solidFill>
                <a:schemeClr val="bg1"/>
              </a:solidFill>
            </a:rPr>
            <a:t> subcategories # </a:t>
          </a:r>
          <a:r>
            <a:rPr lang="en-US" dirty="0">
              <a:solidFill>
                <a:schemeClr val="tx2">
                  <a:lumMod val="50000"/>
                </a:schemeClr>
              </a:solidFill>
            </a:rPr>
            <a:t>17</a:t>
          </a:r>
        </a:p>
      </dgm:t>
    </dgm:pt>
    <dgm:pt modelId="{41043679-886F-4F86-8CAC-9845B6CC15E5}" type="parTrans" cxnId="{00F200D8-84D0-4E01-B2CC-F8770F0A9D9A}">
      <dgm:prSet/>
      <dgm:spPr/>
      <dgm:t>
        <a:bodyPr/>
        <a:lstStyle/>
        <a:p>
          <a:endParaRPr lang="en-US"/>
        </a:p>
      </dgm:t>
    </dgm:pt>
    <dgm:pt modelId="{9A86A460-F75D-4B95-A46A-5C31E9CEF5C6}" type="sibTrans" cxnId="{00F200D8-84D0-4E01-B2CC-F8770F0A9D9A}">
      <dgm:prSet/>
      <dgm:spPr/>
      <dgm:t>
        <a:bodyPr/>
        <a:lstStyle/>
        <a:p>
          <a:endParaRPr lang="en-US"/>
        </a:p>
      </dgm:t>
    </dgm:pt>
    <dgm:pt modelId="{8AA80A5D-257A-4628-A52C-A0BDBD60B7B0}">
      <dgm:prSet/>
      <dgm:spPr/>
      <dgm:t>
        <a:bodyPr/>
        <a:lstStyle/>
        <a:p>
          <a:endParaRPr lang="en-US" dirty="0">
            <a:solidFill>
              <a:schemeClr val="bg1"/>
            </a:solidFill>
          </a:endParaRPr>
        </a:p>
      </dgm:t>
    </dgm:pt>
    <dgm:pt modelId="{DFF8DD0E-AE9D-42AC-94A8-B92B174C47A4}" type="parTrans" cxnId="{41AA1C82-9FC9-4B6A-ACA1-08F03B4C8B9C}">
      <dgm:prSet/>
      <dgm:spPr/>
      <dgm:t>
        <a:bodyPr/>
        <a:lstStyle/>
        <a:p>
          <a:endParaRPr lang="en-US"/>
        </a:p>
      </dgm:t>
    </dgm:pt>
    <dgm:pt modelId="{CEE6D7A5-3ED8-4C4F-B470-9A71029B6A83}" type="sibTrans" cxnId="{41AA1C82-9FC9-4B6A-ACA1-08F03B4C8B9C}">
      <dgm:prSet/>
      <dgm:spPr/>
      <dgm:t>
        <a:bodyPr/>
        <a:lstStyle/>
        <a:p>
          <a:endParaRPr lang="en-US"/>
        </a:p>
      </dgm:t>
    </dgm:pt>
    <dgm:pt modelId="{5EC70DEA-5A42-4B1A-9D6A-96C2965D91C8}">
      <dgm:prSet/>
      <dgm:spPr/>
      <dgm:t>
        <a:bodyPr/>
        <a:lstStyle/>
        <a:p>
          <a:endParaRPr lang="en-US" dirty="0"/>
        </a:p>
      </dgm:t>
    </dgm:pt>
    <dgm:pt modelId="{C61384F0-9B8F-4CDB-BFE5-41F5719B9A33}" type="parTrans" cxnId="{9F24F880-D944-44AF-9B4D-A3C5A551057D}">
      <dgm:prSet/>
      <dgm:spPr/>
      <dgm:t>
        <a:bodyPr/>
        <a:lstStyle/>
        <a:p>
          <a:endParaRPr lang="en-US"/>
        </a:p>
      </dgm:t>
    </dgm:pt>
    <dgm:pt modelId="{866E037D-362F-4137-9418-7C6B7ECB3D0C}" type="sibTrans" cxnId="{9F24F880-D944-44AF-9B4D-A3C5A551057D}">
      <dgm:prSet/>
      <dgm:spPr/>
      <dgm:t>
        <a:bodyPr/>
        <a:lstStyle/>
        <a:p>
          <a:endParaRPr lang="en-US"/>
        </a:p>
      </dgm:t>
    </dgm:pt>
    <dgm:pt modelId="{04AED2E5-B970-4B6A-861F-F66FD44CE09B}">
      <dgm:prSet/>
      <dgm:spPr/>
      <dgm:t>
        <a:bodyPr/>
        <a:lstStyle/>
        <a:p>
          <a:endParaRPr lang="en-US" dirty="0">
            <a:solidFill>
              <a:schemeClr val="bg1"/>
            </a:solidFill>
          </a:endParaRPr>
        </a:p>
      </dgm:t>
    </dgm:pt>
    <dgm:pt modelId="{9870E6C6-4F00-4DD0-99C1-D62B463AC479}" type="parTrans" cxnId="{D507D64F-EF97-4187-9B32-D622236539C2}">
      <dgm:prSet/>
      <dgm:spPr/>
      <dgm:t>
        <a:bodyPr/>
        <a:lstStyle/>
        <a:p>
          <a:endParaRPr lang="en-US"/>
        </a:p>
      </dgm:t>
    </dgm:pt>
    <dgm:pt modelId="{7A16653D-690D-46F8-8688-D149D33160F1}" type="sibTrans" cxnId="{D507D64F-EF97-4187-9B32-D622236539C2}">
      <dgm:prSet/>
      <dgm:spPr/>
      <dgm:t>
        <a:bodyPr/>
        <a:lstStyle/>
        <a:p>
          <a:endParaRPr lang="en-US"/>
        </a:p>
      </dgm:t>
    </dgm:pt>
    <dgm:pt modelId="{8FF7A947-A689-44F9-A56D-0D85668308B6}" type="pres">
      <dgm:prSet presAssocID="{88782354-1506-4733-857A-920DAD46A760}" presName="Name0" presStyleCnt="0">
        <dgm:presLayoutVars>
          <dgm:dir/>
          <dgm:animLvl val="lvl"/>
          <dgm:resizeHandles val="exact"/>
        </dgm:presLayoutVars>
      </dgm:prSet>
      <dgm:spPr/>
    </dgm:pt>
    <dgm:pt modelId="{12B69C3E-6F73-405A-9BBA-EF4E8A4CE222}" type="pres">
      <dgm:prSet presAssocID="{03B59B79-0663-4B41-AC62-D94B685B3FE5}" presName="compositeNode" presStyleCnt="0">
        <dgm:presLayoutVars>
          <dgm:bulletEnabled val="1"/>
        </dgm:presLayoutVars>
      </dgm:prSet>
      <dgm:spPr/>
    </dgm:pt>
    <dgm:pt modelId="{B99A5261-248C-4291-8735-D71EDE8D44D0}" type="pres">
      <dgm:prSet presAssocID="{03B59B79-0663-4B41-AC62-D94B685B3FE5}" presName="bgRect" presStyleLbl="node1" presStyleIdx="0" presStyleCnt="4" custScaleX="87922" custScaleY="124792" custLinFactX="99654" custLinFactNeighborX="100000" custLinFactNeighborY="245"/>
      <dgm:spPr/>
    </dgm:pt>
    <dgm:pt modelId="{A127DD75-FDE7-4870-AFFA-7D9B5AA1C8DE}" type="pres">
      <dgm:prSet presAssocID="{03B59B79-0663-4B41-AC62-D94B685B3FE5}" presName="parentNode" presStyleLbl="node1" presStyleIdx="0" presStyleCnt="4">
        <dgm:presLayoutVars>
          <dgm:chMax val="0"/>
          <dgm:bulletEnabled val="1"/>
        </dgm:presLayoutVars>
      </dgm:prSet>
      <dgm:spPr/>
    </dgm:pt>
    <dgm:pt modelId="{9CD7712D-0BF1-496F-8F8C-AC2746FB08B6}" type="pres">
      <dgm:prSet presAssocID="{03B59B79-0663-4B41-AC62-D94B685B3FE5}" presName="childNode" presStyleLbl="node1" presStyleIdx="0" presStyleCnt="4">
        <dgm:presLayoutVars>
          <dgm:bulletEnabled val="1"/>
        </dgm:presLayoutVars>
      </dgm:prSet>
      <dgm:spPr/>
    </dgm:pt>
    <dgm:pt modelId="{E7664D26-1B32-416B-91CB-079DA0578D93}" type="pres">
      <dgm:prSet presAssocID="{EA6666D5-5EB8-45AB-B57C-EDCDA6EABBAC}" presName="hSp" presStyleCnt="0"/>
      <dgm:spPr/>
    </dgm:pt>
    <dgm:pt modelId="{B8D53A98-9F72-4ECD-B6CC-028B1C80B262}" type="pres">
      <dgm:prSet presAssocID="{EA6666D5-5EB8-45AB-B57C-EDCDA6EABBAC}" presName="vProcSp" presStyleCnt="0"/>
      <dgm:spPr/>
    </dgm:pt>
    <dgm:pt modelId="{449B9687-8FCB-4431-B057-6D3F676F01B7}" type="pres">
      <dgm:prSet presAssocID="{EA6666D5-5EB8-45AB-B57C-EDCDA6EABBAC}" presName="vSp1" presStyleCnt="0"/>
      <dgm:spPr/>
    </dgm:pt>
    <dgm:pt modelId="{981C9684-98EB-44BD-8219-66A6E2136750}" type="pres">
      <dgm:prSet presAssocID="{EA6666D5-5EB8-45AB-B57C-EDCDA6EABBAC}" presName="simulatedConn" presStyleLbl="solidFgAcc1" presStyleIdx="0" presStyleCnt="3"/>
      <dgm:spPr/>
    </dgm:pt>
    <dgm:pt modelId="{8FAE53E7-F465-424F-A7F5-55D368DFCFA1}" type="pres">
      <dgm:prSet presAssocID="{EA6666D5-5EB8-45AB-B57C-EDCDA6EABBAC}" presName="vSp2" presStyleCnt="0"/>
      <dgm:spPr/>
    </dgm:pt>
    <dgm:pt modelId="{B1665C85-EB72-46B1-B4A3-4104F44A275F}" type="pres">
      <dgm:prSet presAssocID="{EA6666D5-5EB8-45AB-B57C-EDCDA6EABBAC}" presName="sibTrans" presStyleCnt="0"/>
      <dgm:spPr/>
    </dgm:pt>
    <dgm:pt modelId="{50BF49AE-CBB9-483B-8E32-5BB751EC0ACE}" type="pres">
      <dgm:prSet presAssocID="{5D1735D4-18FA-4AB2-BA62-351967487BB2}" presName="compositeNode" presStyleCnt="0">
        <dgm:presLayoutVars>
          <dgm:bulletEnabled val="1"/>
        </dgm:presLayoutVars>
      </dgm:prSet>
      <dgm:spPr/>
    </dgm:pt>
    <dgm:pt modelId="{BDE43320-F624-4D93-A59F-BA617FC555AD}" type="pres">
      <dgm:prSet presAssocID="{5D1735D4-18FA-4AB2-BA62-351967487BB2}" presName="bgRect" presStyleLbl="node1" presStyleIdx="1" presStyleCnt="4" custScaleX="91649" custScaleY="124792" custLinFactNeighborX="-88794" custLinFactNeighborY="-1538"/>
      <dgm:spPr/>
    </dgm:pt>
    <dgm:pt modelId="{1524FAA8-730B-4B9B-8AEE-D89D2F4395E8}" type="pres">
      <dgm:prSet presAssocID="{5D1735D4-18FA-4AB2-BA62-351967487BB2}" presName="parentNode" presStyleLbl="node1" presStyleIdx="1" presStyleCnt="4">
        <dgm:presLayoutVars>
          <dgm:chMax val="0"/>
          <dgm:bulletEnabled val="1"/>
        </dgm:presLayoutVars>
      </dgm:prSet>
      <dgm:spPr/>
    </dgm:pt>
    <dgm:pt modelId="{36291A66-F856-4EA9-A952-0F1D81D94A1B}" type="pres">
      <dgm:prSet presAssocID="{5D1735D4-18FA-4AB2-BA62-351967487BB2}" presName="childNode" presStyleLbl="node1" presStyleIdx="1" presStyleCnt="4">
        <dgm:presLayoutVars>
          <dgm:bulletEnabled val="1"/>
        </dgm:presLayoutVars>
      </dgm:prSet>
      <dgm:spPr/>
    </dgm:pt>
    <dgm:pt modelId="{D52047D2-E05E-4D8B-A4FF-8942AE9D1079}" type="pres">
      <dgm:prSet presAssocID="{CADE4805-05E6-4F47-9DE4-3F12888E2FF4}" presName="hSp" presStyleCnt="0"/>
      <dgm:spPr/>
    </dgm:pt>
    <dgm:pt modelId="{AD6D524E-F8B1-4EAE-A2D7-DF61C210F4EC}" type="pres">
      <dgm:prSet presAssocID="{CADE4805-05E6-4F47-9DE4-3F12888E2FF4}" presName="vProcSp" presStyleCnt="0"/>
      <dgm:spPr/>
    </dgm:pt>
    <dgm:pt modelId="{91218EB9-0233-47F0-AD45-2946E1565913}" type="pres">
      <dgm:prSet presAssocID="{CADE4805-05E6-4F47-9DE4-3F12888E2FF4}" presName="vSp1" presStyleCnt="0"/>
      <dgm:spPr/>
    </dgm:pt>
    <dgm:pt modelId="{6FCE52E4-B78A-495F-8AF5-9D0E54AA1284}" type="pres">
      <dgm:prSet presAssocID="{CADE4805-05E6-4F47-9DE4-3F12888E2FF4}" presName="simulatedConn" presStyleLbl="solidFgAcc1" presStyleIdx="1" presStyleCnt="3" custLinFactNeighborX="9751" custLinFactNeighborY="-83653"/>
      <dgm:spPr/>
    </dgm:pt>
    <dgm:pt modelId="{8506DB69-11B3-42E7-8ADF-657042E397E8}" type="pres">
      <dgm:prSet presAssocID="{CADE4805-05E6-4F47-9DE4-3F12888E2FF4}" presName="vSp2" presStyleCnt="0"/>
      <dgm:spPr/>
    </dgm:pt>
    <dgm:pt modelId="{A5CE9256-47AC-4808-9DA3-845E56F91134}" type="pres">
      <dgm:prSet presAssocID="{CADE4805-05E6-4F47-9DE4-3F12888E2FF4}" presName="sibTrans" presStyleCnt="0"/>
      <dgm:spPr/>
    </dgm:pt>
    <dgm:pt modelId="{086E0DE5-ABA2-4A85-9813-F23F832D977E}" type="pres">
      <dgm:prSet presAssocID="{F2B7E6FC-9C67-4D3F-AE73-AD82BC8D61E8}" presName="compositeNode" presStyleCnt="0">
        <dgm:presLayoutVars>
          <dgm:bulletEnabled val="1"/>
        </dgm:presLayoutVars>
      </dgm:prSet>
      <dgm:spPr/>
    </dgm:pt>
    <dgm:pt modelId="{DF1C955F-90CF-46DA-9D08-4D74C5B06C30}" type="pres">
      <dgm:prSet presAssocID="{F2B7E6FC-9C67-4D3F-AE73-AD82BC8D61E8}" presName="bgRect" presStyleLbl="node1" presStyleIdx="2" presStyleCnt="4" custScaleX="90009" custScaleY="124792" custLinFactX="9269" custLinFactNeighborX="100000" custLinFactNeighborY="114"/>
      <dgm:spPr/>
    </dgm:pt>
    <dgm:pt modelId="{F56EF3E5-0950-489A-AFC2-B6ADF84DF208}" type="pres">
      <dgm:prSet presAssocID="{F2B7E6FC-9C67-4D3F-AE73-AD82BC8D61E8}" presName="parentNode" presStyleLbl="node1" presStyleIdx="2" presStyleCnt="4">
        <dgm:presLayoutVars>
          <dgm:chMax val="0"/>
          <dgm:bulletEnabled val="1"/>
        </dgm:presLayoutVars>
      </dgm:prSet>
      <dgm:spPr/>
    </dgm:pt>
    <dgm:pt modelId="{638EA7C9-5819-4469-91BC-0B3E1FAFF1FB}" type="pres">
      <dgm:prSet presAssocID="{F2B7E6FC-9C67-4D3F-AE73-AD82BC8D61E8}" presName="childNode" presStyleLbl="node1" presStyleIdx="2" presStyleCnt="4">
        <dgm:presLayoutVars>
          <dgm:bulletEnabled val="1"/>
        </dgm:presLayoutVars>
      </dgm:prSet>
      <dgm:spPr/>
    </dgm:pt>
    <dgm:pt modelId="{D5B3CB04-82F2-43AB-97D1-11FB3B40D58C}" type="pres">
      <dgm:prSet presAssocID="{47662D7B-D462-44E4-92C4-658EE6C1E37F}" presName="hSp" presStyleCnt="0"/>
      <dgm:spPr/>
    </dgm:pt>
    <dgm:pt modelId="{DABD28B7-2938-4B1D-827D-29D4D3AF3CF4}" type="pres">
      <dgm:prSet presAssocID="{47662D7B-D462-44E4-92C4-658EE6C1E37F}" presName="vProcSp" presStyleCnt="0"/>
      <dgm:spPr/>
    </dgm:pt>
    <dgm:pt modelId="{B40F0E68-DC8E-48D8-B014-9E811007395F}" type="pres">
      <dgm:prSet presAssocID="{47662D7B-D462-44E4-92C4-658EE6C1E37F}" presName="vSp1" presStyleCnt="0"/>
      <dgm:spPr/>
    </dgm:pt>
    <dgm:pt modelId="{03EAAB2A-E6C0-4BC2-B0FE-7AEFB688C763}" type="pres">
      <dgm:prSet presAssocID="{47662D7B-D462-44E4-92C4-658EE6C1E37F}" presName="simulatedConn" presStyleLbl="solidFgAcc1" presStyleIdx="2" presStyleCnt="3" custLinFactY="-26139" custLinFactNeighborX="-3362" custLinFactNeighborY="-100000"/>
      <dgm:spPr/>
    </dgm:pt>
    <dgm:pt modelId="{CD848543-4968-4339-B55F-118AE64A7EAA}" type="pres">
      <dgm:prSet presAssocID="{47662D7B-D462-44E4-92C4-658EE6C1E37F}" presName="vSp2" presStyleCnt="0"/>
      <dgm:spPr/>
    </dgm:pt>
    <dgm:pt modelId="{33AD1189-CCEA-4EE0-B8C3-7C7058C0D8C9}" type="pres">
      <dgm:prSet presAssocID="{47662D7B-D462-44E4-92C4-658EE6C1E37F}" presName="sibTrans" presStyleCnt="0"/>
      <dgm:spPr/>
    </dgm:pt>
    <dgm:pt modelId="{86A8AC56-E6E3-4102-89FD-DE3C10D4EAD1}" type="pres">
      <dgm:prSet presAssocID="{5EC70DEA-5A42-4B1A-9D6A-96C2965D91C8}" presName="compositeNode" presStyleCnt="0">
        <dgm:presLayoutVars>
          <dgm:bulletEnabled val="1"/>
        </dgm:presLayoutVars>
      </dgm:prSet>
      <dgm:spPr/>
    </dgm:pt>
    <dgm:pt modelId="{6266B11A-7521-4689-A7EC-A59A3BE01D78}" type="pres">
      <dgm:prSet presAssocID="{5EC70DEA-5A42-4B1A-9D6A-96C2965D91C8}" presName="bgRect" presStyleLbl="node1" presStyleIdx="3" presStyleCnt="4" custScaleY="124792" custLinFactX="-83134" custLinFactNeighborX="-100000" custLinFactNeighborY="-1538"/>
      <dgm:spPr/>
    </dgm:pt>
    <dgm:pt modelId="{B79238A3-3EB5-4ACC-B87B-76596F488FE7}" type="pres">
      <dgm:prSet presAssocID="{5EC70DEA-5A42-4B1A-9D6A-96C2965D91C8}" presName="parentNode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25412C08-19F9-452A-883B-FEE4CBD290FD}" type="presOf" srcId="{4F6A8422-DE2F-4929-9D11-EBEFBEEECA10}" destId="{9CD7712D-0BF1-496F-8F8C-AC2746FB08B6}" srcOrd="0" destOrd="0" presId="urn:microsoft.com/office/officeart/2005/8/layout/hProcess7"/>
    <dgm:cxn modelId="{6F104718-C4CA-47F7-AB4D-252D4903CC13}" type="presOf" srcId="{9495E04C-FB63-478E-9B1B-F2ACD2DD1FB8}" destId="{638EA7C9-5819-4469-91BC-0B3E1FAFF1FB}" srcOrd="0" destOrd="0" presId="urn:microsoft.com/office/officeart/2005/8/layout/hProcess7"/>
    <dgm:cxn modelId="{D31AD16E-2654-488E-BC17-84164D55BD2D}" type="presOf" srcId="{5EC70DEA-5A42-4B1A-9D6A-96C2965D91C8}" destId="{B79238A3-3EB5-4ACC-B87B-76596F488FE7}" srcOrd="1" destOrd="0" presId="urn:microsoft.com/office/officeart/2005/8/layout/hProcess7"/>
    <dgm:cxn modelId="{D507D64F-EF97-4187-9B32-D622236539C2}" srcId="{03B59B79-0663-4B41-AC62-D94B685B3FE5}" destId="{04AED2E5-B970-4B6A-861F-F66FD44CE09B}" srcOrd="4" destOrd="0" parTransId="{9870E6C6-4F00-4DD0-99C1-D62B463AC479}" sibTransId="{7A16653D-690D-46F8-8688-D149D33160F1}"/>
    <dgm:cxn modelId="{F69F0274-28B6-4D12-914E-058F33DAA14E}" type="presOf" srcId="{03B59B79-0663-4B41-AC62-D94B685B3FE5}" destId="{B99A5261-248C-4291-8735-D71EDE8D44D0}" srcOrd="0" destOrd="0" presId="urn:microsoft.com/office/officeart/2005/8/layout/hProcess7"/>
    <dgm:cxn modelId="{33707377-E0A5-408A-B07E-597B35B3A015}" type="presOf" srcId="{3E7A406C-0B60-4575-9405-6D32B0DFF252}" destId="{9CD7712D-0BF1-496F-8F8C-AC2746FB08B6}" srcOrd="0" destOrd="2" presId="urn:microsoft.com/office/officeart/2005/8/layout/hProcess7"/>
    <dgm:cxn modelId="{63E89357-3DF8-4CD6-AA5A-987231E8E919}" type="presOf" srcId="{D32CADF8-274D-4F15-AF46-189211320159}" destId="{9CD7712D-0BF1-496F-8F8C-AC2746FB08B6}" srcOrd="0" destOrd="1" presId="urn:microsoft.com/office/officeart/2005/8/layout/hProcess7"/>
    <dgm:cxn modelId="{22639B79-B0A0-4C24-9CDF-77797FB62D83}" type="presOf" srcId="{5D1735D4-18FA-4AB2-BA62-351967487BB2}" destId="{1524FAA8-730B-4B9B-8AEE-D89D2F4395E8}" srcOrd="1" destOrd="0" presId="urn:microsoft.com/office/officeart/2005/8/layout/hProcess7"/>
    <dgm:cxn modelId="{7D96A979-DD4B-4ECF-A44C-2C7DFF604DD1}" type="presOf" srcId="{84B765D8-C650-4C41-AEFA-A2C1A460EDA2}" destId="{36291A66-F856-4EA9-A952-0F1D81D94A1B}" srcOrd="0" destOrd="0" presId="urn:microsoft.com/office/officeart/2005/8/layout/hProcess7"/>
    <dgm:cxn modelId="{B6C2515A-C93B-4C76-A125-AEFB4EA33381}" type="presOf" srcId="{F2B7E6FC-9C67-4D3F-AE73-AD82BC8D61E8}" destId="{F56EF3E5-0950-489A-AFC2-B6ADF84DF208}" srcOrd="1" destOrd="0" presId="urn:microsoft.com/office/officeart/2005/8/layout/hProcess7"/>
    <dgm:cxn modelId="{3CF7257F-47C5-4D8A-A89F-0F42F7B8BE16}" type="presOf" srcId="{8AA80A5D-257A-4628-A52C-A0BDBD60B7B0}" destId="{9CD7712D-0BF1-496F-8F8C-AC2746FB08B6}" srcOrd="0" destOrd="3" presId="urn:microsoft.com/office/officeart/2005/8/layout/hProcess7"/>
    <dgm:cxn modelId="{9F24F880-D944-44AF-9B4D-A3C5A551057D}" srcId="{88782354-1506-4733-857A-920DAD46A760}" destId="{5EC70DEA-5A42-4B1A-9D6A-96C2965D91C8}" srcOrd="3" destOrd="0" parTransId="{C61384F0-9B8F-4CDB-BFE5-41F5719B9A33}" sibTransId="{866E037D-362F-4137-9418-7C6B7ECB3D0C}"/>
    <dgm:cxn modelId="{41AA1C82-9FC9-4B6A-ACA1-08F03B4C8B9C}" srcId="{03B59B79-0663-4B41-AC62-D94B685B3FE5}" destId="{8AA80A5D-257A-4628-A52C-A0BDBD60B7B0}" srcOrd="3" destOrd="0" parTransId="{DFF8DD0E-AE9D-42AC-94A8-B92B174C47A4}" sibTransId="{CEE6D7A5-3ED8-4C4F-B470-9A71029B6A83}"/>
    <dgm:cxn modelId="{C4C99489-2C3D-40E3-88F0-51B16696F046}" type="presOf" srcId="{88782354-1506-4733-857A-920DAD46A760}" destId="{8FF7A947-A689-44F9-A56D-0D85668308B6}" srcOrd="0" destOrd="0" presId="urn:microsoft.com/office/officeart/2005/8/layout/hProcess7"/>
    <dgm:cxn modelId="{E31B4A93-8264-4991-9E3E-ED3FC94C6AA8}" srcId="{88782354-1506-4733-857A-920DAD46A760}" destId="{5D1735D4-18FA-4AB2-BA62-351967487BB2}" srcOrd="1" destOrd="0" parTransId="{D59BB396-8D83-443A-AF2B-35A55D05F33D}" sibTransId="{CADE4805-05E6-4F47-9DE4-3F12888E2FF4}"/>
    <dgm:cxn modelId="{FDCE16A2-CCDB-44DD-B2D8-4A0036429B9E}" srcId="{88782354-1506-4733-857A-920DAD46A760}" destId="{03B59B79-0663-4B41-AC62-D94B685B3FE5}" srcOrd="0" destOrd="0" parTransId="{F96B4324-4EF4-4E3C-8EBD-764A9C5D2F85}" sibTransId="{EA6666D5-5EB8-45AB-B57C-EDCDA6EABBAC}"/>
    <dgm:cxn modelId="{353A63A5-0C1C-4A0B-AE45-F10554F8DA5F}" srcId="{F2B7E6FC-9C67-4D3F-AE73-AD82BC8D61E8}" destId="{9495E04C-FB63-478E-9B1B-F2ACD2DD1FB8}" srcOrd="0" destOrd="0" parTransId="{A9424B6E-F5F0-46A4-9E74-EF4058F95E0D}" sibTransId="{3B4C5F41-3085-472C-AAB7-5D3CD5935C83}"/>
    <dgm:cxn modelId="{7A5F87A8-D976-4DFF-80D2-6E720833897F}" srcId="{88782354-1506-4733-857A-920DAD46A760}" destId="{F2B7E6FC-9C67-4D3F-AE73-AD82BC8D61E8}" srcOrd="2" destOrd="0" parTransId="{7DAB77CA-5021-4BB1-9CDF-0680BE777D7A}" sibTransId="{47662D7B-D462-44E4-92C4-658EE6C1E37F}"/>
    <dgm:cxn modelId="{71CA64AA-F80A-48AC-9901-2659D036C5D1}" type="presOf" srcId="{03B59B79-0663-4B41-AC62-D94B685B3FE5}" destId="{A127DD75-FDE7-4870-AFFA-7D9B5AA1C8DE}" srcOrd="1" destOrd="0" presId="urn:microsoft.com/office/officeart/2005/8/layout/hProcess7"/>
    <dgm:cxn modelId="{1BBF39B7-02B3-42A6-A727-A70D22B3815D}" type="presOf" srcId="{04AED2E5-B970-4B6A-861F-F66FD44CE09B}" destId="{9CD7712D-0BF1-496F-8F8C-AC2746FB08B6}" srcOrd="0" destOrd="4" presId="urn:microsoft.com/office/officeart/2005/8/layout/hProcess7"/>
    <dgm:cxn modelId="{02530ABC-D8E8-43A6-B2AF-956AF26715E0}" type="presOf" srcId="{F2B7E6FC-9C67-4D3F-AE73-AD82BC8D61E8}" destId="{DF1C955F-90CF-46DA-9D08-4D74C5B06C30}" srcOrd="0" destOrd="0" presId="urn:microsoft.com/office/officeart/2005/8/layout/hProcess7"/>
    <dgm:cxn modelId="{CD559BC2-B644-4D25-84F1-2EBCFF2C8015}" type="presOf" srcId="{5EC70DEA-5A42-4B1A-9D6A-96C2965D91C8}" destId="{6266B11A-7521-4689-A7EC-A59A3BE01D78}" srcOrd="0" destOrd="0" presId="urn:microsoft.com/office/officeart/2005/8/layout/hProcess7"/>
    <dgm:cxn modelId="{BD1340CC-377D-4BEF-BC28-D2EC57B0713B}" type="presOf" srcId="{5D1735D4-18FA-4AB2-BA62-351967487BB2}" destId="{BDE43320-F624-4D93-A59F-BA617FC555AD}" srcOrd="0" destOrd="0" presId="urn:microsoft.com/office/officeart/2005/8/layout/hProcess7"/>
    <dgm:cxn modelId="{9EE520D5-652D-4128-A459-9F9A3DEF706A}" srcId="{03B59B79-0663-4B41-AC62-D94B685B3FE5}" destId="{4F6A8422-DE2F-4929-9D11-EBEFBEEECA10}" srcOrd="0" destOrd="0" parTransId="{0B7D7B21-2847-4811-815C-FC6322D2B371}" sibTransId="{5D18C74E-03ED-45B4-8C96-F5EF13A2AD3B}"/>
    <dgm:cxn modelId="{00F200D8-84D0-4E01-B2CC-F8770F0A9D9A}" srcId="{03B59B79-0663-4B41-AC62-D94B685B3FE5}" destId="{3E7A406C-0B60-4575-9405-6D32B0DFF252}" srcOrd="2" destOrd="0" parTransId="{41043679-886F-4F86-8CAC-9845B6CC15E5}" sibTransId="{9A86A460-F75D-4B95-A46A-5C31E9CEF5C6}"/>
    <dgm:cxn modelId="{7F8197F4-7E9B-4823-8995-857389139218}" srcId="{5D1735D4-18FA-4AB2-BA62-351967487BB2}" destId="{84B765D8-C650-4C41-AEFA-A2C1A460EDA2}" srcOrd="0" destOrd="0" parTransId="{84DD43C5-4DA3-44C8-A504-2E230D1AC581}" sibTransId="{74893D34-171D-4F0F-8625-F86BB640B9D3}"/>
    <dgm:cxn modelId="{AF77A1F5-4E17-4C12-B759-1DC0595A8E66}" srcId="{03B59B79-0663-4B41-AC62-D94B685B3FE5}" destId="{D32CADF8-274D-4F15-AF46-189211320159}" srcOrd="1" destOrd="0" parTransId="{8F09E912-BE0D-4262-BA0B-3AB973A5DFF4}" sibTransId="{F6D4ACE0-9BF7-4C8D-B94A-9FE7D6878AB7}"/>
    <dgm:cxn modelId="{9D77D979-FB67-4DDA-82FB-F3DF0001BA94}" type="presParOf" srcId="{8FF7A947-A689-44F9-A56D-0D85668308B6}" destId="{12B69C3E-6F73-405A-9BBA-EF4E8A4CE222}" srcOrd="0" destOrd="0" presId="urn:microsoft.com/office/officeart/2005/8/layout/hProcess7"/>
    <dgm:cxn modelId="{03A50266-F40B-443B-B5E5-3D68F9EF79CF}" type="presParOf" srcId="{12B69C3E-6F73-405A-9BBA-EF4E8A4CE222}" destId="{B99A5261-248C-4291-8735-D71EDE8D44D0}" srcOrd="0" destOrd="0" presId="urn:microsoft.com/office/officeart/2005/8/layout/hProcess7"/>
    <dgm:cxn modelId="{31D223FD-976B-42C8-8A51-A021A5461BC6}" type="presParOf" srcId="{12B69C3E-6F73-405A-9BBA-EF4E8A4CE222}" destId="{A127DD75-FDE7-4870-AFFA-7D9B5AA1C8DE}" srcOrd="1" destOrd="0" presId="urn:microsoft.com/office/officeart/2005/8/layout/hProcess7"/>
    <dgm:cxn modelId="{67A1D301-7350-4936-970C-244E4F68E98B}" type="presParOf" srcId="{12B69C3E-6F73-405A-9BBA-EF4E8A4CE222}" destId="{9CD7712D-0BF1-496F-8F8C-AC2746FB08B6}" srcOrd="2" destOrd="0" presId="urn:microsoft.com/office/officeart/2005/8/layout/hProcess7"/>
    <dgm:cxn modelId="{DDBB037F-B7F0-410E-899D-8732B386647F}" type="presParOf" srcId="{8FF7A947-A689-44F9-A56D-0D85668308B6}" destId="{E7664D26-1B32-416B-91CB-079DA0578D93}" srcOrd="1" destOrd="0" presId="urn:microsoft.com/office/officeart/2005/8/layout/hProcess7"/>
    <dgm:cxn modelId="{60F1E3B7-5022-4E7B-951A-4B59C4CA1CDE}" type="presParOf" srcId="{8FF7A947-A689-44F9-A56D-0D85668308B6}" destId="{B8D53A98-9F72-4ECD-B6CC-028B1C80B262}" srcOrd="2" destOrd="0" presId="urn:microsoft.com/office/officeart/2005/8/layout/hProcess7"/>
    <dgm:cxn modelId="{C76CA9EE-0145-47E2-87CC-29D6A6D60E40}" type="presParOf" srcId="{B8D53A98-9F72-4ECD-B6CC-028B1C80B262}" destId="{449B9687-8FCB-4431-B057-6D3F676F01B7}" srcOrd="0" destOrd="0" presId="urn:microsoft.com/office/officeart/2005/8/layout/hProcess7"/>
    <dgm:cxn modelId="{4867EEE4-9FA8-4283-ADBB-120DA4634BCA}" type="presParOf" srcId="{B8D53A98-9F72-4ECD-B6CC-028B1C80B262}" destId="{981C9684-98EB-44BD-8219-66A6E2136750}" srcOrd="1" destOrd="0" presId="urn:microsoft.com/office/officeart/2005/8/layout/hProcess7"/>
    <dgm:cxn modelId="{BD5F7369-C3EA-443D-BD89-F927944A6290}" type="presParOf" srcId="{B8D53A98-9F72-4ECD-B6CC-028B1C80B262}" destId="{8FAE53E7-F465-424F-A7F5-55D368DFCFA1}" srcOrd="2" destOrd="0" presId="urn:microsoft.com/office/officeart/2005/8/layout/hProcess7"/>
    <dgm:cxn modelId="{B2314FE5-6776-40BD-83B6-7A6132606307}" type="presParOf" srcId="{8FF7A947-A689-44F9-A56D-0D85668308B6}" destId="{B1665C85-EB72-46B1-B4A3-4104F44A275F}" srcOrd="3" destOrd="0" presId="urn:microsoft.com/office/officeart/2005/8/layout/hProcess7"/>
    <dgm:cxn modelId="{8A9A9D0A-4ADC-4B73-A5EF-20B37FC58C1C}" type="presParOf" srcId="{8FF7A947-A689-44F9-A56D-0D85668308B6}" destId="{50BF49AE-CBB9-483B-8E32-5BB751EC0ACE}" srcOrd="4" destOrd="0" presId="urn:microsoft.com/office/officeart/2005/8/layout/hProcess7"/>
    <dgm:cxn modelId="{41BAEAC3-4200-481E-B461-EDC5D3C7D69E}" type="presParOf" srcId="{50BF49AE-CBB9-483B-8E32-5BB751EC0ACE}" destId="{BDE43320-F624-4D93-A59F-BA617FC555AD}" srcOrd="0" destOrd="0" presId="urn:microsoft.com/office/officeart/2005/8/layout/hProcess7"/>
    <dgm:cxn modelId="{B194D4CB-C741-418E-A7FE-EE05FDB26AA9}" type="presParOf" srcId="{50BF49AE-CBB9-483B-8E32-5BB751EC0ACE}" destId="{1524FAA8-730B-4B9B-8AEE-D89D2F4395E8}" srcOrd="1" destOrd="0" presId="urn:microsoft.com/office/officeart/2005/8/layout/hProcess7"/>
    <dgm:cxn modelId="{73914D67-343C-4B18-B688-80E73F990368}" type="presParOf" srcId="{50BF49AE-CBB9-483B-8E32-5BB751EC0ACE}" destId="{36291A66-F856-4EA9-A952-0F1D81D94A1B}" srcOrd="2" destOrd="0" presId="urn:microsoft.com/office/officeart/2005/8/layout/hProcess7"/>
    <dgm:cxn modelId="{C16EF1F6-DEA8-45D3-8389-53EC0887B4CC}" type="presParOf" srcId="{8FF7A947-A689-44F9-A56D-0D85668308B6}" destId="{D52047D2-E05E-4D8B-A4FF-8942AE9D1079}" srcOrd="5" destOrd="0" presId="urn:microsoft.com/office/officeart/2005/8/layout/hProcess7"/>
    <dgm:cxn modelId="{25B068CD-942F-4E0C-96C6-82E2C1625C65}" type="presParOf" srcId="{8FF7A947-A689-44F9-A56D-0D85668308B6}" destId="{AD6D524E-F8B1-4EAE-A2D7-DF61C210F4EC}" srcOrd="6" destOrd="0" presId="urn:microsoft.com/office/officeart/2005/8/layout/hProcess7"/>
    <dgm:cxn modelId="{322D3607-9E4B-4154-AA99-990DE631E84A}" type="presParOf" srcId="{AD6D524E-F8B1-4EAE-A2D7-DF61C210F4EC}" destId="{91218EB9-0233-47F0-AD45-2946E1565913}" srcOrd="0" destOrd="0" presId="urn:microsoft.com/office/officeart/2005/8/layout/hProcess7"/>
    <dgm:cxn modelId="{627FB8C2-ED0E-48BD-88D2-373B6B51EE73}" type="presParOf" srcId="{AD6D524E-F8B1-4EAE-A2D7-DF61C210F4EC}" destId="{6FCE52E4-B78A-495F-8AF5-9D0E54AA1284}" srcOrd="1" destOrd="0" presId="urn:microsoft.com/office/officeart/2005/8/layout/hProcess7"/>
    <dgm:cxn modelId="{F72FBEF4-470F-4C3A-A2CA-D2E18C0248AF}" type="presParOf" srcId="{AD6D524E-F8B1-4EAE-A2D7-DF61C210F4EC}" destId="{8506DB69-11B3-42E7-8ADF-657042E397E8}" srcOrd="2" destOrd="0" presId="urn:microsoft.com/office/officeart/2005/8/layout/hProcess7"/>
    <dgm:cxn modelId="{2C082EF0-10D3-4524-BE38-A39ADF240B3C}" type="presParOf" srcId="{8FF7A947-A689-44F9-A56D-0D85668308B6}" destId="{A5CE9256-47AC-4808-9DA3-845E56F91134}" srcOrd="7" destOrd="0" presId="urn:microsoft.com/office/officeart/2005/8/layout/hProcess7"/>
    <dgm:cxn modelId="{BFE5CA2F-B8F0-4B40-B5AE-518BA2F4F02A}" type="presParOf" srcId="{8FF7A947-A689-44F9-A56D-0D85668308B6}" destId="{086E0DE5-ABA2-4A85-9813-F23F832D977E}" srcOrd="8" destOrd="0" presId="urn:microsoft.com/office/officeart/2005/8/layout/hProcess7"/>
    <dgm:cxn modelId="{198A84C8-7CCF-4E8D-AFA6-755115CA7DC9}" type="presParOf" srcId="{086E0DE5-ABA2-4A85-9813-F23F832D977E}" destId="{DF1C955F-90CF-46DA-9D08-4D74C5B06C30}" srcOrd="0" destOrd="0" presId="urn:microsoft.com/office/officeart/2005/8/layout/hProcess7"/>
    <dgm:cxn modelId="{F2061B84-5E5F-4672-9FDF-6E3C1E7C280D}" type="presParOf" srcId="{086E0DE5-ABA2-4A85-9813-F23F832D977E}" destId="{F56EF3E5-0950-489A-AFC2-B6ADF84DF208}" srcOrd="1" destOrd="0" presId="urn:microsoft.com/office/officeart/2005/8/layout/hProcess7"/>
    <dgm:cxn modelId="{C9E64176-E68B-496D-98C4-C0020D2364AA}" type="presParOf" srcId="{086E0DE5-ABA2-4A85-9813-F23F832D977E}" destId="{638EA7C9-5819-4469-91BC-0B3E1FAFF1FB}" srcOrd="2" destOrd="0" presId="urn:microsoft.com/office/officeart/2005/8/layout/hProcess7"/>
    <dgm:cxn modelId="{8213D305-FEB8-4607-9456-CD03233E473B}" type="presParOf" srcId="{8FF7A947-A689-44F9-A56D-0D85668308B6}" destId="{D5B3CB04-82F2-43AB-97D1-11FB3B40D58C}" srcOrd="9" destOrd="0" presId="urn:microsoft.com/office/officeart/2005/8/layout/hProcess7"/>
    <dgm:cxn modelId="{5DEC9B95-C5CB-43D5-8079-9DBD0FD9AF5D}" type="presParOf" srcId="{8FF7A947-A689-44F9-A56D-0D85668308B6}" destId="{DABD28B7-2938-4B1D-827D-29D4D3AF3CF4}" srcOrd="10" destOrd="0" presId="urn:microsoft.com/office/officeart/2005/8/layout/hProcess7"/>
    <dgm:cxn modelId="{C01CE5A6-C419-4CBC-92BB-5936BEDBCDC6}" type="presParOf" srcId="{DABD28B7-2938-4B1D-827D-29D4D3AF3CF4}" destId="{B40F0E68-DC8E-48D8-B014-9E811007395F}" srcOrd="0" destOrd="0" presId="urn:microsoft.com/office/officeart/2005/8/layout/hProcess7"/>
    <dgm:cxn modelId="{4F0F50DB-A2F7-45AD-B5B0-B9AA4EE7298A}" type="presParOf" srcId="{DABD28B7-2938-4B1D-827D-29D4D3AF3CF4}" destId="{03EAAB2A-E6C0-4BC2-B0FE-7AEFB688C763}" srcOrd="1" destOrd="0" presId="urn:microsoft.com/office/officeart/2005/8/layout/hProcess7"/>
    <dgm:cxn modelId="{9BBF9D5D-1178-48C7-966B-C2D42647076F}" type="presParOf" srcId="{DABD28B7-2938-4B1D-827D-29D4D3AF3CF4}" destId="{CD848543-4968-4339-B55F-118AE64A7EAA}" srcOrd="2" destOrd="0" presId="urn:microsoft.com/office/officeart/2005/8/layout/hProcess7"/>
    <dgm:cxn modelId="{38042286-6BEE-4897-B09C-E1C28E60F5FB}" type="presParOf" srcId="{8FF7A947-A689-44F9-A56D-0D85668308B6}" destId="{33AD1189-CCEA-4EE0-B8C3-7C7058C0D8C9}" srcOrd="11" destOrd="0" presId="urn:microsoft.com/office/officeart/2005/8/layout/hProcess7"/>
    <dgm:cxn modelId="{A9CD4EEB-00A8-4F09-B465-B778817A52D9}" type="presParOf" srcId="{8FF7A947-A689-44F9-A56D-0D85668308B6}" destId="{86A8AC56-E6E3-4102-89FD-DE3C10D4EAD1}" srcOrd="12" destOrd="0" presId="urn:microsoft.com/office/officeart/2005/8/layout/hProcess7"/>
    <dgm:cxn modelId="{53AD6D6F-936A-4FEA-91A4-32DD850A9B1E}" type="presParOf" srcId="{86A8AC56-E6E3-4102-89FD-DE3C10D4EAD1}" destId="{6266B11A-7521-4689-A7EC-A59A3BE01D78}" srcOrd="0" destOrd="0" presId="urn:microsoft.com/office/officeart/2005/8/layout/hProcess7"/>
    <dgm:cxn modelId="{45F97C70-4179-4BE1-833B-9F9244938A26}" type="presParOf" srcId="{86A8AC56-E6E3-4102-89FD-DE3C10D4EAD1}" destId="{B79238A3-3EB5-4ACC-B87B-76596F488FE7}" srcOrd="1" destOrd="0" presId="urn:microsoft.com/office/officeart/2005/8/layout/hProcess7"/>
  </dgm:cxnLst>
  <dgm:bg/>
  <dgm:whole/>
  <dgm:extLst>
    <a:ext uri="http://schemas.microsoft.com/office/drawing/2008/diagram">
      <dsp:dataModelExt xmlns:dsp="http://schemas.microsoft.com/office/drawing/2008/diagram" relId="rId13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022390F-4935-4C6D-927F-2835A8583D0E}">
      <dsp:nvSpPr>
        <dsp:cNvPr id="0" name=""/>
        <dsp:cNvSpPr/>
      </dsp:nvSpPr>
      <dsp:spPr>
        <a:xfrm>
          <a:off x="0" y="0"/>
          <a:ext cx="12145518" cy="1174861"/>
        </a:xfrm>
        <a:prstGeom prst="roundRect">
          <a:avLst>
            <a:gd name="adj" fmla="val 10000"/>
          </a:avLst>
        </a:prstGeom>
        <a:solidFill>
          <a:schemeClr val="accent1">
            <a:lumMod val="7500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94310" tIns="194310" rIns="194310" bIns="194310" numCol="1" spcCol="1270" anchor="ctr" anchorCtr="0">
          <a:noAutofit/>
        </a:bodyPr>
        <a:lstStyle/>
        <a:p>
          <a:pPr marL="0" lvl="0" indent="0" algn="l" defTabSz="2266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100" kern="1200" dirty="0"/>
            <a:t>Sara Helmy (leader)</a:t>
          </a:r>
        </a:p>
      </dsp:txBody>
      <dsp:txXfrm>
        <a:off x="34411" y="34411"/>
        <a:ext cx="10740291" cy="1106039"/>
      </dsp:txXfrm>
    </dsp:sp>
    <dsp:sp modelId="{3331B175-2E9C-4A4E-9B99-11FD17AA42F4}">
      <dsp:nvSpPr>
        <dsp:cNvPr id="0" name=""/>
        <dsp:cNvSpPr/>
      </dsp:nvSpPr>
      <dsp:spPr>
        <a:xfrm>
          <a:off x="906970" y="1338036"/>
          <a:ext cx="12145518" cy="1174861"/>
        </a:xfrm>
        <a:prstGeom prst="roundRect">
          <a:avLst>
            <a:gd name="adj" fmla="val 10000"/>
          </a:avLst>
        </a:prstGeom>
        <a:solidFill>
          <a:schemeClr val="accent1">
            <a:lumMod val="7500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94310" tIns="194310" rIns="194310" bIns="194310" numCol="1" spcCol="1270" anchor="ctr" anchorCtr="0">
          <a:noAutofit/>
        </a:bodyPr>
        <a:lstStyle/>
        <a:p>
          <a:pPr marL="0" lvl="0" indent="0" algn="l" defTabSz="2266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100" kern="1200"/>
            <a:t>Alaa Khalaf </a:t>
          </a:r>
        </a:p>
      </dsp:txBody>
      <dsp:txXfrm>
        <a:off x="941381" y="1372447"/>
        <a:ext cx="10406065" cy="1106039"/>
      </dsp:txXfrm>
    </dsp:sp>
    <dsp:sp modelId="{36D3642B-BCF4-4C7A-8F9D-9A21225A89B6}">
      <dsp:nvSpPr>
        <dsp:cNvPr id="0" name=""/>
        <dsp:cNvSpPr/>
      </dsp:nvSpPr>
      <dsp:spPr>
        <a:xfrm>
          <a:off x="1813940" y="2676072"/>
          <a:ext cx="12145518" cy="1174861"/>
        </a:xfrm>
        <a:prstGeom prst="roundRect">
          <a:avLst>
            <a:gd name="adj" fmla="val 10000"/>
          </a:avLst>
        </a:prstGeom>
        <a:solidFill>
          <a:schemeClr val="accent1">
            <a:lumMod val="7500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94310" tIns="194310" rIns="194310" bIns="194310" numCol="1" spcCol="1270" anchor="ctr" anchorCtr="0">
          <a:noAutofit/>
        </a:bodyPr>
        <a:lstStyle/>
        <a:p>
          <a:pPr marL="0" lvl="0" indent="0" algn="l" defTabSz="2266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100" kern="1200"/>
            <a:t>Doaa Soliman </a:t>
          </a:r>
        </a:p>
      </dsp:txBody>
      <dsp:txXfrm>
        <a:off x="1848351" y="2710483"/>
        <a:ext cx="10406065" cy="1106039"/>
      </dsp:txXfrm>
    </dsp:sp>
    <dsp:sp modelId="{81B083E8-CE64-4152-AAE5-FD6B3B81B2C9}">
      <dsp:nvSpPr>
        <dsp:cNvPr id="0" name=""/>
        <dsp:cNvSpPr/>
      </dsp:nvSpPr>
      <dsp:spPr>
        <a:xfrm>
          <a:off x="2720911" y="4014109"/>
          <a:ext cx="12145518" cy="1174861"/>
        </a:xfrm>
        <a:prstGeom prst="roundRect">
          <a:avLst>
            <a:gd name="adj" fmla="val 10000"/>
          </a:avLst>
        </a:prstGeom>
        <a:solidFill>
          <a:schemeClr val="accent1">
            <a:lumMod val="7500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94310" tIns="194310" rIns="194310" bIns="194310" numCol="1" spcCol="1270" anchor="ctr" anchorCtr="0">
          <a:noAutofit/>
        </a:bodyPr>
        <a:lstStyle/>
        <a:p>
          <a:pPr marL="0" lvl="0" indent="0" algn="l" defTabSz="2266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100" kern="1200"/>
            <a:t>Shaimaa sayed </a:t>
          </a:r>
        </a:p>
      </dsp:txBody>
      <dsp:txXfrm>
        <a:off x="2755322" y="4048520"/>
        <a:ext cx="10406065" cy="1106039"/>
      </dsp:txXfrm>
    </dsp:sp>
    <dsp:sp modelId="{2EFA47B3-BA5B-4108-8921-2ADF43187D52}">
      <dsp:nvSpPr>
        <dsp:cNvPr id="0" name=""/>
        <dsp:cNvSpPr/>
      </dsp:nvSpPr>
      <dsp:spPr>
        <a:xfrm>
          <a:off x="3627881" y="5352145"/>
          <a:ext cx="12145518" cy="1174861"/>
        </a:xfrm>
        <a:prstGeom prst="roundRect">
          <a:avLst>
            <a:gd name="adj" fmla="val 10000"/>
          </a:avLst>
        </a:prstGeom>
        <a:solidFill>
          <a:schemeClr val="accent1">
            <a:lumMod val="7500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94310" tIns="194310" rIns="194310" bIns="194310" numCol="1" spcCol="1270" anchor="ctr" anchorCtr="0">
          <a:noAutofit/>
        </a:bodyPr>
        <a:lstStyle/>
        <a:p>
          <a:pPr marL="0" lvl="0" indent="0" algn="l" defTabSz="2266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100" kern="1200" dirty="0"/>
            <a:t>Maha Maher</a:t>
          </a:r>
        </a:p>
      </dsp:txBody>
      <dsp:txXfrm>
        <a:off x="3662292" y="5386556"/>
        <a:ext cx="10406065" cy="1106039"/>
      </dsp:txXfrm>
    </dsp:sp>
    <dsp:sp modelId="{283226DF-EFFD-4A45-9C10-2181672688E4}">
      <dsp:nvSpPr>
        <dsp:cNvPr id="0" name=""/>
        <dsp:cNvSpPr/>
      </dsp:nvSpPr>
      <dsp:spPr>
        <a:xfrm>
          <a:off x="11381858" y="858301"/>
          <a:ext cx="763659" cy="763659"/>
        </a:xfrm>
        <a:prstGeom prst="downArrow">
          <a:avLst>
            <a:gd name="adj1" fmla="val 55000"/>
            <a:gd name="adj2" fmla="val 45000"/>
          </a:avLst>
        </a:prstGeom>
        <a:solidFill>
          <a:schemeClr val="accent5">
            <a:alpha val="90000"/>
            <a:tint val="4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5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3180" tIns="43180" rIns="43180" bIns="43180" numCol="1" spcCol="1270" anchor="ctr" anchorCtr="0">
          <a:noAutofit/>
        </a:bodyPr>
        <a:lstStyle/>
        <a:p>
          <a:pPr marL="0" lvl="0" indent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3400" kern="1200"/>
        </a:p>
      </dsp:txBody>
      <dsp:txXfrm>
        <a:off x="11553681" y="858301"/>
        <a:ext cx="420013" cy="574653"/>
      </dsp:txXfrm>
    </dsp:sp>
    <dsp:sp modelId="{5BD9A7A6-074E-4817-8B58-9C4C8741C942}">
      <dsp:nvSpPr>
        <dsp:cNvPr id="0" name=""/>
        <dsp:cNvSpPr/>
      </dsp:nvSpPr>
      <dsp:spPr>
        <a:xfrm>
          <a:off x="12288828" y="2196337"/>
          <a:ext cx="763659" cy="763659"/>
        </a:xfrm>
        <a:prstGeom prst="downArrow">
          <a:avLst>
            <a:gd name="adj1" fmla="val 55000"/>
            <a:gd name="adj2" fmla="val 45000"/>
          </a:avLst>
        </a:prstGeom>
        <a:solidFill>
          <a:schemeClr val="accent5">
            <a:alpha val="90000"/>
            <a:tint val="4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5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3180" tIns="43180" rIns="43180" bIns="43180" numCol="1" spcCol="1270" anchor="ctr" anchorCtr="0">
          <a:noAutofit/>
        </a:bodyPr>
        <a:lstStyle/>
        <a:p>
          <a:pPr marL="0" lvl="0" indent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3400" kern="1200"/>
        </a:p>
      </dsp:txBody>
      <dsp:txXfrm>
        <a:off x="12460651" y="2196337"/>
        <a:ext cx="420013" cy="574653"/>
      </dsp:txXfrm>
    </dsp:sp>
    <dsp:sp modelId="{C93E7463-3801-438D-8689-52E92194BC98}">
      <dsp:nvSpPr>
        <dsp:cNvPr id="0" name=""/>
        <dsp:cNvSpPr/>
      </dsp:nvSpPr>
      <dsp:spPr>
        <a:xfrm>
          <a:off x="13195799" y="3514793"/>
          <a:ext cx="763659" cy="763659"/>
        </a:xfrm>
        <a:prstGeom prst="downArrow">
          <a:avLst>
            <a:gd name="adj1" fmla="val 55000"/>
            <a:gd name="adj2" fmla="val 45000"/>
          </a:avLst>
        </a:prstGeom>
        <a:solidFill>
          <a:schemeClr val="accent5">
            <a:alpha val="90000"/>
            <a:tint val="4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5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3180" tIns="43180" rIns="43180" bIns="43180" numCol="1" spcCol="1270" anchor="ctr" anchorCtr="0">
          <a:noAutofit/>
        </a:bodyPr>
        <a:lstStyle/>
        <a:p>
          <a:pPr marL="0" lvl="0" indent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3400" kern="1200"/>
        </a:p>
      </dsp:txBody>
      <dsp:txXfrm>
        <a:off x="13367622" y="3514793"/>
        <a:ext cx="420013" cy="574653"/>
      </dsp:txXfrm>
    </dsp:sp>
    <dsp:sp modelId="{30603C10-9818-42F9-AAC6-2EF9F5486DDE}">
      <dsp:nvSpPr>
        <dsp:cNvPr id="0" name=""/>
        <dsp:cNvSpPr/>
      </dsp:nvSpPr>
      <dsp:spPr>
        <a:xfrm>
          <a:off x="14102769" y="4865883"/>
          <a:ext cx="763659" cy="763659"/>
        </a:xfrm>
        <a:prstGeom prst="downArrow">
          <a:avLst>
            <a:gd name="adj1" fmla="val 55000"/>
            <a:gd name="adj2" fmla="val 45000"/>
          </a:avLst>
        </a:prstGeom>
        <a:solidFill>
          <a:schemeClr val="accent5">
            <a:alpha val="90000"/>
            <a:tint val="4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5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3180" tIns="43180" rIns="43180" bIns="43180" numCol="1" spcCol="1270" anchor="ctr" anchorCtr="0">
          <a:noAutofit/>
        </a:bodyPr>
        <a:lstStyle/>
        <a:p>
          <a:pPr marL="0" lvl="0" indent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3400" kern="1200"/>
        </a:p>
      </dsp:txBody>
      <dsp:txXfrm>
        <a:off x="14274592" y="4865883"/>
        <a:ext cx="420013" cy="574653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99A5261-248C-4291-8735-D71EDE8D44D0}">
      <dsp:nvSpPr>
        <dsp:cNvPr id="0" name=""/>
        <dsp:cNvSpPr/>
      </dsp:nvSpPr>
      <dsp:spPr>
        <a:xfrm>
          <a:off x="6104484" y="480427"/>
          <a:ext cx="2684282" cy="4571920"/>
        </a:xfrm>
        <a:prstGeom prst="roundRect">
          <a:avLst>
            <a:gd name="adj" fmla="val 5000"/>
          </a:avLst>
        </a:prstGeom>
        <a:gradFill rotWithShape="0">
          <a:gsLst>
            <a:gs pos="0">
              <a:schemeClr val="accent1">
                <a:alpha val="90000"/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alpha val="90000"/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alpha val="90000"/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123444" rIns="160020" bIns="0" numCol="1" spcCol="1270" anchor="t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b="1" kern="1200" dirty="0">
              <a:solidFill>
                <a:schemeClr val="tx2"/>
              </a:solidFill>
            </a:rPr>
            <a:t>Products </a:t>
          </a:r>
        </a:p>
      </dsp:txBody>
      <dsp:txXfrm rot="16200000">
        <a:off x="4498424" y="2086486"/>
        <a:ext cx="3748974" cy="536856"/>
      </dsp:txXfrm>
    </dsp:sp>
    <dsp:sp modelId="{9CD7712D-0BF1-496F-8F8C-AC2746FB08B6}">
      <dsp:nvSpPr>
        <dsp:cNvPr id="0" name=""/>
        <dsp:cNvSpPr/>
      </dsp:nvSpPr>
      <dsp:spPr>
        <a:xfrm>
          <a:off x="6668074" y="480427"/>
          <a:ext cx="1999790" cy="4571920"/>
        </a:xfrm>
        <a:prstGeom prst="rect">
          <a:avLst/>
        </a:prstGeom>
        <a:noFill/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78867" rIns="0" bIns="0" numCol="1" spcCol="1270" anchor="t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 dirty="0">
              <a:solidFill>
                <a:schemeClr val="bg1"/>
              </a:solidFill>
            </a:rPr>
            <a:t>Total products # </a:t>
          </a:r>
          <a:r>
            <a:rPr lang="en-US" sz="2300" kern="1200" dirty="0">
              <a:solidFill>
                <a:schemeClr val="tx2">
                  <a:lumMod val="50000"/>
                </a:schemeClr>
              </a:solidFill>
            </a:rPr>
            <a:t>793</a:t>
          </a:r>
          <a:r>
            <a:rPr lang="en-US" sz="2300" kern="1200" dirty="0">
              <a:solidFill>
                <a:srgbClr val="FF0000"/>
              </a:solidFill>
            </a:rPr>
            <a:t> </a:t>
          </a:r>
        </a:p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300" kern="1200" dirty="0">
            <a:solidFill>
              <a:srgbClr val="FF0000"/>
            </a:solidFill>
          </a:endParaRPr>
        </a:p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 dirty="0">
              <a:solidFill>
                <a:schemeClr val="bg1"/>
              </a:solidFill>
            </a:rPr>
            <a:t>Total categories # </a:t>
          </a:r>
          <a:r>
            <a:rPr lang="en-US" sz="2300" kern="1200" dirty="0">
              <a:solidFill>
                <a:schemeClr val="tx2">
                  <a:lumMod val="50000"/>
                </a:schemeClr>
              </a:solidFill>
            </a:rPr>
            <a:t>3</a:t>
          </a:r>
        </a:p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300" kern="1200" dirty="0">
            <a:solidFill>
              <a:schemeClr val="bg1"/>
            </a:solidFill>
          </a:endParaRPr>
        </a:p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 dirty="0">
              <a:solidFill>
                <a:schemeClr val="bg1"/>
              </a:solidFill>
            </a:rPr>
            <a:t>Total </a:t>
          </a:r>
        </a:p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 dirty="0">
              <a:solidFill>
                <a:schemeClr val="bg1"/>
              </a:solidFill>
            </a:rPr>
            <a:t> subcategories # </a:t>
          </a:r>
          <a:r>
            <a:rPr lang="en-US" sz="2300" kern="1200" dirty="0">
              <a:solidFill>
                <a:schemeClr val="tx2">
                  <a:lumMod val="50000"/>
                </a:schemeClr>
              </a:solidFill>
            </a:rPr>
            <a:t>17</a:t>
          </a:r>
        </a:p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300" kern="1200" dirty="0">
            <a:solidFill>
              <a:schemeClr val="bg1"/>
            </a:solidFill>
          </a:endParaRPr>
        </a:p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300" kern="1200" dirty="0">
            <a:solidFill>
              <a:schemeClr val="bg1"/>
            </a:solidFill>
          </a:endParaRPr>
        </a:p>
      </dsp:txBody>
      <dsp:txXfrm>
        <a:off x="6668074" y="480427"/>
        <a:ext cx="1999790" cy="4571920"/>
      </dsp:txXfrm>
    </dsp:sp>
    <dsp:sp modelId="{BDE43320-F624-4D93-A59F-BA617FC555AD}">
      <dsp:nvSpPr>
        <dsp:cNvPr id="0" name=""/>
        <dsp:cNvSpPr/>
      </dsp:nvSpPr>
      <dsp:spPr>
        <a:xfrm>
          <a:off x="89226" y="415104"/>
          <a:ext cx="2798068" cy="4571920"/>
        </a:xfrm>
        <a:prstGeom prst="roundRect">
          <a:avLst>
            <a:gd name="adj" fmla="val 5000"/>
          </a:avLst>
        </a:prstGeom>
        <a:gradFill rotWithShape="0">
          <a:gsLst>
            <a:gs pos="0">
              <a:schemeClr val="accent1">
                <a:alpha val="90000"/>
                <a:hueOff val="0"/>
                <a:satOff val="0"/>
                <a:lumOff val="0"/>
                <a:alphaOff val="-13333"/>
                <a:shade val="51000"/>
                <a:satMod val="130000"/>
              </a:schemeClr>
            </a:gs>
            <a:gs pos="80000">
              <a:schemeClr val="accent1">
                <a:alpha val="90000"/>
                <a:hueOff val="0"/>
                <a:satOff val="0"/>
                <a:lumOff val="0"/>
                <a:alphaOff val="-13333"/>
                <a:shade val="93000"/>
                <a:satMod val="130000"/>
              </a:schemeClr>
            </a:gs>
            <a:gs pos="100000">
              <a:schemeClr val="accent1">
                <a:alpha val="90000"/>
                <a:hueOff val="0"/>
                <a:satOff val="0"/>
                <a:lumOff val="0"/>
                <a:alphaOff val="-13333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123444" rIns="160020" bIns="0" numCol="1" spcCol="1270" anchor="t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b="1" kern="1200" dirty="0">
              <a:solidFill>
                <a:schemeClr val="tx2"/>
              </a:solidFill>
            </a:rPr>
            <a:t>Sales</a:t>
          </a:r>
          <a:endParaRPr lang="en-US" sz="3000" b="1" kern="1200" dirty="0">
            <a:solidFill>
              <a:schemeClr val="tx2"/>
            </a:solidFill>
          </a:endParaRPr>
        </a:p>
      </dsp:txBody>
      <dsp:txXfrm rot="16200000">
        <a:off x="-1505453" y="2009785"/>
        <a:ext cx="3748974" cy="559613"/>
      </dsp:txXfrm>
    </dsp:sp>
    <dsp:sp modelId="{981C9684-98EB-44BD-8219-66A6E2136750}">
      <dsp:nvSpPr>
        <dsp:cNvPr id="0" name=""/>
        <dsp:cNvSpPr/>
      </dsp:nvSpPr>
      <dsp:spPr>
        <a:xfrm rot="5400000">
          <a:off x="2546332" y="3381554"/>
          <a:ext cx="538127" cy="457954"/>
        </a:xfrm>
        <a:prstGeom prst="flowChartExtra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z="190500" extrusionH="12700" prstMaterial="plastic">
          <a:bevelT w="50800" h="50800"/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36291A66-F856-4EA9-A952-0F1D81D94A1B}">
      <dsp:nvSpPr>
        <dsp:cNvPr id="0" name=""/>
        <dsp:cNvSpPr/>
      </dsp:nvSpPr>
      <dsp:spPr>
        <a:xfrm>
          <a:off x="667325" y="415104"/>
          <a:ext cx="2084561" cy="4571920"/>
        </a:xfrm>
        <a:prstGeom prst="rect">
          <a:avLst/>
        </a:prstGeom>
        <a:noFill/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78867" rIns="0" bIns="0" numCol="1" spcCol="1270" anchor="t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 dirty="0"/>
            <a:t>Total sales </a:t>
          </a:r>
          <a:r>
            <a:rPr lang="en-US" sz="2300" kern="1200" dirty="0">
              <a:solidFill>
                <a:schemeClr val="tx2">
                  <a:lumMod val="50000"/>
                </a:schemeClr>
              </a:solidFill>
            </a:rPr>
            <a:t>2.2 M </a:t>
          </a:r>
        </a:p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300" kern="1200" dirty="0">
            <a:solidFill>
              <a:srgbClr val="FF0000"/>
            </a:solidFill>
          </a:endParaRPr>
        </a:p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 dirty="0"/>
            <a:t>Orders # </a:t>
          </a:r>
          <a:r>
            <a:rPr lang="en-US" sz="2300" kern="1200" dirty="0">
              <a:solidFill>
                <a:schemeClr val="tx2">
                  <a:lumMod val="50000"/>
                </a:schemeClr>
              </a:solidFill>
            </a:rPr>
            <a:t>4922</a:t>
          </a:r>
        </a:p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300" kern="1200" dirty="0">
            <a:solidFill>
              <a:srgbClr val="FF0000"/>
            </a:solidFill>
          </a:endParaRPr>
        </a:p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ar-EG" sz="2300" kern="1200" dirty="0"/>
            <a:t> </a:t>
          </a:r>
          <a:r>
            <a:rPr lang="en-US" sz="2300" kern="1200" dirty="0"/>
            <a:t>Top sales  per region: </a:t>
          </a:r>
          <a:r>
            <a:rPr lang="en-US" sz="2300" kern="1200" dirty="0">
              <a:solidFill>
                <a:schemeClr val="tx2">
                  <a:lumMod val="50000"/>
                </a:schemeClr>
              </a:solidFill>
            </a:rPr>
            <a:t>west,</a:t>
          </a:r>
          <a:r>
            <a:rPr lang="en-US" sz="2300" kern="1200" dirty="0">
              <a:solidFill>
                <a:srgbClr val="FF0000"/>
              </a:solidFill>
            </a:rPr>
            <a:t> </a:t>
          </a:r>
          <a:r>
            <a:rPr lang="en-US" sz="2300" kern="1200" dirty="0">
              <a:solidFill>
                <a:schemeClr val="tx2">
                  <a:lumMod val="50000"/>
                </a:schemeClr>
              </a:solidFill>
            </a:rPr>
            <a:t>east</a:t>
          </a:r>
        </a:p>
      </dsp:txBody>
      <dsp:txXfrm>
        <a:off x="667325" y="415104"/>
        <a:ext cx="2084561" cy="4571920"/>
      </dsp:txXfrm>
    </dsp:sp>
    <dsp:sp modelId="{DF1C955F-90CF-46DA-9D08-4D74C5B06C30}">
      <dsp:nvSpPr>
        <dsp:cNvPr id="0" name=""/>
        <dsp:cNvSpPr/>
      </dsp:nvSpPr>
      <dsp:spPr>
        <a:xfrm>
          <a:off x="8873932" y="475627"/>
          <a:ext cx="2747999" cy="4571920"/>
        </a:xfrm>
        <a:prstGeom prst="roundRect">
          <a:avLst>
            <a:gd name="adj" fmla="val 5000"/>
          </a:avLst>
        </a:prstGeom>
        <a:gradFill rotWithShape="0">
          <a:gsLst>
            <a:gs pos="0">
              <a:schemeClr val="accent1">
                <a:alpha val="90000"/>
                <a:hueOff val="0"/>
                <a:satOff val="0"/>
                <a:lumOff val="0"/>
                <a:alphaOff val="-26667"/>
                <a:shade val="51000"/>
                <a:satMod val="130000"/>
              </a:schemeClr>
            </a:gs>
            <a:gs pos="80000">
              <a:schemeClr val="accent1">
                <a:alpha val="90000"/>
                <a:hueOff val="0"/>
                <a:satOff val="0"/>
                <a:lumOff val="0"/>
                <a:alphaOff val="-26667"/>
                <a:shade val="93000"/>
                <a:satMod val="130000"/>
              </a:schemeClr>
            </a:gs>
            <a:gs pos="100000">
              <a:schemeClr val="accent1">
                <a:alpha val="90000"/>
                <a:hueOff val="0"/>
                <a:satOff val="0"/>
                <a:lumOff val="0"/>
                <a:alphaOff val="-26667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123444" rIns="160020" bIns="0" numCol="1" spcCol="1270" anchor="t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b="1" kern="1200" dirty="0">
              <a:solidFill>
                <a:schemeClr val="tx2"/>
              </a:solidFill>
            </a:rPr>
            <a:t>Shipping</a:t>
          </a:r>
          <a:endParaRPr lang="en-US" sz="3000" b="1" kern="1200" dirty="0">
            <a:solidFill>
              <a:schemeClr val="tx2"/>
            </a:solidFill>
          </a:endParaRPr>
        </a:p>
      </dsp:txBody>
      <dsp:txXfrm rot="16200000">
        <a:off x="7274245" y="2075315"/>
        <a:ext cx="3748974" cy="549599"/>
      </dsp:txXfrm>
    </dsp:sp>
    <dsp:sp modelId="{6FCE52E4-B78A-495F-8AF5-9D0E54AA1284}">
      <dsp:nvSpPr>
        <dsp:cNvPr id="0" name=""/>
        <dsp:cNvSpPr/>
      </dsp:nvSpPr>
      <dsp:spPr>
        <a:xfrm rot="5400000">
          <a:off x="5495912" y="3171479"/>
          <a:ext cx="538127" cy="457954"/>
        </a:xfrm>
        <a:prstGeom prst="flowChartExtra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alpha val="90000"/>
              <a:hueOff val="0"/>
              <a:satOff val="0"/>
              <a:lumOff val="0"/>
              <a:alphaOff val="-2000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z="190500" extrusionH="12700" prstMaterial="plastic">
          <a:bevelT w="50800" h="50800"/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638EA7C9-5819-4469-91BC-0B3E1FAFF1FB}">
      <dsp:nvSpPr>
        <dsp:cNvPr id="0" name=""/>
        <dsp:cNvSpPr/>
      </dsp:nvSpPr>
      <dsp:spPr>
        <a:xfrm>
          <a:off x="9445647" y="475627"/>
          <a:ext cx="2047259" cy="4571920"/>
        </a:xfrm>
        <a:prstGeom prst="rect">
          <a:avLst/>
        </a:prstGeom>
        <a:noFill/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78867" rIns="0" bIns="0" numCol="1" spcCol="1270" anchor="t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 dirty="0"/>
            <a:t> </a:t>
          </a:r>
          <a:r>
            <a:rPr lang="en-US" sz="2300" kern="1200" dirty="0" err="1"/>
            <a:t>AV.shipping</a:t>
          </a:r>
          <a:r>
            <a:rPr lang="en-US" sz="2300" kern="1200" dirty="0"/>
            <a:t> time  </a:t>
          </a:r>
          <a:r>
            <a:rPr lang="en-US" sz="2300" kern="1200" dirty="0">
              <a:solidFill>
                <a:schemeClr val="tx2">
                  <a:lumMod val="50000"/>
                </a:schemeClr>
              </a:solidFill>
            </a:rPr>
            <a:t>4</a:t>
          </a:r>
          <a:r>
            <a:rPr lang="en-US" sz="2300" kern="1200" dirty="0"/>
            <a:t> days </a:t>
          </a:r>
        </a:p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300" kern="1200" dirty="0"/>
        </a:p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ar-EG" sz="2300" kern="1200" dirty="0">
              <a:solidFill>
                <a:srgbClr val="FF0000"/>
              </a:solidFill>
            </a:rPr>
            <a:t> </a:t>
          </a:r>
          <a:r>
            <a:rPr lang="en-US" sz="2300" kern="1200" dirty="0">
              <a:solidFill>
                <a:schemeClr val="tx2">
                  <a:lumMod val="50000"/>
                </a:schemeClr>
              </a:solidFill>
            </a:rPr>
            <a:t>32</a:t>
          </a:r>
          <a:r>
            <a:rPr lang="en-US" sz="2300" kern="1200" dirty="0"/>
            <a:t>% delay</a:t>
          </a:r>
          <a:r>
            <a:rPr lang="en-US" sz="2300" kern="1200"/>
            <a:t>, </a:t>
          </a:r>
          <a:r>
            <a:rPr lang="en-US" sz="2300" kern="1200">
              <a:solidFill>
                <a:schemeClr val="tx2">
                  <a:lumMod val="50000"/>
                </a:schemeClr>
              </a:solidFill>
            </a:rPr>
            <a:t>68</a:t>
          </a:r>
          <a:r>
            <a:rPr lang="en-US" sz="2300" kern="1200"/>
            <a:t>% </a:t>
          </a:r>
          <a:r>
            <a:rPr lang="en-US" sz="2300" kern="1200" dirty="0"/>
            <a:t>on time</a:t>
          </a:r>
        </a:p>
      </dsp:txBody>
      <dsp:txXfrm>
        <a:off x="9445647" y="475627"/>
        <a:ext cx="2047259" cy="4571920"/>
      </dsp:txXfrm>
    </dsp:sp>
    <dsp:sp modelId="{6266B11A-7521-4689-A7EC-A59A3BE01D78}">
      <dsp:nvSpPr>
        <dsp:cNvPr id="0" name=""/>
        <dsp:cNvSpPr/>
      </dsp:nvSpPr>
      <dsp:spPr>
        <a:xfrm>
          <a:off x="2968780" y="415104"/>
          <a:ext cx="3053027" cy="4571920"/>
        </a:xfrm>
        <a:prstGeom prst="roundRect">
          <a:avLst>
            <a:gd name="adj" fmla="val 5000"/>
          </a:avLst>
        </a:prstGeom>
        <a:gradFill rotWithShape="0">
          <a:gsLst>
            <a:gs pos="0">
              <a:schemeClr val="accent1">
                <a:alpha val="90000"/>
                <a:hueOff val="0"/>
                <a:satOff val="0"/>
                <a:lumOff val="0"/>
                <a:alphaOff val="-40000"/>
                <a:shade val="51000"/>
                <a:satMod val="130000"/>
              </a:schemeClr>
            </a:gs>
            <a:gs pos="80000">
              <a:schemeClr val="accent1">
                <a:alpha val="90000"/>
                <a:hueOff val="0"/>
                <a:satOff val="0"/>
                <a:lumOff val="0"/>
                <a:alphaOff val="-40000"/>
                <a:shade val="93000"/>
                <a:satMod val="130000"/>
              </a:schemeClr>
            </a:gs>
            <a:gs pos="100000">
              <a:schemeClr val="accent1">
                <a:alpha val="90000"/>
                <a:hueOff val="0"/>
                <a:satOff val="0"/>
                <a:lumOff val="0"/>
                <a:alphaOff val="-4000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120015" rIns="155575" bIns="0" numCol="1" spcCol="1270" anchor="t" anchorCtr="0">
          <a:noAutofit/>
        </a:bodyPr>
        <a:lstStyle/>
        <a:p>
          <a:pPr marL="0" lvl="0" indent="0" algn="r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3500" kern="1200" dirty="0"/>
        </a:p>
      </dsp:txBody>
      <dsp:txXfrm rot="16200000">
        <a:off x="1399596" y="1984289"/>
        <a:ext cx="3748974" cy="610605"/>
      </dsp:txXfrm>
    </dsp:sp>
    <dsp:sp modelId="{03EAAB2A-E6C0-4BC2-B0FE-7AEFB688C763}">
      <dsp:nvSpPr>
        <dsp:cNvPr id="0" name=""/>
        <dsp:cNvSpPr/>
      </dsp:nvSpPr>
      <dsp:spPr>
        <a:xfrm rot="5400000">
          <a:off x="8290716" y="2989766"/>
          <a:ext cx="538127" cy="457954"/>
        </a:xfrm>
        <a:prstGeom prst="flowChartExtra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alpha val="90000"/>
              <a:hueOff val="0"/>
              <a:satOff val="0"/>
              <a:lumOff val="0"/>
              <a:alphaOff val="-4000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z="190500" extrusionH="12700" prstMaterial="plastic">
          <a:bevelT w="50800" h="50800"/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Process7">
  <dgm:title val=""/>
  <dgm:desc val=""/>
  <dgm:catLst>
    <dgm:cat type="process" pri="21000"/>
    <dgm:cat type="list" pri="9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23" srcId="2" destId="21" srcOrd="0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L"/>
          <dgm:param type="nodeVertAlign" val="t"/>
        </dgm:alg>
      </dgm:if>
      <dgm:else name="Name3">
        <dgm:alg type="lin">
          <dgm:param type="linDir" val="fromR"/>
          <dgm:param type="nodeVertAlign" val="t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Node" refType="h"/>
      <dgm:constr type="w" for="ch" forName="compositeNode" refType="w"/>
      <dgm:constr type="w" for="ch" forName="hSp" refType="w" refFor="ch" refForName="compositeNode" fact="-0.035"/>
      <dgm:constr type="w" for="des" forName="simulatedConn" refType="w" refFor="ch" refForName="compositeNode" fact="0.15"/>
      <dgm:constr type="h" for="des" forName="simulatedConn" refType="w" refFor="des" refForName="simulatedConn"/>
      <dgm:constr type="h" for="des" forName="vSp1" refType="w" refFor="ch" refForName="compositeNode" fact="0.8"/>
      <dgm:constr type="h" for="des" forName="vSp2" refType="w" refFor="ch" refForName="compositeNode" fact="0.07"/>
      <dgm:constr type="w" for="ch" forName="vProcSp" refType="w" refFor="des" refForName="simulatedConn" op="equ"/>
      <dgm:constr type="h" for="ch" forName="vProcSp" refType="h" refFor="ch" refForName="compositeNode" op="equ"/>
      <dgm:constr type="w" for="ch" forName="sibTrans" refType="w" refFor="ch" refForName="compositeNode" fact="-0.08"/>
      <dgm:constr type="primFontSz" for="des" forName="parentNode" op="equ"/>
      <dgm:constr type="primFontSz" for="des" forName="childNode" op="equ"/>
    </dgm:constrLst>
    <dgm:ruleLst/>
    <dgm:forEach name="Name4" axis="ch" ptType="node">
      <dgm:layoutNode name="compositeNode">
        <dgm:varLst>
          <dgm:bulletEnabled val="1"/>
        </dgm:varLst>
        <dgm:alg type="composite"/>
        <dgm:choose name="Name5">
          <dgm:if name="Name6" func="var" arg="dir" op="equ" val="norm">
            <dgm:constrLst>
              <dgm:constr type="h" refType="w" op="lte" fact="1.2"/>
              <dgm:constr type="w" for="ch" forName="bgRect" refType="w"/>
              <dgm:constr type="h" for="ch" forName="bgRect" refType="h"/>
              <dgm:constr type="t" for="ch" forName="bgRect"/>
              <dgm:constr type="l" for="ch" forName="bgRect"/>
              <dgm:constr type="w" for="ch" forName="parentNode" refType="w" refFor="ch" refForName="bgRect" fact="0.2"/>
              <dgm:constr type="h" for="ch" forName="parentNode" refType="h" fact="0.82"/>
              <dgm:constr type="t" for="ch" forName="parentNode"/>
              <dgm:constr type="l" for="ch" forName="parentNode"/>
              <dgm:constr type="r" for="ch" forName="childNode" refType="r" refFor="ch" refForName="bgRect" fact="0.945"/>
              <dgm:constr type="h" for="ch" forName="childNode" refType="h" refFor="ch" refForName="bgRect" op="equ"/>
              <dgm:constr type="t" for="ch" forName="childNode"/>
              <dgm:constr type="l" for="ch" forName="childNode" refType="r" refFor="ch" refForName="parentNode"/>
            </dgm:constrLst>
          </dgm:if>
          <dgm:else name="Name7">
            <dgm:constrLst>
              <dgm:constr type="h" refType="w" op="lte" fact="1.2"/>
              <dgm:constr type="w" for="ch" forName="bgRect" refType="w"/>
              <dgm:constr type="h" for="ch" forName="bgRect" refType="h"/>
              <dgm:constr type="t" for="ch" forName="bgRect"/>
              <dgm:constr type="r" for="ch" forName="bgRect" refType="w"/>
              <dgm:constr type="w" for="ch" forName="parentNode" refType="w" refFor="ch" refForName="bgRect" fact="0.2"/>
              <dgm:constr type="h" for="ch" forName="parentNode" refType="h" fact="0.82"/>
              <dgm:constr type="t" for="ch" forName="parentNode"/>
              <dgm:constr type="r" for="ch" forName="parentNode" refType="w"/>
              <dgm:constr type="h" for="ch" forName="childNode" refType="h" refFor="ch" refForName="bgRect"/>
              <dgm:constr type="t" for="ch" forName="childNode"/>
              <dgm:constr type="r" for="ch" forName="childNode" refType="l" refFor="ch" refForName="parentNode"/>
              <dgm:constr type="l" for="ch" forName="childNode" refType="w" refFor="ch" refForName="bgRect" fact="0.055"/>
            </dgm:constrLst>
          </dgm:else>
        </dgm:choose>
        <dgm:ruleLst>
          <dgm:rule type="w" for="ch" forName="childNode" val="NaN" fact="NaN" max="30"/>
        </dgm:ruleLst>
        <dgm:layoutNode name="bgRect" styleLbl="node1">
          <dgm:alg type="sp"/>
          <dgm:shape xmlns:r="http://schemas.openxmlformats.org/officeDocument/2006/relationships" type="roundRect" r:blip="" zOrderOff="-1">
            <dgm:adjLst>
              <dgm:adj idx="1" val="0.05"/>
            </dgm:adjLst>
          </dgm:shape>
          <dgm:presOf axis="self"/>
          <dgm:constrLst/>
          <dgm:ruleLst/>
        </dgm:layoutNode>
        <dgm:layoutNode name="parentNode" styleLbl="node1">
          <dgm:varLst>
            <dgm:chMax val="0"/>
            <dgm:bulletEnabled val="1"/>
          </dgm:varLst>
          <dgm:presOf axis="self"/>
          <dgm:choose name="Name8">
            <dgm:if name="Name9" func="var" arg="dir" op="equ" val="norm">
              <dgm:alg type="tx">
                <dgm:param type="autoTxRot" val="grav"/>
                <dgm:param type="txAnchorVert" val="t"/>
                <dgm:param type="parTxLTRAlign" val="r"/>
                <dgm:param type="parTxRTLAlign" val="r"/>
              </dgm:alg>
              <dgm:shape xmlns:r="http://schemas.openxmlformats.org/officeDocument/2006/relationships" rot="270" type="rect" r:blip="" hideGeom="1">
                <dgm:adjLst/>
              </dgm:shape>
              <dgm:constrLst>
                <dgm:constr type="primFontSz" val="65"/>
                <dgm:constr type="lMarg"/>
                <dgm:constr type="rMarg" refType="primFontSz" fact="0.35"/>
                <dgm:constr type="tMarg" refType="primFontSz" fact="0.27"/>
                <dgm:constr type="bMarg"/>
              </dgm:constrLst>
            </dgm:if>
            <dgm:else name="Name10">
              <dgm:alg type="tx">
                <dgm:param type="autoTxRot" val="grav"/>
                <dgm:param type="txAnchorVert" val="t"/>
                <dgm:param type="parTxLTRAlign" val="l"/>
                <dgm:param type="parTxRTLAlign" val="l"/>
              </dgm:alg>
              <dgm:shape xmlns:r="http://schemas.openxmlformats.org/officeDocument/2006/relationships" rot="90" type="rect" r:blip="" hideGeom="1">
                <dgm:adjLst/>
              </dgm:shape>
              <dgm:constrLst>
                <dgm:constr type="primFontSz" val="65"/>
                <dgm:constr type="lMarg" refType="primFontSz" fact="0.35"/>
                <dgm:constr type="rMarg"/>
                <dgm:constr type="tMarg" refType="primFontSz" fact="0.27"/>
                <dgm:constr type="bMarg"/>
              </dgm:constrLst>
            </dgm:else>
          </dgm:choose>
          <dgm:ruleLst>
            <dgm:rule type="primFontSz" val="5" fact="NaN" max="NaN"/>
          </dgm:ruleLst>
        </dgm:layoutNode>
        <dgm:choose name="Name11">
          <dgm:if name="Name12" axis="ch" ptType="node" func="cnt" op="gte" val="1">
            <dgm:layoutNode name="childNode" styleLbl="node1" moveWith="bgRect">
              <dgm:varLst>
                <dgm:bulletEnabled val="1"/>
              </dgm:varLst>
              <dgm:alg type="tx">
                <dgm:param type="parTxLTRAlign" val="l"/>
                <dgm:param type="parTxRTLAlign" val="r"/>
                <dgm:param type="txAnchorVert" val="t"/>
              </dgm:alg>
              <dgm:shape xmlns:r="http://schemas.openxmlformats.org/officeDocument/2006/relationships" type="rect" r:blip="" hideGeom="1">
                <dgm:adjLst/>
              </dgm:shape>
              <dgm:presOf axis="des" ptType="node"/>
              <dgm:constrLst>
                <dgm:constr type="primFontSz" val="65"/>
                <dgm:constr type="lMarg"/>
                <dgm:constr type="bMarg"/>
                <dgm:constr type="tMarg" refType="primFontSz" fact="0.27"/>
                <dgm:constr type="rMarg"/>
              </dgm:constrLst>
              <dgm:ruleLst>
                <dgm:rule type="prim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h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vProcSp" moveWith="bgRect">
          <dgm:alg type="lin">
            <dgm:param type="linDir" val="fromT"/>
          </dgm:alg>
          <dgm:shape xmlns:r="http://schemas.openxmlformats.org/officeDocument/2006/relationships" r:blip="">
            <dgm:adjLst/>
          </dgm:shape>
          <dgm:presOf/>
          <dgm:constrLst>
            <dgm:constr type="w" for="ch" forName="vSp1" refType="w"/>
            <dgm:constr type="w" for="ch" forName="simulatedConn" refType="w"/>
            <dgm:constr type="w" for="ch" forName="vSp2" refType="w"/>
          </dgm:constrLst>
          <dgm:ruleLst/>
          <dgm:layoutNode name="vSp1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simulatedConn" styleLbl="solidFgAcc1">
            <dgm:alg type="sp"/>
            <dgm:choose name="Name15">
              <dgm:if name="Name16" func="var" arg="dir" op="equ" val="norm">
                <dgm:shape xmlns:r="http://schemas.openxmlformats.org/officeDocument/2006/relationships" rot="90" type="flowChartExtract" r:blip="">
                  <dgm:adjLst/>
                </dgm:shape>
              </dgm:if>
              <dgm:else name="Name17">
                <dgm:shape xmlns:r="http://schemas.openxmlformats.org/officeDocument/2006/relationships" rot="-90" type="flowChartExtract" r:blip="">
                  <dgm:adjLst/>
                </dgm:shape>
              </dgm:else>
            </dgm:choose>
            <dgm:presOf/>
            <dgm:constrLst/>
            <dgm:ruleLst/>
          </dgm:layoutNode>
          <dgm:layoutNode name="vSp2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layoutNode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3d1">
  <dgm:title val=""/>
  <dgm:desc val=""/>
  <dgm:catLst>
    <dgm:cat type="3D" pri="111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flat" dir="t"/>
    </dgm:scene3d>
    <dgm:sp3d z="1270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flat" dir="t"/>
    </dgm:scene3d>
    <dgm:sp3d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flat" dir="t"/>
    </dgm:scene3d>
    <dgm:sp3d z="-1905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flat" dir="t"/>
    </dgm:scene3d>
    <dgm:sp3d z="-80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flat" dir="t"/>
    </dgm:scene3d>
    <dgm:sp3d z="127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flat" dir="t"/>
    </dgm:scene3d>
    <dgm:sp3d z="-1905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flat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flat" dir="t"/>
    </dgm:scene3d>
    <dgm:sp3d z="-10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FollowNode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flat" dir="t"/>
    </dgm:scene3d>
    <dgm:sp3d z="-190500" extrusionH="127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z="190500"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58559F4-A850-4C91-849E-8CBED2E0B653}" type="datetimeFigureOut">
              <a:rPr lang="en-US" smtClean="0"/>
              <a:t>12/6/2025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05675AC-C862-4400-B994-86FDB021F8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43398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743056-6C6E-4BCB-A5F1-67651F23AC91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3825268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05675AC-C862-4400-B994-86FDB021F847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303413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12/6/2025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12/6/2025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3" Type="http://schemas.openxmlformats.org/officeDocument/2006/relationships/image" Target="../media/image2.png"/><Relationship Id="rId7" Type="http://schemas.openxmlformats.org/officeDocument/2006/relationships/image" Target="../media/image6.svg"/><Relationship Id="rId12" Type="http://schemas.openxmlformats.org/officeDocument/2006/relationships/image" Target="../media/image11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0.svg"/><Relationship Id="rId5" Type="http://schemas.openxmlformats.org/officeDocument/2006/relationships/image" Target="../media/image4.jpeg"/><Relationship Id="rId10" Type="http://schemas.openxmlformats.org/officeDocument/2006/relationships/image" Target="../media/image9.png"/><Relationship Id="rId4" Type="http://schemas.openxmlformats.org/officeDocument/2006/relationships/image" Target="../media/image3.svg"/><Relationship Id="rId9" Type="http://schemas.openxmlformats.org/officeDocument/2006/relationships/image" Target="../media/image8.svg"/><Relationship Id="rId14" Type="http://schemas.openxmlformats.org/officeDocument/2006/relationships/image" Target="../media/image13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12" Type="http://schemas.openxmlformats.org/officeDocument/2006/relationships/image" Target="../media/image1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11" Type="http://schemas.openxmlformats.org/officeDocument/2006/relationships/image" Target="../media/image17.png"/><Relationship Id="rId5" Type="http://schemas.openxmlformats.org/officeDocument/2006/relationships/diagramQuickStyle" Target="../diagrams/quickStyle1.xml"/><Relationship Id="rId10" Type="http://schemas.openxmlformats.org/officeDocument/2006/relationships/image" Target="../media/image16.png"/><Relationship Id="rId4" Type="http://schemas.openxmlformats.org/officeDocument/2006/relationships/diagramLayout" Target="../diagrams/layout1.xml"/><Relationship Id="rId9" Type="http://schemas.openxmlformats.org/officeDocument/2006/relationships/image" Target="../media/image15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8.sv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20.jpeg"/><Relationship Id="rId4" Type="http://schemas.openxmlformats.org/officeDocument/2006/relationships/image" Target="../media/image3.sv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13" Type="http://schemas.microsoft.com/office/2007/relationships/diagramDrawing" Target="../diagrams/drawing2.xml"/><Relationship Id="rId3" Type="http://schemas.openxmlformats.org/officeDocument/2006/relationships/image" Target="../media/image1.jpeg"/><Relationship Id="rId7" Type="http://schemas.openxmlformats.org/officeDocument/2006/relationships/image" Target="../media/image7.png"/><Relationship Id="rId12" Type="http://schemas.openxmlformats.org/officeDocument/2006/relationships/diagramColors" Target="../diagrams/colors2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0.jpeg"/><Relationship Id="rId11" Type="http://schemas.openxmlformats.org/officeDocument/2006/relationships/diagramQuickStyle" Target="../diagrams/quickStyle2.xml"/><Relationship Id="rId5" Type="http://schemas.openxmlformats.org/officeDocument/2006/relationships/image" Target="../media/image3.svg"/><Relationship Id="rId10" Type="http://schemas.openxmlformats.org/officeDocument/2006/relationships/diagramLayout" Target="../diagrams/layout2.xml"/><Relationship Id="rId4" Type="http://schemas.openxmlformats.org/officeDocument/2006/relationships/image" Target="../media/image2.png"/><Relationship Id="rId9" Type="http://schemas.openxmlformats.org/officeDocument/2006/relationships/diagramData" Target="../diagrams/data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image" Target="../media/image3.svg"/><Relationship Id="rId7" Type="http://schemas.openxmlformats.org/officeDocument/2006/relationships/image" Target="../media/image22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1.png"/><Relationship Id="rId5" Type="http://schemas.openxmlformats.org/officeDocument/2006/relationships/image" Target="../media/image8.svg"/><Relationship Id="rId10" Type="http://schemas.openxmlformats.org/officeDocument/2006/relationships/image" Target="../media/image25.jpeg"/><Relationship Id="rId4" Type="http://schemas.openxmlformats.org/officeDocument/2006/relationships/image" Target="../media/image7.png"/><Relationship Id="rId9" Type="http://schemas.openxmlformats.org/officeDocument/2006/relationships/image" Target="../media/image2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jpg"/><Relationship Id="rId3" Type="http://schemas.openxmlformats.org/officeDocument/2006/relationships/image" Target="../media/image32.svg"/><Relationship Id="rId7" Type="http://schemas.openxmlformats.org/officeDocument/2006/relationships/image" Target="../media/image34.jp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3.jpg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png"/><Relationship Id="rId13" Type="http://schemas.openxmlformats.org/officeDocument/2006/relationships/image" Target="../media/image43.png"/><Relationship Id="rId3" Type="http://schemas.openxmlformats.org/officeDocument/2006/relationships/image" Target="../media/image32.svg"/><Relationship Id="rId7" Type="http://schemas.openxmlformats.org/officeDocument/2006/relationships/image" Target="../media/image37.png"/><Relationship Id="rId12" Type="http://schemas.openxmlformats.org/officeDocument/2006/relationships/image" Target="../media/image4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6.png"/><Relationship Id="rId11" Type="http://schemas.openxmlformats.org/officeDocument/2006/relationships/image" Target="../media/image41.png"/><Relationship Id="rId5" Type="http://schemas.openxmlformats.org/officeDocument/2006/relationships/image" Target="../media/image8.svg"/><Relationship Id="rId10" Type="http://schemas.openxmlformats.org/officeDocument/2006/relationships/image" Target="../media/image40.png"/><Relationship Id="rId4" Type="http://schemas.openxmlformats.org/officeDocument/2006/relationships/image" Target="../media/image7.png"/><Relationship Id="rId9" Type="http://schemas.openxmlformats.org/officeDocument/2006/relationships/image" Target="../media/image39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6.png"/><Relationship Id="rId13" Type="http://schemas.openxmlformats.org/officeDocument/2006/relationships/image" Target="../media/image51.png"/><Relationship Id="rId3" Type="http://schemas.openxmlformats.org/officeDocument/2006/relationships/image" Target="../media/image32.svg"/><Relationship Id="rId7" Type="http://schemas.openxmlformats.org/officeDocument/2006/relationships/image" Target="../media/image45.png"/><Relationship Id="rId12" Type="http://schemas.openxmlformats.org/officeDocument/2006/relationships/image" Target="../media/image50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4.png"/><Relationship Id="rId11" Type="http://schemas.openxmlformats.org/officeDocument/2006/relationships/image" Target="../media/image49.png"/><Relationship Id="rId5" Type="http://schemas.openxmlformats.org/officeDocument/2006/relationships/image" Target="../media/image8.svg"/><Relationship Id="rId10" Type="http://schemas.openxmlformats.org/officeDocument/2006/relationships/image" Target="../media/image48.png"/><Relationship Id="rId4" Type="http://schemas.openxmlformats.org/officeDocument/2006/relationships/image" Target="../media/image7.png"/><Relationship Id="rId9" Type="http://schemas.openxmlformats.org/officeDocument/2006/relationships/image" Target="../media/image47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svg"/><Relationship Id="rId3" Type="http://schemas.openxmlformats.org/officeDocument/2006/relationships/image" Target="../media/image2.png"/><Relationship Id="rId7" Type="http://schemas.openxmlformats.org/officeDocument/2006/relationships/image" Target="../media/image21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4" Type="http://schemas.openxmlformats.org/officeDocument/2006/relationships/image" Target="../media/image3.sv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sv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2.png"/><Relationship Id="rId4" Type="http://schemas.openxmlformats.org/officeDocument/2006/relationships/image" Target="../media/image8.sv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3.png"/><Relationship Id="rId4" Type="http://schemas.openxmlformats.org/officeDocument/2006/relationships/image" Target="../media/image8.sv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4.jpeg"/><Relationship Id="rId4" Type="http://schemas.openxmlformats.org/officeDocument/2006/relationships/image" Target="../media/image8.sv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5.jpeg"/><Relationship Id="rId4" Type="http://schemas.openxmlformats.org/officeDocument/2006/relationships/image" Target="../media/image8.sv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8.png"/><Relationship Id="rId13" Type="http://schemas.openxmlformats.org/officeDocument/2006/relationships/image" Target="../media/image63.png"/><Relationship Id="rId3" Type="http://schemas.openxmlformats.org/officeDocument/2006/relationships/image" Target="../media/image32.svg"/><Relationship Id="rId7" Type="http://schemas.openxmlformats.org/officeDocument/2006/relationships/image" Target="../media/image57.png"/><Relationship Id="rId12" Type="http://schemas.openxmlformats.org/officeDocument/2006/relationships/image" Target="../media/image6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6.png"/><Relationship Id="rId11" Type="http://schemas.openxmlformats.org/officeDocument/2006/relationships/image" Target="../media/image61.png"/><Relationship Id="rId5" Type="http://schemas.openxmlformats.org/officeDocument/2006/relationships/image" Target="../media/image8.svg"/><Relationship Id="rId10" Type="http://schemas.openxmlformats.org/officeDocument/2006/relationships/image" Target="../media/image60.png"/><Relationship Id="rId4" Type="http://schemas.openxmlformats.org/officeDocument/2006/relationships/image" Target="../media/image7.png"/><Relationship Id="rId9" Type="http://schemas.openxmlformats.org/officeDocument/2006/relationships/image" Target="../media/image59.pn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6.png"/><Relationship Id="rId13" Type="http://schemas.openxmlformats.org/officeDocument/2006/relationships/image" Target="../media/image71.png"/><Relationship Id="rId3" Type="http://schemas.openxmlformats.org/officeDocument/2006/relationships/image" Target="../media/image32.svg"/><Relationship Id="rId7" Type="http://schemas.openxmlformats.org/officeDocument/2006/relationships/image" Target="../media/image65.png"/><Relationship Id="rId12" Type="http://schemas.openxmlformats.org/officeDocument/2006/relationships/image" Target="../media/image70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4.png"/><Relationship Id="rId11" Type="http://schemas.openxmlformats.org/officeDocument/2006/relationships/image" Target="../media/image69.png"/><Relationship Id="rId5" Type="http://schemas.openxmlformats.org/officeDocument/2006/relationships/image" Target="../media/image8.svg"/><Relationship Id="rId10" Type="http://schemas.openxmlformats.org/officeDocument/2006/relationships/image" Target="../media/image68.png"/><Relationship Id="rId4" Type="http://schemas.openxmlformats.org/officeDocument/2006/relationships/image" Target="../media/image7.png"/><Relationship Id="rId9" Type="http://schemas.openxmlformats.org/officeDocument/2006/relationships/image" Target="../media/image67.png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4.png"/><Relationship Id="rId3" Type="http://schemas.openxmlformats.org/officeDocument/2006/relationships/image" Target="../media/image32.svg"/><Relationship Id="rId7" Type="http://schemas.openxmlformats.org/officeDocument/2006/relationships/image" Target="../media/image73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2.png"/><Relationship Id="rId11" Type="http://schemas.openxmlformats.org/officeDocument/2006/relationships/image" Target="../media/image77.png"/><Relationship Id="rId5" Type="http://schemas.openxmlformats.org/officeDocument/2006/relationships/image" Target="../media/image8.svg"/><Relationship Id="rId10" Type="http://schemas.openxmlformats.org/officeDocument/2006/relationships/image" Target="../media/image76.png"/><Relationship Id="rId4" Type="http://schemas.openxmlformats.org/officeDocument/2006/relationships/image" Target="../media/image7.png"/><Relationship Id="rId9" Type="http://schemas.openxmlformats.org/officeDocument/2006/relationships/image" Target="../media/image75.png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80.png"/><Relationship Id="rId13" Type="http://schemas.openxmlformats.org/officeDocument/2006/relationships/image" Target="../media/image85.png"/><Relationship Id="rId3" Type="http://schemas.openxmlformats.org/officeDocument/2006/relationships/image" Target="../media/image32.svg"/><Relationship Id="rId7" Type="http://schemas.openxmlformats.org/officeDocument/2006/relationships/image" Target="../media/image79.png"/><Relationship Id="rId12" Type="http://schemas.openxmlformats.org/officeDocument/2006/relationships/image" Target="../media/image84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8.png"/><Relationship Id="rId11" Type="http://schemas.openxmlformats.org/officeDocument/2006/relationships/image" Target="../media/image83.png"/><Relationship Id="rId5" Type="http://schemas.openxmlformats.org/officeDocument/2006/relationships/image" Target="../media/image8.svg"/><Relationship Id="rId10" Type="http://schemas.openxmlformats.org/officeDocument/2006/relationships/image" Target="../media/image82.png"/><Relationship Id="rId4" Type="http://schemas.openxmlformats.org/officeDocument/2006/relationships/image" Target="../media/image7.png"/><Relationship Id="rId9" Type="http://schemas.openxmlformats.org/officeDocument/2006/relationships/image" Target="../media/image81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6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7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8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9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1.jpeg"/><Relationship Id="rId3" Type="http://schemas.openxmlformats.org/officeDocument/2006/relationships/image" Target="../media/image2.png"/><Relationship Id="rId7" Type="http://schemas.openxmlformats.org/officeDocument/2006/relationships/image" Target="../media/image90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4" Type="http://schemas.openxmlformats.org/officeDocument/2006/relationships/image" Target="../media/image3.svg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1.jpeg"/><Relationship Id="rId3" Type="http://schemas.openxmlformats.org/officeDocument/2006/relationships/image" Target="../media/image2.png"/><Relationship Id="rId7" Type="http://schemas.openxmlformats.org/officeDocument/2006/relationships/image" Target="../media/image90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4" Type="http://schemas.openxmlformats.org/officeDocument/2006/relationships/image" Target="../media/image3.svg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image" Target="../media/image91.jpeg"/><Relationship Id="rId3" Type="http://schemas.openxmlformats.org/officeDocument/2006/relationships/image" Target="../media/image2.png"/><Relationship Id="rId7" Type="http://schemas.openxmlformats.org/officeDocument/2006/relationships/image" Target="../media/image90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4" Type="http://schemas.openxmlformats.org/officeDocument/2006/relationships/image" Target="../media/image3.svg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image" Target="../media/image91.jpeg"/><Relationship Id="rId3" Type="http://schemas.openxmlformats.org/officeDocument/2006/relationships/image" Target="../media/image2.png"/><Relationship Id="rId7" Type="http://schemas.openxmlformats.org/officeDocument/2006/relationships/image" Target="../media/image90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4" Type="http://schemas.openxmlformats.org/officeDocument/2006/relationships/image" Target="../media/image3.svg"/></Relationships>
</file>

<file path=ppt/slides/_rels/slide36.xml.rels><?xml version="1.0" encoding="UTF-8" standalone="yes"?>
<Relationships xmlns="http://schemas.openxmlformats.org/package/2006/relationships"><Relationship Id="rId8" Type="http://schemas.openxmlformats.org/officeDocument/2006/relationships/image" Target="../media/image93.jpeg"/><Relationship Id="rId3" Type="http://schemas.openxmlformats.org/officeDocument/2006/relationships/image" Target="../media/image2.png"/><Relationship Id="rId7" Type="http://schemas.openxmlformats.org/officeDocument/2006/relationships/image" Target="../media/image9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10" Type="http://schemas.openxmlformats.org/officeDocument/2006/relationships/image" Target="../media/image95.png"/><Relationship Id="rId4" Type="http://schemas.openxmlformats.org/officeDocument/2006/relationships/image" Target="../media/image3.svg"/><Relationship Id="rId9" Type="http://schemas.openxmlformats.org/officeDocument/2006/relationships/image" Target="../media/image94.png"/></Relationships>
</file>

<file path=ppt/slides/_rels/slide37.xml.rels><?xml version="1.0" encoding="UTF-8" standalone="yes"?>
<Relationships xmlns="http://schemas.openxmlformats.org/package/2006/relationships"><Relationship Id="rId8" Type="http://schemas.openxmlformats.org/officeDocument/2006/relationships/image" Target="../media/image97.jpeg"/><Relationship Id="rId3" Type="http://schemas.openxmlformats.org/officeDocument/2006/relationships/image" Target="../media/image5.png"/><Relationship Id="rId7" Type="http://schemas.openxmlformats.org/officeDocument/2006/relationships/image" Target="../media/image96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svg"/><Relationship Id="rId11" Type="http://schemas.openxmlformats.org/officeDocument/2006/relationships/image" Target="../media/image13.png"/><Relationship Id="rId5" Type="http://schemas.openxmlformats.org/officeDocument/2006/relationships/image" Target="../media/image7.png"/><Relationship Id="rId10" Type="http://schemas.openxmlformats.org/officeDocument/2006/relationships/image" Target="../media/image12.png"/><Relationship Id="rId4" Type="http://schemas.openxmlformats.org/officeDocument/2006/relationships/image" Target="../media/image6.svg"/><Relationship Id="rId9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2813" t="-22813"/>
            </a:stretch>
          </a:blipFill>
        </p:spPr>
        <p:txBody>
          <a:bodyPr/>
          <a:lstStyle/>
          <a:p>
            <a:endParaRPr lang="en-US" dirty="0"/>
          </a:p>
        </p:txBody>
      </p:sp>
      <p:grpSp>
        <p:nvGrpSpPr>
          <p:cNvPr id="3" name="Group 3"/>
          <p:cNvGrpSpPr/>
          <p:nvPr/>
        </p:nvGrpSpPr>
        <p:grpSpPr>
          <a:xfrm>
            <a:off x="0" y="10032423"/>
            <a:ext cx="18288000" cy="254577"/>
            <a:chOff x="0" y="0"/>
            <a:chExt cx="4816593" cy="67049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4816592" cy="67049"/>
            </a:xfrm>
            <a:custGeom>
              <a:avLst/>
              <a:gdLst/>
              <a:ahLst/>
              <a:cxnLst/>
              <a:rect l="l" t="t" r="r" b="b"/>
              <a:pathLst>
                <a:path w="4816592" h="67049">
                  <a:moveTo>
                    <a:pt x="0" y="0"/>
                  </a:moveTo>
                  <a:lnTo>
                    <a:pt x="4816592" y="0"/>
                  </a:lnTo>
                  <a:lnTo>
                    <a:pt x="4816592" y="67049"/>
                  </a:lnTo>
                  <a:lnTo>
                    <a:pt x="0" y="67049"/>
                  </a:lnTo>
                  <a:close/>
                </a:path>
              </a:pathLst>
            </a:custGeom>
            <a:gradFill rotWithShape="1">
              <a:gsLst>
                <a:gs pos="0">
                  <a:srgbClr val="002264">
                    <a:alpha val="100000"/>
                  </a:srgbClr>
                </a:gs>
                <a:gs pos="100000">
                  <a:srgbClr val="2D56A5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US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4816593" cy="10514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-261789" y="4370904"/>
            <a:ext cx="523579" cy="2519006"/>
            <a:chOff x="0" y="0"/>
            <a:chExt cx="137897" cy="663442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37897" cy="663442"/>
            </a:xfrm>
            <a:custGeom>
              <a:avLst/>
              <a:gdLst/>
              <a:ahLst/>
              <a:cxnLst/>
              <a:rect l="l" t="t" r="r" b="b"/>
              <a:pathLst>
                <a:path w="137897" h="663442">
                  <a:moveTo>
                    <a:pt x="0" y="0"/>
                  </a:moveTo>
                  <a:lnTo>
                    <a:pt x="137897" y="0"/>
                  </a:lnTo>
                  <a:lnTo>
                    <a:pt x="137897" y="663442"/>
                  </a:lnTo>
                  <a:lnTo>
                    <a:pt x="0" y="663442"/>
                  </a:lnTo>
                  <a:close/>
                </a:path>
              </a:pathLst>
            </a:custGeom>
            <a:gradFill rotWithShape="1">
              <a:gsLst>
                <a:gs pos="0">
                  <a:srgbClr val="002264">
                    <a:alpha val="100000"/>
                  </a:srgbClr>
                </a:gs>
                <a:gs pos="100000">
                  <a:srgbClr val="2D56A5">
                    <a:alpha val="100000"/>
                  </a:srgbClr>
                </a:gs>
              </a:gsLst>
              <a:lin ang="5400000"/>
            </a:gradFill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137897" cy="70154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 rot="1816035">
            <a:off x="12743034" y="-1436112"/>
            <a:ext cx="4871721" cy="6290157"/>
            <a:chOff x="0" y="0"/>
            <a:chExt cx="1283087" cy="1656667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283087" cy="1656667"/>
            </a:xfrm>
            <a:custGeom>
              <a:avLst/>
              <a:gdLst/>
              <a:ahLst/>
              <a:cxnLst/>
              <a:rect l="l" t="t" r="r" b="b"/>
              <a:pathLst>
                <a:path w="1283087" h="1656667">
                  <a:moveTo>
                    <a:pt x="0" y="0"/>
                  </a:moveTo>
                  <a:lnTo>
                    <a:pt x="1283087" y="0"/>
                  </a:lnTo>
                  <a:lnTo>
                    <a:pt x="1283087" y="1656667"/>
                  </a:lnTo>
                  <a:lnTo>
                    <a:pt x="0" y="1656667"/>
                  </a:lnTo>
                  <a:close/>
                </a:path>
              </a:pathLst>
            </a:custGeom>
            <a:gradFill rotWithShape="1">
              <a:gsLst>
                <a:gs pos="0">
                  <a:srgbClr val="002264">
                    <a:alpha val="100000"/>
                  </a:srgbClr>
                </a:gs>
                <a:gs pos="100000">
                  <a:srgbClr val="2D56A5">
                    <a:alpha val="100000"/>
                  </a:srgbClr>
                </a:gs>
              </a:gsLst>
              <a:lin ang="5400000"/>
            </a:gradFill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38100"/>
              <a:ext cx="1283087" cy="169476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2" name="Freeform 12"/>
          <p:cNvSpPr/>
          <p:nvPr/>
        </p:nvSpPr>
        <p:spPr>
          <a:xfrm flipH="1">
            <a:off x="10245912" y="2476127"/>
            <a:ext cx="8042088" cy="9125773"/>
          </a:xfrm>
          <a:custGeom>
            <a:avLst/>
            <a:gdLst/>
            <a:ahLst/>
            <a:cxnLst/>
            <a:rect l="l" t="t" r="r" b="b"/>
            <a:pathLst>
              <a:path w="8042088" h="9125773">
                <a:moveTo>
                  <a:pt x="8042088" y="0"/>
                </a:moveTo>
                <a:lnTo>
                  <a:pt x="0" y="0"/>
                </a:lnTo>
                <a:lnTo>
                  <a:pt x="0" y="9125773"/>
                </a:lnTo>
                <a:lnTo>
                  <a:pt x="8042088" y="9125773"/>
                </a:lnTo>
                <a:lnTo>
                  <a:pt x="8042088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13" name="Group 13"/>
          <p:cNvGrpSpPr/>
          <p:nvPr/>
        </p:nvGrpSpPr>
        <p:grpSpPr>
          <a:xfrm>
            <a:off x="9017042" y="1605720"/>
            <a:ext cx="8242258" cy="7083191"/>
            <a:chOff x="0" y="0"/>
            <a:chExt cx="812800" cy="69850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12800" cy="698500"/>
            </a:xfrm>
            <a:custGeom>
              <a:avLst/>
              <a:gdLst/>
              <a:ahLst/>
              <a:cxnLst/>
              <a:rect l="l" t="t" r="r" b="b"/>
              <a:pathLst>
                <a:path w="812800" h="698500">
                  <a:moveTo>
                    <a:pt x="812800" y="349250"/>
                  </a:moveTo>
                  <a:lnTo>
                    <a:pt x="609600" y="698500"/>
                  </a:lnTo>
                  <a:lnTo>
                    <a:pt x="203200" y="698500"/>
                  </a:lnTo>
                  <a:lnTo>
                    <a:pt x="0" y="349250"/>
                  </a:lnTo>
                  <a:lnTo>
                    <a:pt x="203200" y="0"/>
                  </a:lnTo>
                  <a:lnTo>
                    <a:pt x="609600" y="0"/>
                  </a:lnTo>
                  <a:lnTo>
                    <a:pt x="812800" y="349250"/>
                  </a:lnTo>
                  <a:close/>
                </a:path>
              </a:pathLst>
            </a:custGeom>
            <a:gradFill rotWithShape="1">
              <a:gsLst>
                <a:gs pos="0">
                  <a:srgbClr val="002264">
                    <a:alpha val="100000"/>
                  </a:srgbClr>
                </a:gs>
                <a:gs pos="100000">
                  <a:srgbClr val="2D56A5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14300" y="-38100"/>
              <a:ext cx="584200" cy="7366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6" name="Group 16"/>
          <p:cNvGrpSpPr/>
          <p:nvPr/>
        </p:nvGrpSpPr>
        <p:grpSpPr>
          <a:xfrm rot="1816035">
            <a:off x="16380075" y="5036457"/>
            <a:ext cx="3815851" cy="7052004"/>
            <a:chOff x="0" y="0"/>
            <a:chExt cx="1004998" cy="1857318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1004998" cy="1857318"/>
            </a:xfrm>
            <a:custGeom>
              <a:avLst/>
              <a:gdLst/>
              <a:ahLst/>
              <a:cxnLst/>
              <a:rect l="l" t="t" r="r" b="b"/>
              <a:pathLst>
                <a:path w="1004998" h="1857318">
                  <a:moveTo>
                    <a:pt x="0" y="0"/>
                  </a:moveTo>
                  <a:lnTo>
                    <a:pt x="1004998" y="0"/>
                  </a:lnTo>
                  <a:lnTo>
                    <a:pt x="1004998" y="1857318"/>
                  </a:lnTo>
                  <a:lnTo>
                    <a:pt x="0" y="1857318"/>
                  </a:lnTo>
                  <a:close/>
                </a:path>
              </a:pathLst>
            </a:custGeom>
            <a:gradFill rotWithShape="1">
              <a:gsLst>
                <a:gs pos="0">
                  <a:srgbClr val="002264">
                    <a:alpha val="100000"/>
                  </a:srgbClr>
                </a:gs>
                <a:gs pos="100000">
                  <a:srgbClr val="2D56A5">
                    <a:alpha val="100000"/>
                  </a:srgbClr>
                </a:gs>
              </a:gsLst>
              <a:lin ang="5400000"/>
            </a:gradFill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0" y="-38100"/>
              <a:ext cx="1004998" cy="189541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14862930" y="-2633764"/>
            <a:ext cx="6129488" cy="5267529"/>
            <a:chOff x="0" y="0"/>
            <a:chExt cx="812800" cy="69850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698500"/>
            </a:xfrm>
            <a:custGeom>
              <a:avLst/>
              <a:gdLst/>
              <a:ahLst/>
              <a:cxnLst/>
              <a:rect l="l" t="t" r="r" b="b"/>
              <a:pathLst>
                <a:path w="812800" h="698500">
                  <a:moveTo>
                    <a:pt x="812800" y="349250"/>
                  </a:moveTo>
                  <a:lnTo>
                    <a:pt x="609600" y="698500"/>
                  </a:lnTo>
                  <a:lnTo>
                    <a:pt x="203200" y="698500"/>
                  </a:lnTo>
                  <a:lnTo>
                    <a:pt x="0" y="349250"/>
                  </a:lnTo>
                  <a:lnTo>
                    <a:pt x="203200" y="0"/>
                  </a:lnTo>
                  <a:lnTo>
                    <a:pt x="609600" y="0"/>
                  </a:lnTo>
                  <a:lnTo>
                    <a:pt x="812800" y="34925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0" cap="sq">
              <a:solidFill>
                <a:srgbClr val="FFFFFF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14300" y="-38100"/>
              <a:ext cx="584200" cy="7366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12629524" y="9078277"/>
            <a:ext cx="6794577" cy="5839090"/>
            <a:chOff x="0" y="0"/>
            <a:chExt cx="812800" cy="698500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12800" cy="698500"/>
            </a:xfrm>
            <a:custGeom>
              <a:avLst/>
              <a:gdLst/>
              <a:ahLst/>
              <a:cxnLst/>
              <a:rect l="l" t="t" r="r" b="b"/>
              <a:pathLst>
                <a:path w="812800" h="698500">
                  <a:moveTo>
                    <a:pt x="812800" y="349250"/>
                  </a:moveTo>
                  <a:lnTo>
                    <a:pt x="609600" y="698500"/>
                  </a:lnTo>
                  <a:lnTo>
                    <a:pt x="203200" y="698500"/>
                  </a:lnTo>
                  <a:lnTo>
                    <a:pt x="0" y="349250"/>
                  </a:lnTo>
                  <a:lnTo>
                    <a:pt x="203200" y="0"/>
                  </a:lnTo>
                  <a:lnTo>
                    <a:pt x="609600" y="0"/>
                  </a:lnTo>
                  <a:lnTo>
                    <a:pt x="812800" y="34925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0" cap="sq">
              <a:solidFill>
                <a:srgbClr val="FFFFFF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14300" y="-38100"/>
              <a:ext cx="584200" cy="7366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-1241082" y="-1398508"/>
            <a:ext cx="6786560" cy="3804892"/>
            <a:chOff x="-6321" y="-38100"/>
            <a:chExt cx="1418490" cy="795278"/>
          </a:xfrm>
        </p:grpSpPr>
        <p:sp>
          <p:nvSpPr>
            <p:cNvPr id="26" name="Freeform 26"/>
            <p:cNvSpPr/>
            <p:nvPr/>
          </p:nvSpPr>
          <p:spPr>
            <a:xfrm>
              <a:off x="-6321" y="58678"/>
              <a:ext cx="1418490" cy="698500"/>
            </a:xfrm>
            <a:custGeom>
              <a:avLst/>
              <a:gdLst/>
              <a:ahLst/>
              <a:cxnLst/>
              <a:rect l="l" t="t" r="r" b="b"/>
              <a:pathLst>
                <a:path w="1418490" h="698500">
                  <a:moveTo>
                    <a:pt x="1418490" y="349250"/>
                  </a:moveTo>
                  <a:lnTo>
                    <a:pt x="1215290" y="698500"/>
                  </a:lnTo>
                  <a:lnTo>
                    <a:pt x="203200" y="698500"/>
                  </a:lnTo>
                  <a:lnTo>
                    <a:pt x="0" y="349250"/>
                  </a:lnTo>
                  <a:lnTo>
                    <a:pt x="203200" y="0"/>
                  </a:lnTo>
                  <a:lnTo>
                    <a:pt x="1215290" y="0"/>
                  </a:lnTo>
                  <a:lnTo>
                    <a:pt x="1418490" y="349250"/>
                  </a:lnTo>
                  <a:close/>
                </a:path>
              </a:pathLst>
            </a:custGeom>
            <a:gradFill rotWithShape="1">
              <a:gsLst>
                <a:gs pos="0">
                  <a:srgbClr val="002264">
                    <a:alpha val="100000"/>
                  </a:srgbClr>
                </a:gs>
                <a:gs pos="100000">
                  <a:srgbClr val="2D56A5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114300" y="-38100"/>
              <a:ext cx="1189890" cy="7366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9296824" y="1842474"/>
            <a:ext cx="7682693" cy="6602315"/>
            <a:chOff x="0" y="0"/>
            <a:chExt cx="812800" cy="698500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812800" cy="698500"/>
            </a:xfrm>
            <a:custGeom>
              <a:avLst/>
              <a:gdLst/>
              <a:ahLst/>
              <a:cxnLst/>
              <a:rect l="l" t="t" r="r" b="b"/>
              <a:pathLst>
                <a:path w="812800" h="698500">
                  <a:moveTo>
                    <a:pt x="812800" y="349250"/>
                  </a:moveTo>
                  <a:lnTo>
                    <a:pt x="609600" y="698500"/>
                  </a:lnTo>
                  <a:lnTo>
                    <a:pt x="203200" y="698500"/>
                  </a:lnTo>
                  <a:lnTo>
                    <a:pt x="0" y="349250"/>
                  </a:lnTo>
                  <a:lnTo>
                    <a:pt x="203200" y="0"/>
                  </a:lnTo>
                  <a:lnTo>
                    <a:pt x="609600" y="0"/>
                  </a:lnTo>
                  <a:lnTo>
                    <a:pt x="812800" y="349250"/>
                  </a:lnTo>
                  <a:close/>
                </a:path>
              </a:pathLst>
            </a:custGeom>
            <a:blipFill>
              <a:blip r:embed="rId5"/>
              <a:stretch>
                <a:fillRect l="-14372" r="-14372"/>
              </a:stretch>
            </a:blipFill>
            <a:ln w="123825" cap="sq">
              <a:gradFill>
                <a:gsLst>
                  <a:gs pos="0">
                    <a:srgbClr val="00060D">
                      <a:alpha val="100000"/>
                    </a:srgbClr>
                  </a:gs>
                  <a:gs pos="100000">
                    <a:srgbClr val="092C71">
                      <a:alpha val="0"/>
                    </a:srgbClr>
                  </a:gs>
                </a:gsLst>
                <a:lin ang="0"/>
              </a:gra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30" name="Freeform 30"/>
          <p:cNvSpPr/>
          <p:nvPr/>
        </p:nvSpPr>
        <p:spPr>
          <a:xfrm rot="5400000">
            <a:off x="1066613" y="484448"/>
            <a:ext cx="663947" cy="739774"/>
          </a:xfrm>
          <a:custGeom>
            <a:avLst/>
            <a:gdLst/>
            <a:ahLst/>
            <a:cxnLst/>
            <a:rect l="l" t="t" r="r" b="b"/>
            <a:pathLst>
              <a:path w="663947" h="739774">
                <a:moveTo>
                  <a:pt x="0" y="0"/>
                </a:moveTo>
                <a:lnTo>
                  <a:pt x="663948" y="0"/>
                </a:lnTo>
                <a:lnTo>
                  <a:pt x="663948" y="739774"/>
                </a:lnTo>
                <a:lnTo>
                  <a:pt x="0" y="73977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1" name="Freeform 31"/>
          <p:cNvSpPr/>
          <p:nvPr/>
        </p:nvSpPr>
        <p:spPr>
          <a:xfrm>
            <a:off x="7672012" y="1260095"/>
            <a:ext cx="764904" cy="406407"/>
          </a:xfrm>
          <a:custGeom>
            <a:avLst/>
            <a:gdLst/>
            <a:ahLst/>
            <a:cxnLst/>
            <a:rect l="l" t="t" r="r" b="b"/>
            <a:pathLst>
              <a:path w="764904" h="406407">
                <a:moveTo>
                  <a:pt x="0" y="0"/>
                </a:moveTo>
                <a:lnTo>
                  <a:pt x="764904" y="0"/>
                </a:lnTo>
                <a:lnTo>
                  <a:pt x="764904" y="406407"/>
                </a:lnTo>
                <a:lnTo>
                  <a:pt x="0" y="406407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r="-111469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2" name="Freeform 32"/>
          <p:cNvSpPr/>
          <p:nvPr/>
        </p:nvSpPr>
        <p:spPr>
          <a:xfrm>
            <a:off x="16876848" y="8156052"/>
            <a:ext cx="764904" cy="406407"/>
          </a:xfrm>
          <a:custGeom>
            <a:avLst/>
            <a:gdLst/>
            <a:ahLst/>
            <a:cxnLst/>
            <a:rect l="l" t="t" r="r" b="b"/>
            <a:pathLst>
              <a:path w="764904" h="406407">
                <a:moveTo>
                  <a:pt x="0" y="0"/>
                </a:moveTo>
                <a:lnTo>
                  <a:pt x="764904" y="0"/>
                </a:lnTo>
                <a:lnTo>
                  <a:pt x="764904" y="406406"/>
                </a:lnTo>
                <a:lnTo>
                  <a:pt x="0" y="406406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r="-111469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3" name="TextBox 33"/>
          <p:cNvSpPr txBox="1"/>
          <p:nvPr/>
        </p:nvSpPr>
        <p:spPr>
          <a:xfrm>
            <a:off x="541573" y="2257052"/>
            <a:ext cx="8981688" cy="190167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7363"/>
              </a:lnSpc>
              <a:spcBef>
                <a:spcPct val="0"/>
              </a:spcBef>
            </a:pPr>
            <a:r>
              <a:rPr lang="en-US" sz="7200" b="1" dirty="0">
                <a:solidFill>
                  <a:srgbClr val="00060D"/>
                </a:solidFill>
                <a:latin typeface="Montaser Arabic Semi-Bold"/>
                <a:ea typeface="Montaser Arabic Semi-Bold"/>
                <a:cs typeface="Montaser Arabic Semi-Bold"/>
                <a:sym typeface="Montaser Arabic Semi-Bold"/>
              </a:rPr>
              <a:t>Superstore SALES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1038405" y="3969507"/>
            <a:ext cx="6999343" cy="42568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ct val="150000"/>
              </a:lnSpc>
              <a:spcBef>
                <a:spcPct val="0"/>
              </a:spcBef>
            </a:pPr>
            <a:r>
              <a:rPr lang="en-US" sz="12402" b="1" dirty="0">
                <a:solidFill>
                  <a:srgbClr val="10347A"/>
                </a:solidFill>
                <a:latin typeface="Montaser Arabic Semi-Bold"/>
                <a:ea typeface="Montaser Arabic Semi-Bold"/>
                <a:cs typeface="Montaser Arabic Semi-Bold"/>
                <a:sym typeface="Montaser Arabic Semi-Bold"/>
              </a:rPr>
              <a:t>Project </a:t>
            </a:r>
          </a:p>
          <a:p>
            <a:pPr>
              <a:lnSpc>
                <a:spcPct val="150000"/>
              </a:lnSpc>
              <a:spcBef>
                <a:spcPct val="0"/>
              </a:spcBef>
            </a:pPr>
            <a:r>
              <a:rPr lang="da-DK" sz="3200" b="1" dirty="0">
                <a:solidFill>
                  <a:schemeClr val="tx2"/>
                </a:solidFill>
              </a:rPr>
              <a:t>R3-Data Analyst Specialist CAI3_DAT1_G2</a:t>
            </a:r>
            <a:br>
              <a:rPr lang="da-DK" sz="3200" b="1" dirty="0">
                <a:solidFill>
                  <a:schemeClr val="tx2"/>
                </a:solidFill>
              </a:rPr>
            </a:br>
            <a:endParaRPr lang="en-US" sz="3200" b="1" dirty="0">
              <a:solidFill>
                <a:schemeClr val="tx2"/>
              </a:solidFill>
              <a:latin typeface="Montaser Arabic Semi-Bold"/>
              <a:ea typeface="Montaser Arabic Semi-Bold"/>
              <a:cs typeface="Montaser Arabic Semi-Bold"/>
              <a:sym typeface="Montaser Arabic Semi-Bold"/>
            </a:endParaRPr>
          </a:p>
        </p:txBody>
      </p:sp>
      <p:sp>
        <p:nvSpPr>
          <p:cNvPr id="36" name="TextBox 36"/>
          <p:cNvSpPr txBox="1"/>
          <p:nvPr/>
        </p:nvSpPr>
        <p:spPr>
          <a:xfrm>
            <a:off x="507973" y="8619608"/>
            <a:ext cx="3886815" cy="49244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en-US" sz="3200" dirty="0">
                <a:solidFill>
                  <a:schemeClr val="tx2"/>
                </a:solidFill>
              </a:rPr>
              <a:t>Under supervision of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4915515" y="8728822"/>
            <a:ext cx="3222243" cy="34945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2699"/>
              </a:lnSpc>
            </a:pPr>
            <a:r>
              <a:rPr lang="en-US" sz="2800" dirty="0">
                <a:solidFill>
                  <a:srgbClr val="10347A"/>
                </a:solidFill>
                <a:latin typeface="Roboto"/>
                <a:ea typeface="Roboto"/>
                <a:cs typeface="Roboto"/>
                <a:sym typeface="Roboto"/>
              </a:rPr>
              <a:t>Date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507973" y="9198137"/>
            <a:ext cx="3633255" cy="5539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r>
              <a:rPr lang="en-US" sz="3600" i="1" dirty="0">
                <a:solidFill>
                  <a:schemeClr val="tx2"/>
                </a:solidFill>
              </a:rPr>
              <a:t>ENG. Ahmed Samir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4803661" y="9216944"/>
            <a:ext cx="3633255" cy="4229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499"/>
              </a:lnSpc>
            </a:pPr>
            <a:r>
              <a:rPr lang="en-US" sz="2691" b="1" dirty="0">
                <a:solidFill>
                  <a:srgbClr val="10347A"/>
                </a:solidFill>
                <a:latin typeface="Roboto Bold"/>
                <a:ea typeface="Roboto Bold"/>
                <a:cs typeface="Roboto Bold"/>
                <a:sym typeface="Roboto Bold"/>
              </a:rPr>
              <a:t>December, 2025</a:t>
            </a:r>
          </a:p>
        </p:txBody>
      </p:sp>
      <p:pic>
        <p:nvPicPr>
          <p:cNvPr id="41" name="Picture 40">
            <a:extLst>
              <a:ext uri="{FF2B5EF4-FFF2-40B4-BE49-F238E27FC236}">
                <a16:creationId xmlns:a16="http://schemas.microsoft.com/office/drawing/2014/main" id="{E993CD24-C128-8DB3-CB3F-D82BF3A4A5D1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038155" y="0"/>
            <a:ext cx="3106501" cy="1398493"/>
          </a:xfrm>
          <a:prstGeom prst="rect">
            <a:avLst/>
          </a:prstGeom>
        </p:spPr>
      </p:pic>
      <p:pic>
        <p:nvPicPr>
          <p:cNvPr id="42" name="Picture 41">
            <a:extLst>
              <a:ext uri="{FF2B5EF4-FFF2-40B4-BE49-F238E27FC236}">
                <a16:creationId xmlns:a16="http://schemas.microsoft.com/office/drawing/2014/main" id="{FCAB4D81-5F9C-174C-EC21-EFBC675FB37E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686677" y="0"/>
            <a:ext cx="2696675" cy="1226372"/>
          </a:xfrm>
          <a:prstGeom prst="rect">
            <a:avLst/>
          </a:prstGeom>
        </p:spPr>
      </p:pic>
      <p:pic>
        <p:nvPicPr>
          <p:cNvPr id="43" name="Picture 42">
            <a:extLst>
              <a:ext uri="{FF2B5EF4-FFF2-40B4-BE49-F238E27FC236}">
                <a16:creationId xmlns:a16="http://schemas.microsoft.com/office/drawing/2014/main" id="{1976C6DD-92B1-2B2D-9DCA-D0455C98EA7C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317413" y="8529528"/>
            <a:ext cx="2124344" cy="137874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6AFBAF-E193-6339-7A76-2A2F9F6E47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" y="483190"/>
            <a:ext cx="15773400" cy="1369383"/>
          </a:xfrm>
        </p:spPr>
        <p:txBody>
          <a:bodyPr>
            <a:normAutofit/>
          </a:bodyPr>
          <a:lstStyle/>
          <a:p>
            <a:r>
              <a:rPr lang="en-US" sz="6000" b="1" u="sng" dirty="0">
                <a:solidFill>
                  <a:schemeClr val="tx2"/>
                </a:solidFill>
              </a:rPr>
              <a:t>Team members: 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C458B5A3-51D0-B1FB-A4D4-B5C99552135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089754259"/>
              </p:ext>
            </p:extLst>
          </p:nvPr>
        </p:nvGraphicFramePr>
        <p:xfrm>
          <a:off x="405963" y="3377840"/>
          <a:ext cx="15773400" cy="652700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12" name="Picture 11">
            <a:extLst>
              <a:ext uri="{FF2B5EF4-FFF2-40B4-BE49-F238E27FC236}">
                <a16:creationId xmlns:a16="http://schemas.microsoft.com/office/drawing/2014/main" id="{9D9E2407-031A-78F1-823F-CCEADBD02E57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870443" y="2282228"/>
            <a:ext cx="5415719" cy="3738461"/>
          </a:xfrm>
          <a:prstGeom prst="rect">
            <a:avLst/>
          </a:prstGeom>
          <a:ln>
            <a:noFill/>
            <a:prstDash val="solid"/>
            <a:extLst>
              <a:ext uri="{C807C97D-BFC1-408E-A445-0C87EB9F89A2}">
                <ask:lineSketchStyleProps xmlns:ask="http://schemas.microsoft.com/office/drawing/2018/sketchyshapes">
                  <ask:type>
                    <ask:lineSketchNone/>
                  </ask:type>
                </ask:lineSketchStyleProps>
              </a:ext>
            </a:extLst>
          </a:ln>
          <a:effectLst>
            <a:outerShdw blurRad="127000" dist="38100" dir="2700000" algn="ctr">
              <a:srgbClr val="000000">
                <a:alpha val="45000"/>
              </a:srgbClr>
            </a:outerShdw>
          </a:effectLst>
          <a:scene3d>
            <a:camera prst="perspectiveFront" fov="2700000">
              <a:rot lat="20376000" lon="1938000" rev="20112001"/>
            </a:camera>
            <a:lightRig rig="soft" dir="t">
              <a:rot lat="0" lon="0" rev="0"/>
            </a:lightRig>
          </a:scene3d>
          <a:sp3d prstMaterial="translucentPowder">
            <a:bevelT w="203200" h="50800" prst="softRound"/>
          </a:sp3d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7B0A8709-09F4-C0F5-F4F6-454BF1E252BA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2416126" y="1975115"/>
            <a:ext cx="5272824" cy="3738461"/>
          </a:xfrm>
          <a:prstGeom prst="rect">
            <a:avLst/>
          </a:prstGeom>
          <a:ln>
            <a:noFill/>
            <a:extLst>
              <a:ext uri="{C807C97D-BFC1-408E-A445-0C87EB9F89A2}">
                <ask:lineSketchStyleProps xmlns:ask="http://schemas.microsoft.com/office/drawing/2018/sketchyshapes">
                  <ask:type>
                    <ask:lineSketchNone/>
                  </ask:type>
                </ask:lineSketchStyleProps>
              </a:ext>
            </a:extLst>
          </a:ln>
          <a:effectLst>
            <a:outerShdw blurRad="127000" dist="38100" dir="2700000" algn="ctr">
              <a:srgbClr val="000000">
                <a:alpha val="45000"/>
              </a:srgbClr>
            </a:outerShdw>
          </a:effectLst>
          <a:scene3d>
            <a:camera prst="perspectiveFront" fov="2700000">
              <a:rot lat="20376000" lon="1938000" rev="20112001"/>
            </a:camera>
            <a:lightRig rig="soft" dir="t">
              <a:rot lat="0" lon="0" rev="0"/>
            </a:lightRig>
          </a:scene3d>
          <a:sp3d prstMaterial="translucentPowder">
            <a:bevelT w="203200" h="50800" prst="softRound"/>
          </a:sp3d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06DC4D72-6DD3-DA71-C7E7-3A0B01A17569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578303" y="6212366"/>
            <a:ext cx="5444298" cy="4074636"/>
          </a:xfrm>
          <a:prstGeom prst="rect">
            <a:avLst/>
          </a:prstGeom>
          <a:ln>
            <a:noFill/>
            <a:extLst>
              <a:ext uri="{C807C97D-BFC1-408E-A445-0C87EB9F89A2}">
                <ask:lineSketchStyleProps xmlns:ask="http://schemas.microsoft.com/office/drawing/2018/sketchyshapes">
                  <ask:type>
                    <ask:lineSketchNone/>
                  </ask:type>
                </ask:lineSketchStyleProps>
              </a:ext>
            </a:extLst>
          </a:ln>
          <a:effectLst>
            <a:outerShdw blurRad="127000" dist="38100" dir="2700000" algn="ctr">
              <a:srgbClr val="000000">
                <a:alpha val="45000"/>
              </a:srgbClr>
            </a:outerShdw>
          </a:effectLst>
          <a:scene3d>
            <a:camera prst="perspectiveFront" fov="2700000">
              <a:rot lat="20376000" lon="1938000" rev="20112001"/>
            </a:camera>
            <a:lightRig rig="soft" dir="t">
              <a:rot lat="0" lon="0" rev="0"/>
            </a:lightRig>
          </a:scene3d>
          <a:sp3d prstMaterial="translucentPowder">
            <a:bevelT w="203200" h="50800" prst="softRound"/>
          </a:sp3d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A8E704E4-B52F-2690-E8BD-224772C95094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 rot="1087286">
            <a:off x="11203082" y="3050919"/>
            <a:ext cx="1022339" cy="869466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22952152-FCC4-6599-4E77-F03A7DDF9FC5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 rot="880156">
            <a:off x="14249218" y="7053058"/>
            <a:ext cx="877004" cy="731459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3016CC7A-08ED-2C38-74BF-3E976929F4FC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 rot="940938">
            <a:off x="16654444" y="2662905"/>
            <a:ext cx="1080401" cy="8619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1827913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spd="med">
        <p15:prstTrans prst="fallOver"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5BB71D5-EAF3-631F-3F1B-A6D7F6C2F8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560AFAAC-EA6C-45A9-9E03-C9C9F0193B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8288000" cy="10287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A person reaching for a paper on a table full of paper and sticky notes">
            <a:extLst>
              <a:ext uri="{FF2B5EF4-FFF2-40B4-BE49-F238E27FC236}">
                <a16:creationId xmlns:a16="http://schemas.microsoft.com/office/drawing/2014/main" id="{4FED0615-BFAE-2268-A937-D0540BB113C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3934" r="14927"/>
          <a:stretch>
            <a:fillRect/>
          </a:stretch>
        </p:blipFill>
        <p:spPr>
          <a:xfrm>
            <a:off x="7324533" y="10"/>
            <a:ext cx="10963467" cy="10286990"/>
          </a:xfrm>
          <a:custGeom>
            <a:avLst/>
            <a:gdLst/>
            <a:ahLst/>
            <a:cxnLst/>
            <a:rect l="l" t="t" r="r" b="b"/>
            <a:pathLst>
              <a:path w="7308978" h="6858000">
                <a:moveTo>
                  <a:pt x="0" y="0"/>
                </a:moveTo>
                <a:lnTo>
                  <a:pt x="7308978" y="0"/>
                </a:lnTo>
                <a:lnTo>
                  <a:pt x="7308978" y="6858000"/>
                </a:lnTo>
                <a:lnTo>
                  <a:pt x="0" y="6858000"/>
                </a:lnTo>
                <a:lnTo>
                  <a:pt x="62983" y="6788730"/>
                </a:lnTo>
                <a:cubicBezTo>
                  <a:pt x="773509" y="5928900"/>
                  <a:pt x="1212978" y="4741056"/>
                  <a:pt x="1212978" y="3429000"/>
                </a:cubicBezTo>
                <a:cubicBezTo>
                  <a:pt x="1212978" y="2116944"/>
                  <a:pt x="773509" y="929100"/>
                  <a:pt x="62983" y="69271"/>
                </a:cubicBezTo>
                <a:close/>
              </a:path>
            </a:pathLst>
          </a:custGeom>
        </p:spPr>
      </p:pic>
      <p:sp useBgFill="1">
        <p:nvSpPr>
          <p:cNvPr id="17" name="Freeform: Shape 16">
            <a:extLst>
              <a:ext uri="{FF2B5EF4-FFF2-40B4-BE49-F238E27FC236}">
                <a16:creationId xmlns:a16="http://schemas.microsoft.com/office/drawing/2014/main" id="{83549E37-C86B-4401-90BD-D8BF83859F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1" cy="10287000"/>
          </a:xfrm>
          <a:custGeom>
            <a:avLst/>
            <a:gdLst>
              <a:gd name="connsiteX0" fmla="*/ 0 w 6096001"/>
              <a:gd name="connsiteY0" fmla="*/ 0 h 6858000"/>
              <a:gd name="connsiteX1" fmla="*/ 4883023 w 6096001"/>
              <a:gd name="connsiteY1" fmla="*/ 0 h 6858000"/>
              <a:gd name="connsiteX2" fmla="*/ 4946006 w 6096001"/>
              <a:gd name="connsiteY2" fmla="*/ 69271 h 6858000"/>
              <a:gd name="connsiteX3" fmla="*/ 6096001 w 6096001"/>
              <a:gd name="connsiteY3" fmla="*/ 3429000 h 6858000"/>
              <a:gd name="connsiteX4" fmla="*/ 4946006 w 6096001"/>
              <a:gd name="connsiteY4" fmla="*/ 6788730 h 6858000"/>
              <a:gd name="connsiteX5" fmla="*/ 4883023 w 6096001"/>
              <a:gd name="connsiteY5" fmla="*/ 6858000 h 6858000"/>
              <a:gd name="connsiteX6" fmla="*/ 0 w 609600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096001" h="6858000">
                <a:moveTo>
                  <a:pt x="0" y="0"/>
                </a:moveTo>
                <a:lnTo>
                  <a:pt x="4883023" y="0"/>
                </a:lnTo>
                <a:lnTo>
                  <a:pt x="4946006" y="69271"/>
                </a:lnTo>
                <a:cubicBezTo>
                  <a:pt x="5656532" y="929100"/>
                  <a:pt x="6096001" y="2116944"/>
                  <a:pt x="6096001" y="3429000"/>
                </a:cubicBezTo>
                <a:cubicBezTo>
                  <a:pt x="6096001" y="4741056"/>
                  <a:pt x="5656532" y="5928900"/>
                  <a:pt x="4946006" y="6788730"/>
                </a:cubicBezTo>
                <a:lnTo>
                  <a:pt x="4883023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rgbClr val="EFEFEF"/>
            </a:solidFill>
          </a:ln>
          <a:effectLst>
            <a:outerShdw blurRad="50800" dist="38100" algn="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4" name="Freeform: Shape 13">
            <a:extLst>
              <a:ext uri="{FF2B5EF4-FFF2-40B4-BE49-F238E27FC236}">
                <a16:creationId xmlns:a16="http://schemas.microsoft.com/office/drawing/2014/main" id="{8A17784E-76D8-4521-A77D-0D2EBB9230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30285" cy="10287000"/>
          </a:xfrm>
          <a:custGeom>
            <a:avLst/>
            <a:gdLst>
              <a:gd name="connsiteX0" fmla="*/ 0 w 6086857"/>
              <a:gd name="connsiteY0" fmla="*/ 0 h 6858000"/>
              <a:gd name="connsiteX1" fmla="*/ 4873879 w 6086857"/>
              <a:gd name="connsiteY1" fmla="*/ 0 h 6858000"/>
              <a:gd name="connsiteX2" fmla="*/ 4936862 w 6086857"/>
              <a:gd name="connsiteY2" fmla="*/ 69271 h 6858000"/>
              <a:gd name="connsiteX3" fmla="*/ 6086857 w 6086857"/>
              <a:gd name="connsiteY3" fmla="*/ 3429000 h 6858000"/>
              <a:gd name="connsiteX4" fmla="*/ 4936862 w 6086857"/>
              <a:gd name="connsiteY4" fmla="*/ 6788730 h 6858000"/>
              <a:gd name="connsiteX5" fmla="*/ 4873879 w 6086857"/>
              <a:gd name="connsiteY5" fmla="*/ 6858000 h 6858000"/>
              <a:gd name="connsiteX6" fmla="*/ 0 w 608685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086857" h="6858000">
                <a:moveTo>
                  <a:pt x="0" y="0"/>
                </a:moveTo>
                <a:lnTo>
                  <a:pt x="4873879" y="0"/>
                </a:lnTo>
                <a:lnTo>
                  <a:pt x="4936862" y="69271"/>
                </a:lnTo>
                <a:cubicBezTo>
                  <a:pt x="5647388" y="929100"/>
                  <a:pt x="6086857" y="2116944"/>
                  <a:pt x="6086857" y="3429000"/>
                </a:cubicBezTo>
                <a:cubicBezTo>
                  <a:pt x="6086857" y="4741056"/>
                  <a:pt x="5647388" y="5928900"/>
                  <a:pt x="4936862" y="6788730"/>
                </a:cubicBezTo>
                <a:lnTo>
                  <a:pt x="4873879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26CE41D-06E3-82CC-A10B-CC06840F3C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2356" y="1284732"/>
            <a:ext cx="7488936" cy="1865376"/>
          </a:xfrm>
        </p:spPr>
        <p:txBody>
          <a:bodyPr anchor="ctr">
            <a:normAutofit/>
          </a:bodyPr>
          <a:lstStyle/>
          <a:p>
            <a:r>
              <a:rPr lang="en-US" sz="5100" b="1" u="sng"/>
              <a:t>Table of content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0036C6B-F09C-4EAB-AE02-8D056EE748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686487"/>
            <a:ext cx="192024" cy="98085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FC8D5885-2804-4D3C-BE31-902E4D3279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56653" y="3293004"/>
            <a:ext cx="7475220" cy="27432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8B42D1-C463-03D1-D557-2ACB332373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2356" y="3784423"/>
            <a:ext cx="7598664" cy="5103545"/>
          </a:xfrm>
        </p:spPr>
        <p:txBody>
          <a:bodyPr anchor="t">
            <a:normAutofit/>
          </a:bodyPr>
          <a:lstStyle/>
          <a:p>
            <a:pPr marL="771525" indent="-771525">
              <a:lnSpc>
                <a:spcPct val="150000"/>
              </a:lnSpc>
              <a:buFont typeface="+mj-lt"/>
              <a:buAutoNum type="arabicPeriod"/>
            </a:pPr>
            <a:r>
              <a:rPr lang="en-US" sz="3000" dirty="0"/>
              <a:t>Project overview &amp; Executive summary </a:t>
            </a:r>
          </a:p>
          <a:p>
            <a:pPr marL="771525" indent="-771525">
              <a:lnSpc>
                <a:spcPct val="150000"/>
              </a:lnSpc>
              <a:buFont typeface="+mj-lt"/>
              <a:buAutoNum type="arabicPeriod"/>
            </a:pPr>
            <a:r>
              <a:rPr lang="en-US" sz="3000" dirty="0"/>
              <a:t>Data preparation and transformation</a:t>
            </a:r>
          </a:p>
          <a:p>
            <a:pPr marL="771525" indent="-771525">
              <a:lnSpc>
                <a:spcPct val="150000"/>
              </a:lnSpc>
              <a:buFont typeface="+mj-lt"/>
              <a:buAutoNum type="arabicPeriod"/>
            </a:pPr>
            <a:r>
              <a:rPr lang="en-US" sz="3000" dirty="0"/>
              <a:t>Project Analysis step</a:t>
            </a:r>
          </a:p>
          <a:p>
            <a:pPr marL="771525" indent="-771525">
              <a:lnSpc>
                <a:spcPct val="150000"/>
              </a:lnSpc>
              <a:buFont typeface="+mj-lt"/>
              <a:buAutoNum type="arabicPeriod"/>
            </a:pPr>
            <a:r>
              <a:rPr lang="en-US" sz="3000" dirty="0"/>
              <a:t>Visualization</a:t>
            </a:r>
          </a:p>
          <a:p>
            <a:pPr marL="771525" indent="-771525">
              <a:lnSpc>
                <a:spcPct val="150000"/>
              </a:lnSpc>
              <a:buFont typeface="+mj-lt"/>
              <a:buAutoNum type="arabicPeriod"/>
            </a:pPr>
            <a:r>
              <a:rPr lang="en-US" sz="3000" dirty="0"/>
              <a:t>Recommendation</a:t>
            </a:r>
          </a:p>
          <a:p>
            <a:pPr marL="771525" indent="-771525">
              <a:buFont typeface="+mj-lt"/>
              <a:buAutoNum type="arabicPeriod"/>
            </a:pPr>
            <a:endParaRPr lang="en-US" sz="3000" dirty="0"/>
          </a:p>
          <a:p>
            <a:pPr marL="771525" indent="-771525">
              <a:buFont typeface="+mj-lt"/>
              <a:buAutoNum type="arabicPeriod"/>
            </a:pPr>
            <a:endParaRPr lang="en-US" sz="3000" dirty="0"/>
          </a:p>
          <a:p>
            <a:pPr marL="771525" indent="-771525">
              <a:buFont typeface="+mj-lt"/>
              <a:buAutoNum type="arabicPeriod"/>
            </a:pPr>
            <a:endParaRPr lang="en-US" sz="3000" dirty="0"/>
          </a:p>
        </p:txBody>
      </p:sp>
    </p:spTree>
    <p:extLst>
      <p:ext uri="{BB962C8B-B14F-4D97-AF65-F5344CB8AC3E}">
        <p14:creationId xmlns:p14="http://schemas.microsoft.com/office/powerpoint/2010/main" val="36502560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FE54E0A-6671-86E3-D982-B290AE1F7B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BEA32C55-15FB-D492-6D0B-00117B9165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8288000" cy="10287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A person reaching for a paper on a table full of paper and sticky notes">
            <a:extLst>
              <a:ext uri="{FF2B5EF4-FFF2-40B4-BE49-F238E27FC236}">
                <a16:creationId xmlns:a16="http://schemas.microsoft.com/office/drawing/2014/main" id="{B907B659-18FA-10CF-4DD3-5E6A9A09B20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3934" r="14927"/>
          <a:stretch>
            <a:fillRect/>
          </a:stretch>
        </p:blipFill>
        <p:spPr>
          <a:xfrm>
            <a:off x="7324533" y="10"/>
            <a:ext cx="10963467" cy="10286990"/>
          </a:xfrm>
          <a:custGeom>
            <a:avLst/>
            <a:gdLst/>
            <a:ahLst/>
            <a:cxnLst/>
            <a:rect l="l" t="t" r="r" b="b"/>
            <a:pathLst>
              <a:path w="7308978" h="6858000">
                <a:moveTo>
                  <a:pt x="0" y="0"/>
                </a:moveTo>
                <a:lnTo>
                  <a:pt x="7308978" y="0"/>
                </a:lnTo>
                <a:lnTo>
                  <a:pt x="7308978" y="6858000"/>
                </a:lnTo>
                <a:lnTo>
                  <a:pt x="0" y="6858000"/>
                </a:lnTo>
                <a:lnTo>
                  <a:pt x="62983" y="6788730"/>
                </a:lnTo>
                <a:cubicBezTo>
                  <a:pt x="773509" y="5928900"/>
                  <a:pt x="1212978" y="4741056"/>
                  <a:pt x="1212978" y="3429000"/>
                </a:cubicBezTo>
                <a:cubicBezTo>
                  <a:pt x="1212978" y="2116944"/>
                  <a:pt x="773509" y="929100"/>
                  <a:pt x="62983" y="69271"/>
                </a:cubicBezTo>
                <a:close/>
              </a:path>
            </a:pathLst>
          </a:custGeom>
        </p:spPr>
      </p:pic>
      <p:sp useBgFill="1">
        <p:nvSpPr>
          <p:cNvPr id="17" name="Freeform: Shape 16">
            <a:extLst>
              <a:ext uri="{FF2B5EF4-FFF2-40B4-BE49-F238E27FC236}">
                <a16:creationId xmlns:a16="http://schemas.microsoft.com/office/drawing/2014/main" id="{2FE0D731-1A2D-42E0-D3D4-D16133054A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1" cy="10287000"/>
          </a:xfrm>
          <a:custGeom>
            <a:avLst/>
            <a:gdLst>
              <a:gd name="connsiteX0" fmla="*/ 0 w 6096001"/>
              <a:gd name="connsiteY0" fmla="*/ 0 h 6858000"/>
              <a:gd name="connsiteX1" fmla="*/ 4883023 w 6096001"/>
              <a:gd name="connsiteY1" fmla="*/ 0 h 6858000"/>
              <a:gd name="connsiteX2" fmla="*/ 4946006 w 6096001"/>
              <a:gd name="connsiteY2" fmla="*/ 69271 h 6858000"/>
              <a:gd name="connsiteX3" fmla="*/ 6096001 w 6096001"/>
              <a:gd name="connsiteY3" fmla="*/ 3429000 h 6858000"/>
              <a:gd name="connsiteX4" fmla="*/ 4946006 w 6096001"/>
              <a:gd name="connsiteY4" fmla="*/ 6788730 h 6858000"/>
              <a:gd name="connsiteX5" fmla="*/ 4883023 w 6096001"/>
              <a:gd name="connsiteY5" fmla="*/ 6858000 h 6858000"/>
              <a:gd name="connsiteX6" fmla="*/ 0 w 609600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096001" h="6858000">
                <a:moveTo>
                  <a:pt x="0" y="0"/>
                </a:moveTo>
                <a:lnTo>
                  <a:pt x="4883023" y="0"/>
                </a:lnTo>
                <a:lnTo>
                  <a:pt x="4946006" y="69271"/>
                </a:lnTo>
                <a:cubicBezTo>
                  <a:pt x="5656532" y="929100"/>
                  <a:pt x="6096001" y="2116944"/>
                  <a:pt x="6096001" y="3429000"/>
                </a:cubicBezTo>
                <a:cubicBezTo>
                  <a:pt x="6096001" y="4741056"/>
                  <a:pt x="5656532" y="5928900"/>
                  <a:pt x="4946006" y="6788730"/>
                </a:cubicBezTo>
                <a:lnTo>
                  <a:pt x="4883023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rgbClr val="EFEFEF"/>
            </a:solidFill>
          </a:ln>
          <a:effectLst>
            <a:outerShdw blurRad="50800" dist="38100" algn="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4" name="Freeform: Shape 13">
            <a:extLst>
              <a:ext uri="{FF2B5EF4-FFF2-40B4-BE49-F238E27FC236}">
                <a16:creationId xmlns:a16="http://schemas.microsoft.com/office/drawing/2014/main" id="{7DFD997A-8283-0846-26FC-CFA9BA885C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30285" cy="10287000"/>
          </a:xfrm>
          <a:custGeom>
            <a:avLst/>
            <a:gdLst>
              <a:gd name="connsiteX0" fmla="*/ 0 w 6086857"/>
              <a:gd name="connsiteY0" fmla="*/ 0 h 6858000"/>
              <a:gd name="connsiteX1" fmla="*/ 4873879 w 6086857"/>
              <a:gd name="connsiteY1" fmla="*/ 0 h 6858000"/>
              <a:gd name="connsiteX2" fmla="*/ 4936862 w 6086857"/>
              <a:gd name="connsiteY2" fmla="*/ 69271 h 6858000"/>
              <a:gd name="connsiteX3" fmla="*/ 6086857 w 6086857"/>
              <a:gd name="connsiteY3" fmla="*/ 3429000 h 6858000"/>
              <a:gd name="connsiteX4" fmla="*/ 4936862 w 6086857"/>
              <a:gd name="connsiteY4" fmla="*/ 6788730 h 6858000"/>
              <a:gd name="connsiteX5" fmla="*/ 4873879 w 6086857"/>
              <a:gd name="connsiteY5" fmla="*/ 6858000 h 6858000"/>
              <a:gd name="connsiteX6" fmla="*/ 0 w 608685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086857" h="6858000">
                <a:moveTo>
                  <a:pt x="0" y="0"/>
                </a:moveTo>
                <a:lnTo>
                  <a:pt x="4873879" y="0"/>
                </a:lnTo>
                <a:lnTo>
                  <a:pt x="4936862" y="69271"/>
                </a:lnTo>
                <a:cubicBezTo>
                  <a:pt x="5647388" y="929100"/>
                  <a:pt x="6086857" y="2116944"/>
                  <a:pt x="6086857" y="3429000"/>
                </a:cubicBezTo>
                <a:cubicBezTo>
                  <a:pt x="6086857" y="4741056"/>
                  <a:pt x="5647388" y="5928900"/>
                  <a:pt x="4936862" y="6788730"/>
                </a:cubicBezTo>
                <a:lnTo>
                  <a:pt x="4873879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C973AE4-ED19-FAEF-7B72-B9749E3167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2356" y="1284732"/>
            <a:ext cx="7488936" cy="1865376"/>
          </a:xfrm>
        </p:spPr>
        <p:txBody>
          <a:bodyPr anchor="ctr">
            <a:normAutofit/>
          </a:bodyPr>
          <a:lstStyle/>
          <a:p>
            <a:r>
              <a:rPr lang="en-US" sz="5100" b="1" u="sng" dirty="0"/>
              <a:t>Table of content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E90EA10-BC62-78FB-0C45-06A5B190BC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686487"/>
            <a:ext cx="192024" cy="98085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A9EDCE8-3204-CA52-23BC-39756BF2C4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56653" y="3293004"/>
            <a:ext cx="7475220" cy="27432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ECAD5A-2A83-9C68-C43A-5583641B2E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2356" y="3784423"/>
            <a:ext cx="7598664" cy="5103545"/>
          </a:xfrm>
        </p:spPr>
        <p:txBody>
          <a:bodyPr anchor="t">
            <a:normAutofit/>
          </a:bodyPr>
          <a:lstStyle/>
          <a:p>
            <a:pPr marL="771525" indent="-771525">
              <a:buFont typeface="+mj-lt"/>
              <a:buAutoNum type="arabicPeriod"/>
            </a:pPr>
            <a:r>
              <a:rPr lang="en-US" sz="3000" b="1" dirty="0"/>
              <a:t>Project overview &amp; Executive summary </a:t>
            </a:r>
          </a:p>
          <a:p>
            <a:pPr marL="0" indent="0">
              <a:buNone/>
            </a:pPr>
            <a:endParaRPr lang="en-US" sz="3000" dirty="0"/>
          </a:p>
          <a:p>
            <a:pPr marL="771525" indent="-771525">
              <a:buFont typeface="+mj-lt"/>
              <a:buAutoNum type="arabicPeriod"/>
            </a:pPr>
            <a:endParaRPr lang="en-US" sz="3000" dirty="0"/>
          </a:p>
          <a:p>
            <a:pPr marL="771525" indent="-771525">
              <a:buFont typeface="+mj-lt"/>
              <a:buAutoNum type="arabicPeriod"/>
            </a:pPr>
            <a:endParaRPr lang="en-US" sz="3000" dirty="0"/>
          </a:p>
        </p:txBody>
      </p:sp>
    </p:spTree>
    <p:extLst>
      <p:ext uri="{BB962C8B-B14F-4D97-AF65-F5344CB8AC3E}">
        <p14:creationId xmlns:p14="http://schemas.microsoft.com/office/powerpoint/2010/main" val="275578915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53A5D0-5666-6C3B-6A33-6F42796EBA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3BFA25A3-32CB-2F21-FF34-93EAF6E55EAC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2813" t="-22813"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8D5F25C5-CDCD-0267-78EF-5710118A180E}"/>
              </a:ext>
            </a:extLst>
          </p:cNvPr>
          <p:cNvGrpSpPr/>
          <p:nvPr/>
        </p:nvGrpSpPr>
        <p:grpSpPr>
          <a:xfrm>
            <a:off x="0" y="10032423"/>
            <a:ext cx="18288000" cy="254577"/>
            <a:chOff x="0" y="0"/>
            <a:chExt cx="4816593" cy="67049"/>
          </a:xfrm>
        </p:grpSpPr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484AF3AE-3E82-DFE9-7B80-C404D1B42AD2}"/>
                </a:ext>
              </a:extLst>
            </p:cNvPr>
            <p:cNvSpPr/>
            <p:nvPr/>
          </p:nvSpPr>
          <p:spPr>
            <a:xfrm>
              <a:off x="0" y="0"/>
              <a:ext cx="4816592" cy="67049"/>
            </a:xfrm>
            <a:custGeom>
              <a:avLst/>
              <a:gdLst/>
              <a:ahLst/>
              <a:cxnLst/>
              <a:rect l="l" t="t" r="r" b="b"/>
              <a:pathLst>
                <a:path w="4816592" h="67049">
                  <a:moveTo>
                    <a:pt x="0" y="0"/>
                  </a:moveTo>
                  <a:lnTo>
                    <a:pt x="4816592" y="0"/>
                  </a:lnTo>
                  <a:lnTo>
                    <a:pt x="4816592" y="67049"/>
                  </a:lnTo>
                  <a:lnTo>
                    <a:pt x="0" y="67049"/>
                  </a:lnTo>
                  <a:close/>
                </a:path>
              </a:pathLst>
            </a:custGeom>
            <a:gradFill rotWithShape="1">
              <a:gsLst>
                <a:gs pos="0">
                  <a:srgbClr val="002264">
                    <a:alpha val="100000"/>
                  </a:srgbClr>
                </a:gs>
                <a:gs pos="100000">
                  <a:srgbClr val="2D56A5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US"/>
            </a:p>
          </p:txBody>
        </p:sp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5DD1E5DB-AD93-E476-0A06-B5616B7E5ECC}"/>
                </a:ext>
              </a:extLst>
            </p:cNvPr>
            <p:cNvSpPr txBox="1"/>
            <p:nvPr/>
          </p:nvSpPr>
          <p:spPr>
            <a:xfrm>
              <a:off x="0" y="-38100"/>
              <a:ext cx="4816593" cy="10514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6" name="Group 6">
            <a:extLst>
              <a:ext uri="{FF2B5EF4-FFF2-40B4-BE49-F238E27FC236}">
                <a16:creationId xmlns:a16="http://schemas.microsoft.com/office/drawing/2014/main" id="{03C56732-4A01-77E7-A34C-E0413F99D632}"/>
              </a:ext>
            </a:extLst>
          </p:cNvPr>
          <p:cNvGrpSpPr/>
          <p:nvPr/>
        </p:nvGrpSpPr>
        <p:grpSpPr>
          <a:xfrm rot="1816035">
            <a:off x="-666771" y="7129837"/>
            <a:ext cx="4871721" cy="4116685"/>
            <a:chOff x="0" y="0"/>
            <a:chExt cx="1283087" cy="1084230"/>
          </a:xfrm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C13072B7-4195-C774-9112-C70747F9CC39}"/>
                </a:ext>
              </a:extLst>
            </p:cNvPr>
            <p:cNvSpPr/>
            <p:nvPr/>
          </p:nvSpPr>
          <p:spPr>
            <a:xfrm>
              <a:off x="0" y="0"/>
              <a:ext cx="1283087" cy="1084230"/>
            </a:xfrm>
            <a:custGeom>
              <a:avLst/>
              <a:gdLst/>
              <a:ahLst/>
              <a:cxnLst/>
              <a:rect l="l" t="t" r="r" b="b"/>
              <a:pathLst>
                <a:path w="1283087" h="1084230">
                  <a:moveTo>
                    <a:pt x="0" y="0"/>
                  </a:moveTo>
                  <a:lnTo>
                    <a:pt x="1283087" y="0"/>
                  </a:lnTo>
                  <a:lnTo>
                    <a:pt x="1283087" y="1084230"/>
                  </a:lnTo>
                  <a:lnTo>
                    <a:pt x="0" y="1084230"/>
                  </a:lnTo>
                  <a:close/>
                </a:path>
              </a:pathLst>
            </a:custGeom>
            <a:gradFill rotWithShape="1">
              <a:gsLst>
                <a:gs pos="0">
                  <a:srgbClr val="002264">
                    <a:alpha val="100000"/>
                  </a:srgbClr>
                </a:gs>
                <a:gs pos="100000">
                  <a:srgbClr val="2D56A5">
                    <a:alpha val="100000"/>
                  </a:srgbClr>
                </a:gs>
              </a:gsLst>
              <a:lin ang="5400000"/>
            </a:gradFill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TextBox 8">
              <a:extLst>
                <a:ext uri="{FF2B5EF4-FFF2-40B4-BE49-F238E27FC236}">
                  <a16:creationId xmlns:a16="http://schemas.microsoft.com/office/drawing/2014/main" id="{2482EC2E-3901-8CB4-7864-330159F6E7A4}"/>
                </a:ext>
              </a:extLst>
            </p:cNvPr>
            <p:cNvSpPr txBox="1"/>
            <p:nvPr/>
          </p:nvSpPr>
          <p:spPr>
            <a:xfrm>
              <a:off x="0" y="-38100"/>
              <a:ext cx="1283087" cy="112233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9" name="Freeform 9">
            <a:extLst>
              <a:ext uri="{FF2B5EF4-FFF2-40B4-BE49-F238E27FC236}">
                <a16:creationId xmlns:a16="http://schemas.microsoft.com/office/drawing/2014/main" id="{9AC9D511-0782-6C39-3927-B3DCC5901566}"/>
              </a:ext>
            </a:extLst>
          </p:cNvPr>
          <p:cNvSpPr/>
          <p:nvPr/>
        </p:nvSpPr>
        <p:spPr>
          <a:xfrm flipV="1">
            <a:off x="0" y="-1389286"/>
            <a:ext cx="8042088" cy="9125773"/>
          </a:xfrm>
          <a:custGeom>
            <a:avLst/>
            <a:gdLst/>
            <a:ahLst/>
            <a:cxnLst/>
            <a:rect l="l" t="t" r="r" b="b"/>
            <a:pathLst>
              <a:path w="8042088" h="9125773">
                <a:moveTo>
                  <a:pt x="0" y="9125773"/>
                </a:moveTo>
                <a:lnTo>
                  <a:pt x="8042088" y="9125773"/>
                </a:lnTo>
                <a:lnTo>
                  <a:pt x="8042088" y="0"/>
                </a:lnTo>
                <a:lnTo>
                  <a:pt x="0" y="0"/>
                </a:lnTo>
                <a:lnTo>
                  <a:pt x="0" y="9125773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10" name="Group 10">
            <a:extLst>
              <a:ext uri="{FF2B5EF4-FFF2-40B4-BE49-F238E27FC236}">
                <a16:creationId xmlns:a16="http://schemas.microsoft.com/office/drawing/2014/main" id="{4B96ED24-BD5C-3952-067A-1A75FCAAEC68}"/>
              </a:ext>
            </a:extLst>
          </p:cNvPr>
          <p:cNvGrpSpPr/>
          <p:nvPr/>
        </p:nvGrpSpPr>
        <p:grpSpPr>
          <a:xfrm>
            <a:off x="-2773533" y="-3616822"/>
            <a:ext cx="6794577" cy="5839090"/>
            <a:chOff x="0" y="0"/>
            <a:chExt cx="812800" cy="698500"/>
          </a:xfrm>
        </p:grpSpPr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9324403F-C984-3879-1806-F64612CF63BD}"/>
                </a:ext>
              </a:extLst>
            </p:cNvPr>
            <p:cNvSpPr/>
            <p:nvPr/>
          </p:nvSpPr>
          <p:spPr>
            <a:xfrm>
              <a:off x="0" y="0"/>
              <a:ext cx="812800" cy="698500"/>
            </a:xfrm>
            <a:custGeom>
              <a:avLst/>
              <a:gdLst/>
              <a:ahLst/>
              <a:cxnLst/>
              <a:rect l="l" t="t" r="r" b="b"/>
              <a:pathLst>
                <a:path w="812800" h="698500">
                  <a:moveTo>
                    <a:pt x="812800" y="349250"/>
                  </a:moveTo>
                  <a:lnTo>
                    <a:pt x="609600" y="698500"/>
                  </a:lnTo>
                  <a:lnTo>
                    <a:pt x="203200" y="698500"/>
                  </a:lnTo>
                  <a:lnTo>
                    <a:pt x="0" y="349250"/>
                  </a:lnTo>
                  <a:lnTo>
                    <a:pt x="203200" y="0"/>
                  </a:lnTo>
                  <a:lnTo>
                    <a:pt x="609600" y="0"/>
                  </a:lnTo>
                  <a:lnTo>
                    <a:pt x="812800" y="34925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0" cap="sq">
              <a:solidFill>
                <a:srgbClr val="FFFFFF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TextBox 12">
              <a:extLst>
                <a:ext uri="{FF2B5EF4-FFF2-40B4-BE49-F238E27FC236}">
                  <a16:creationId xmlns:a16="http://schemas.microsoft.com/office/drawing/2014/main" id="{66C7E549-4B45-DB87-84E6-7C0E6B545625}"/>
                </a:ext>
              </a:extLst>
            </p:cNvPr>
            <p:cNvSpPr txBox="1"/>
            <p:nvPr/>
          </p:nvSpPr>
          <p:spPr>
            <a:xfrm>
              <a:off x="114300" y="-38100"/>
              <a:ext cx="584200" cy="7366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3" name="Group 13">
            <a:extLst>
              <a:ext uri="{FF2B5EF4-FFF2-40B4-BE49-F238E27FC236}">
                <a16:creationId xmlns:a16="http://schemas.microsoft.com/office/drawing/2014/main" id="{06F562AB-ABD5-38C3-61A7-9EA882A6DAAB}"/>
              </a:ext>
            </a:extLst>
          </p:cNvPr>
          <p:cNvGrpSpPr/>
          <p:nvPr/>
        </p:nvGrpSpPr>
        <p:grpSpPr>
          <a:xfrm>
            <a:off x="-2339092" y="1479339"/>
            <a:ext cx="9284966" cy="7335953"/>
            <a:chOff x="0" y="0"/>
            <a:chExt cx="884077" cy="698500"/>
          </a:xfrm>
        </p:grpSpPr>
        <p:sp>
          <p:nvSpPr>
            <p:cNvPr id="14" name="Freeform 14">
              <a:extLst>
                <a:ext uri="{FF2B5EF4-FFF2-40B4-BE49-F238E27FC236}">
                  <a16:creationId xmlns:a16="http://schemas.microsoft.com/office/drawing/2014/main" id="{89F046B1-ADA3-AD73-C596-4BB05E471429}"/>
                </a:ext>
              </a:extLst>
            </p:cNvPr>
            <p:cNvSpPr/>
            <p:nvPr/>
          </p:nvSpPr>
          <p:spPr>
            <a:xfrm>
              <a:off x="0" y="0"/>
              <a:ext cx="884077" cy="698500"/>
            </a:xfrm>
            <a:custGeom>
              <a:avLst/>
              <a:gdLst/>
              <a:ahLst/>
              <a:cxnLst/>
              <a:rect l="l" t="t" r="r" b="b"/>
              <a:pathLst>
                <a:path w="884077" h="698500">
                  <a:moveTo>
                    <a:pt x="884077" y="349250"/>
                  </a:moveTo>
                  <a:lnTo>
                    <a:pt x="680877" y="698500"/>
                  </a:lnTo>
                  <a:lnTo>
                    <a:pt x="203200" y="698500"/>
                  </a:lnTo>
                  <a:lnTo>
                    <a:pt x="0" y="349250"/>
                  </a:lnTo>
                  <a:lnTo>
                    <a:pt x="203200" y="0"/>
                  </a:lnTo>
                  <a:lnTo>
                    <a:pt x="680877" y="0"/>
                  </a:lnTo>
                  <a:lnTo>
                    <a:pt x="884077" y="349250"/>
                  </a:lnTo>
                  <a:close/>
                </a:path>
              </a:pathLst>
            </a:custGeom>
            <a:gradFill rotWithShape="1">
              <a:gsLst>
                <a:gs pos="0">
                  <a:srgbClr val="002264">
                    <a:alpha val="100000"/>
                  </a:srgbClr>
                </a:gs>
                <a:gs pos="100000">
                  <a:srgbClr val="2D56A5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TextBox 15">
              <a:extLst>
                <a:ext uri="{FF2B5EF4-FFF2-40B4-BE49-F238E27FC236}">
                  <a16:creationId xmlns:a16="http://schemas.microsoft.com/office/drawing/2014/main" id="{C727E82F-78AF-4A57-1611-D371E4939E74}"/>
                </a:ext>
              </a:extLst>
            </p:cNvPr>
            <p:cNvSpPr txBox="1"/>
            <p:nvPr/>
          </p:nvSpPr>
          <p:spPr>
            <a:xfrm>
              <a:off x="114300" y="-38100"/>
              <a:ext cx="655477" cy="7366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6" name="Group 16">
            <a:extLst>
              <a:ext uri="{FF2B5EF4-FFF2-40B4-BE49-F238E27FC236}">
                <a16:creationId xmlns:a16="http://schemas.microsoft.com/office/drawing/2014/main" id="{BC1B6535-E189-8255-832C-FBAA6372CFA0}"/>
              </a:ext>
            </a:extLst>
          </p:cNvPr>
          <p:cNvGrpSpPr/>
          <p:nvPr/>
        </p:nvGrpSpPr>
        <p:grpSpPr>
          <a:xfrm>
            <a:off x="-2023915" y="1724542"/>
            <a:ext cx="8654612" cy="6837917"/>
            <a:chOff x="0" y="0"/>
            <a:chExt cx="884077" cy="698500"/>
          </a:xfrm>
        </p:grpSpPr>
        <p:sp>
          <p:nvSpPr>
            <p:cNvPr id="17" name="Freeform 17">
              <a:extLst>
                <a:ext uri="{FF2B5EF4-FFF2-40B4-BE49-F238E27FC236}">
                  <a16:creationId xmlns:a16="http://schemas.microsoft.com/office/drawing/2014/main" id="{96D136EA-62EF-0B4B-D863-BF55A4F6638E}"/>
                </a:ext>
              </a:extLst>
            </p:cNvPr>
            <p:cNvSpPr/>
            <p:nvPr/>
          </p:nvSpPr>
          <p:spPr>
            <a:xfrm>
              <a:off x="0" y="0"/>
              <a:ext cx="884077" cy="698500"/>
            </a:xfrm>
            <a:custGeom>
              <a:avLst/>
              <a:gdLst/>
              <a:ahLst/>
              <a:cxnLst/>
              <a:rect l="l" t="t" r="r" b="b"/>
              <a:pathLst>
                <a:path w="884077" h="698500">
                  <a:moveTo>
                    <a:pt x="884077" y="349250"/>
                  </a:moveTo>
                  <a:lnTo>
                    <a:pt x="680877" y="698500"/>
                  </a:lnTo>
                  <a:lnTo>
                    <a:pt x="203200" y="698500"/>
                  </a:lnTo>
                  <a:lnTo>
                    <a:pt x="0" y="349250"/>
                  </a:lnTo>
                  <a:lnTo>
                    <a:pt x="203200" y="0"/>
                  </a:lnTo>
                  <a:lnTo>
                    <a:pt x="680877" y="0"/>
                  </a:lnTo>
                  <a:lnTo>
                    <a:pt x="884077" y="349250"/>
                  </a:lnTo>
                  <a:close/>
                </a:path>
              </a:pathLst>
            </a:custGeom>
            <a:blipFill>
              <a:blip r:embed="rId5"/>
              <a:stretch>
                <a:fillRect l="-188" r="-18398"/>
              </a:stretch>
            </a:blipFill>
            <a:ln w="123825" cap="sq">
              <a:gradFill>
                <a:gsLst>
                  <a:gs pos="0">
                    <a:srgbClr val="00060D">
                      <a:alpha val="100000"/>
                    </a:srgbClr>
                  </a:gs>
                  <a:gs pos="100000">
                    <a:srgbClr val="092C71">
                      <a:alpha val="0"/>
                    </a:srgbClr>
                  </a:gs>
                </a:gsLst>
                <a:lin ang="0"/>
              </a:gra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8" name="Group 18">
            <a:extLst>
              <a:ext uri="{FF2B5EF4-FFF2-40B4-BE49-F238E27FC236}">
                <a16:creationId xmlns:a16="http://schemas.microsoft.com/office/drawing/2014/main" id="{E1DABE39-2074-7049-7344-8C3F3B9C1D22}"/>
              </a:ext>
            </a:extLst>
          </p:cNvPr>
          <p:cNvGrpSpPr/>
          <p:nvPr/>
        </p:nvGrpSpPr>
        <p:grpSpPr>
          <a:xfrm>
            <a:off x="-2988244" y="9078277"/>
            <a:ext cx="6794577" cy="5839090"/>
            <a:chOff x="0" y="0"/>
            <a:chExt cx="812800" cy="698500"/>
          </a:xfrm>
        </p:grpSpPr>
        <p:sp>
          <p:nvSpPr>
            <p:cNvPr id="19" name="Freeform 19">
              <a:extLst>
                <a:ext uri="{FF2B5EF4-FFF2-40B4-BE49-F238E27FC236}">
                  <a16:creationId xmlns:a16="http://schemas.microsoft.com/office/drawing/2014/main" id="{4353BF26-92AC-1815-F287-740D2C52EB48}"/>
                </a:ext>
              </a:extLst>
            </p:cNvPr>
            <p:cNvSpPr/>
            <p:nvPr/>
          </p:nvSpPr>
          <p:spPr>
            <a:xfrm>
              <a:off x="0" y="0"/>
              <a:ext cx="812800" cy="698500"/>
            </a:xfrm>
            <a:custGeom>
              <a:avLst/>
              <a:gdLst/>
              <a:ahLst/>
              <a:cxnLst/>
              <a:rect l="l" t="t" r="r" b="b"/>
              <a:pathLst>
                <a:path w="812800" h="698500">
                  <a:moveTo>
                    <a:pt x="812800" y="349250"/>
                  </a:moveTo>
                  <a:lnTo>
                    <a:pt x="609600" y="698500"/>
                  </a:lnTo>
                  <a:lnTo>
                    <a:pt x="203200" y="698500"/>
                  </a:lnTo>
                  <a:lnTo>
                    <a:pt x="0" y="349250"/>
                  </a:lnTo>
                  <a:lnTo>
                    <a:pt x="203200" y="0"/>
                  </a:lnTo>
                  <a:lnTo>
                    <a:pt x="609600" y="0"/>
                  </a:lnTo>
                  <a:lnTo>
                    <a:pt x="812800" y="34925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0" cap="sq">
              <a:solidFill>
                <a:srgbClr val="FFFFFF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0" name="TextBox 20">
              <a:extLst>
                <a:ext uri="{FF2B5EF4-FFF2-40B4-BE49-F238E27FC236}">
                  <a16:creationId xmlns:a16="http://schemas.microsoft.com/office/drawing/2014/main" id="{748AD484-7059-D8C3-4452-DB8044530E48}"/>
                </a:ext>
              </a:extLst>
            </p:cNvPr>
            <p:cNvSpPr txBox="1"/>
            <p:nvPr/>
          </p:nvSpPr>
          <p:spPr>
            <a:xfrm>
              <a:off x="114300" y="-38100"/>
              <a:ext cx="584200" cy="7366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21" name="Freeform 21">
            <a:extLst>
              <a:ext uri="{FF2B5EF4-FFF2-40B4-BE49-F238E27FC236}">
                <a16:creationId xmlns:a16="http://schemas.microsoft.com/office/drawing/2014/main" id="{ACABD462-497E-96C0-42BF-1C8C1229EDB2}"/>
              </a:ext>
            </a:extLst>
          </p:cNvPr>
          <p:cNvSpPr/>
          <p:nvPr/>
        </p:nvSpPr>
        <p:spPr>
          <a:xfrm>
            <a:off x="16494396" y="1260095"/>
            <a:ext cx="764904" cy="406407"/>
          </a:xfrm>
          <a:custGeom>
            <a:avLst/>
            <a:gdLst/>
            <a:ahLst/>
            <a:cxnLst/>
            <a:rect l="l" t="t" r="r" b="b"/>
            <a:pathLst>
              <a:path w="764904" h="406407">
                <a:moveTo>
                  <a:pt x="0" y="0"/>
                </a:moveTo>
                <a:lnTo>
                  <a:pt x="764904" y="0"/>
                </a:lnTo>
                <a:lnTo>
                  <a:pt x="764904" y="406407"/>
                </a:lnTo>
                <a:lnTo>
                  <a:pt x="0" y="40640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r="-111469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2" name="Freeform 22">
            <a:extLst>
              <a:ext uri="{FF2B5EF4-FFF2-40B4-BE49-F238E27FC236}">
                <a16:creationId xmlns:a16="http://schemas.microsoft.com/office/drawing/2014/main" id="{395DD09E-1BCD-504A-53CE-AA350C88CCCF}"/>
              </a:ext>
            </a:extLst>
          </p:cNvPr>
          <p:cNvSpPr/>
          <p:nvPr/>
        </p:nvSpPr>
        <p:spPr>
          <a:xfrm>
            <a:off x="5865793" y="8473579"/>
            <a:ext cx="764904" cy="406407"/>
          </a:xfrm>
          <a:custGeom>
            <a:avLst/>
            <a:gdLst/>
            <a:ahLst/>
            <a:cxnLst/>
            <a:rect l="l" t="t" r="r" b="b"/>
            <a:pathLst>
              <a:path w="764904" h="406407">
                <a:moveTo>
                  <a:pt x="0" y="0"/>
                </a:moveTo>
                <a:lnTo>
                  <a:pt x="764904" y="0"/>
                </a:lnTo>
                <a:lnTo>
                  <a:pt x="764904" y="406407"/>
                </a:lnTo>
                <a:lnTo>
                  <a:pt x="0" y="40640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r="-111469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3" name="TextBox 23">
            <a:extLst>
              <a:ext uri="{FF2B5EF4-FFF2-40B4-BE49-F238E27FC236}">
                <a16:creationId xmlns:a16="http://schemas.microsoft.com/office/drawing/2014/main" id="{1897DD5D-5F57-3E89-FF21-66948630B063}"/>
              </a:ext>
            </a:extLst>
          </p:cNvPr>
          <p:cNvSpPr txBox="1"/>
          <p:nvPr/>
        </p:nvSpPr>
        <p:spPr>
          <a:xfrm>
            <a:off x="7294684" y="810349"/>
            <a:ext cx="8446359" cy="125726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0704"/>
              </a:lnSpc>
              <a:spcBef>
                <a:spcPct val="0"/>
              </a:spcBef>
            </a:pPr>
            <a:r>
              <a:rPr lang="en-US" sz="7200" b="1" dirty="0">
                <a:solidFill>
                  <a:srgbClr val="00060D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Project Overview</a:t>
            </a:r>
          </a:p>
        </p:txBody>
      </p:sp>
      <p:sp>
        <p:nvSpPr>
          <p:cNvPr id="25" name="TextBox 25">
            <a:extLst>
              <a:ext uri="{FF2B5EF4-FFF2-40B4-BE49-F238E27FC236}">
                <a16:creationId xmlns:a16="http://schemas.microsoft.com/office/drawing/2014/main" id="{793A1CC2-289E-57A7-E3AD-536F391711D8}"/>
              </a:ext>
            </a:extLst>
          </p:cNvPr>
          <p:cNvSpPr txBox="1"/>
          <p:nvPr/>
        </p:nvSpPr>
        <p:spPr>
          <a:xfrm>
            <a:off x="6913203" y="2840386"/>
            <a:ext cx="11342122" cy="490012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en-US" sz="3600" dirty="0"/>
              <a:t>Turning </a:t>
            </a:r>
            <a:r>
              <a:rPr lang="en-US" sz="5400" b="1" dirty="0"/>
              <a:t>raw sales data </a:t>
            </a:r>
            <a:r>
              <a:rPr lang="en-US" sz="3600" dirty="0"/>
              <a:t>into dynamic, insightful </a:t>
            </a:r>
            <a:r>
              <a:rPr lang="en-US" sz="5400" b="1" dirty="0"/>
              <a:t>dashboards</a:t>
            </a:r>
            <a:r>
              <a:rPr lang="en-US" sz="3600" dirty="0"/>
              <a:t> that empower better decisions. </a:t>
            </a:r>
          </a:p>
          <a:p>
            <a:pPr>
              <a:lnSpc>
                <a:spcPct val="150000"/>
              </a:lnSpc>
            </a:pPr>
            <a:r>
              <a:rPr lang="en-US" sz="3600" dirty="0"/>
              <a:t>This project enhances visibility, uncovers performance trends, and supports strategic actions that drive measurable business growth</a:t>
            </a:r>
          </a:p>
        </p:txBody>
      </p:sp>
    </p:spTree>
    <p:extLst>
      <p:ext uri="{BB962C8B-B14F-4D97-AF65-F5344CB8AC3E}">
        <p14:creationId xmlns:p14="http://schemas.microsoft.com/office/powerpoint/2010/main" val="85191702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22813" t="-22813"/>
            </a:stretch>
          </a:blipFill>
        </p:spPr>
        <p:txBody>
          <a:bodyPr/>
          <a:lstStyle/>
          <a:p>
            <a:endParaRPr lang="en-US" dirty="0"/>
          </a:p>
        </p:txBody>
      </p:sp>
      <p:grpSp>
        <p:nvGrpSpPr>
          <p:cNvPr id="3" name="Group 3"/>
          <p:cNvGrpSpPr/>
          <p:nvPr/>
        </p:nvGrpSpPr>
        <p:grpSpPr>
          <a:xfrm>
            <a:off x="0" y="10032423"/>
            <a:ext cx="18288000" cy="254577"/>
            <a:chOff x="0" y="0"/>
            <a:chExt cx="4816593" cy="67049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4816592" cy="67049"/>
            </a:xfrm>
            <a:custGeom>
              <a:avLst/>
              <a:gdLst/>
              <a:ahLst/>
              <a:cxnLst/>
              <a:rect l="l" t="t" r="r" b="b"/>
              <a:pathLst>
                <a:path w="4816592" h="67049">
                  <a:moveTo>
                    <a:pt x="0" y="0"/>
                  </a:moveTo>
                  <a:lnTo>
                    <a:pt x="4816592" y="0"/>
                  </a:lnTo>
                  <a:lnTo>
                    <a:pt x="4816592" y="67049"/>
                  </a:lnTo>
                  <a:lnTo>
                    <a:pt x="0" y="67049"/>
                  </a:lnTo>
                  <a:close/>
                </a:path>
              </a:pathLst>
            </a:custGeom>
            <a:gradFill rotWithShape="1">
              <a:gsLst>
                <a:gs pos="0">
                  <a:srgbClr val="002264">
                    <a:alpha val="100000"/>
                  </a:srgbClr>
                </a:gs>
                <a:gs pos="100000">
                  <a:srgbClr val="2D56A5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US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4816593" cy="10514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 rot="1816035">
            <a:off x="-666771" y="7129837"/>
            <a:ext cx="4871721" cy="4116685"/>
            <a:chOff x="0" y="0"/>
            <a:chExt cx="1283087" cy="108423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283087" cy="1084230"/>
            </a:xfrm>
            <a:custGeom>
              <a:avLst/>
              <a:gdLst/>
              <a:ahLst/>
              <a:cxnLst/>
              <a:rect l="l" t="t" r="r" b="b"/>
              <a:pathLst>
                <a:path w="1283087" h="1084230">
                  <a:moveTo>
                    <a:pt x="0" y="0"/>
                  </a:moveTo>
                  <a:lnTo>
                    <a:pt x="1283087" y="0"/>
                  </a:lnTo>
                  <a:lnTo>
                    <a:pt x="1283087" y="1084230"/>
                  </a:lnTo>
                  <a:lnTo>
                    <a:pt x="0" y="1084230"/>
                  </a:lnTo>
                  <a:close/>
                </a:path>
              </a:pathLst>
            </a:custGeom>
            <a:gradFill rotWithShape="1">
              <a:gsLst>
                <a:gs pos="0">
                  <a:srgbClr val="002264">
                    <a:alpha val="100000"/>
                  </a:srgbClr>
                </a:gs>
                <a:gs pos="100000">
                  <a:srgbClr val="2D56A5">
                    <a:alpha val="100000"/>
                  </a:srgbClr>
                </a:gs>
              </a:gsLst>
              <a:lin ang="5400000"/>
            </a:gradFill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1283087" cy="112233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9" name="Freeform 9"/>
          <p:cNvSpPr/>
          <p:nvPr/>
        </p:nvSpPr>
        <p:spPr>
          <a:xfrm flipV="1">
            <a:off x="0" y="-1389286"/>
            <a:ext cx="8042088" cy="9125773"/>
          </a:xfrm>
          <a:custGeom>
            <a:avLst/>
            <a:gdLst/>
            <a:ahLst/>
            <a:cxnLst/>
            <a:rect l="l" t="t" r="r" b="b"/>
            <a:pathLst>
              <a:path w="8042088" h="9125773">
                <a:moveTo>
                  <a:pt x="0" y="9125773"/>
                </a:moveTo>
                <a:lnTo>
                  <a:pt x="8042088" y="9125773"/>
                </a:lnTo>
                <a:lnTo>
                  <a:pt x="8042088" y="0"/>
                </a:lnTo>
                <a:lnTo>
                  <a:pt x="0" y="0"/>
                </a:lnTo>
                <a:lnTo>
                  <a:pt x="0" y="9125773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10" name="Group 10"/>
          <p:cNvGrpSpPr/>
          <p:nvPr/>
        </p:nvGrpSpPr>
        <p:grpSpPr>
          <a:xfrm>
            <a:off x="-2773533" y="-3616822"/>
            <a:ext cx="6794577" cy="5839090"/>
            <a:chOff x="0" y="0"/>
            <a:chExt cx="812800" cy="6985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698500"/>
            </a:xfrm>
            <a:custGeom>
              <a:avLst/>
              <a:gdLst/>
              <a:ahLst/>
              <a:cxnLst/>
              <a:rect l="l" t="t" r="r" b="b"/>
              <a:pathLst>
                <a:path w="812800" h="698500">
                  <a:moveTo>
                    <a:pt x="812800" y="349250"/>
                  </a:moveTo>
                  <a:lnTo>
                    <a:pt x="609600" y="698500"/>
                  </a:lnTo>
                  <a:lnTo>
                    <a:pt x="203200" y="698500"/>
                  </a:lnTo>
                  <a:lnTo>
                    <a:pt x="0" y="349250"/>
                  </a:lnTo>
                  <a:lnTo>
                    <a:pt x="203200" y="0"/>
                  </a:lnTo>
                  <a:lnTo>
                    <a:pt x="609600" y="0"/>
                  </a:lnTo>
                  <a:lnTo>
                    <a:pt x="812800" y="34925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0" cap="sq">
              <a:solidFill>
                <a:srgbClr val="FFFFFF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14300" y="-38100"/>
              <a:ext cx="584200" cy="7366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-2339092" y="1479339"/>
            <a:ext cx="9284966" cy="7335953"/>
            <a:chOff x="0" y="0"/>
            <a:chExt cx="884077" cy="69850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84077" cy="698500"/>
            </a:xfrm>
            <a:custGeom>
              <a:avLst/>
              <a:gdLst/>
              <a:ahLst/>
              <a:cxnLst/>
              <a:rect l="l" t="t" r="r" b="b"/>
              <a:pathLst>
                <a:path w="884077" h="698500">
                  <a:moveTo>
                    <a:pt x="884077" y="349250"/>
                  </a:moveTo>
                  <a:lnTo>
                    <a:pt x="680877" y="698500"/>
                  </a:lnTo>
                  <a:lnTo>
                    <a:pt x="203200" y="698500"/>
                  </a:lnTo>
                  <a:lnTo>
                    <a:pt x="0" y="349250"/>
                  </a:lnTo>
                  <a:lnTo>
                    <a:pt x="203200" y="0"/>
                  </a:lnTo>
                  <a:lnTo>
                    <a:pt x="680877" y="0"/>
                  </a:lnTo>
                  <a:lnTo>
                    <a:pt x="884077" y="349250"/>
                  </a:lnTo>
                  <a:close/>
                </a:path>
              </a:pathLst>
            </a:custGeom>
            <a:gradFill rotWithShape="1">
              <a:gsLst>
                <a:gs pos="0">
                  <a:srgbClr val="002264">
                    <a:alpha val="100000"/>
                  </a:srgbClr>
                </a:gs>
                <a:gs pos="100000">
                  <a:srgbClr val="2D56A5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14300" y="-38100"/>
              <a:ext cx="655477" cy="7366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-2023915" y="1724542"/>
            <a:ext cx="8654612" cy="6837917"/>
            <a:chOff x="0" y="0"/>
            <a:chExt cx="884077" cy="698500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84077" cy="698500"/>
            </a:xfrm>
            <a:custGeom>
              <a:avLst/>
              <a:gdLst/>
              <a:ahLst/>
              <a:cxnLst/>
              <a:rect l="l" t="t" r="r" b="b"/>
              <a:pathLst>
                <a:path w="884077" h="698500">
                  <a:moveTo>
                    <a:pt x="884077" y="349250"/>
                  </a:moveTo>
                  <a:lnTo>
                    <a:pt x="680877" y="698500"/>
                  </a:lnTo>
                  <a:lnTo>
                    <a:pt x="203200" y="698500"/>
                  </a:lnTo>
                  <a:lnTo>
                    <a:pt x="0" y="349250"/>
                  </a:lnTo>
                  <a:lnTo>
                    <a:pt x="203200" y="0"/>
                  </a:lnTo>
                  <a:lnTo>
                    <a:pt x="680877" y="0"/>
                  </a:lnTo>
                  <a:lnTo>
                    <a:pt x="884077" y="349250"/>
                  </a:lnTo>
                  <a:close/>
                </a:path>
              </a:pathLst>
            </a:custGeom>
            <a:blipFill>
              <a:blip r:embed="rId6"/>
              <a:stretch>
                <a:fillRect l="-188" r="-18398"/>
              </a:stretch>
            </a:blipFill>
            <a:ln w="123825" cap="sq">
              <a:gradFill>
                <a:gsLst>
                  <a:gs pos="0">
                    <a:srgbClr val="00060D">
                      <a:alpha val="100000"/>
                    </a:srgbClr>
                  </a:gs>
                  <a:gs pos="100000">
                    <a:srgbClr val="092C71">
                      <a:alpha val="0"/>
                    </a:srgbClr>
                  </a:gs>
                </a:gsLst>
                <a:lin ang="0"/>
              </a:gra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-2988244" y="9078277"/>
            <a:ext cx="6794577" cy="5839090"/>
            <a:chOff x="0" y="0"/>
            <a:chExt cx="812800" cy="698500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812800" cy="698500"/>
            </a:xfrm>
            <a:custGeom>
              <a:avLst/>
              <a:gdLst/>
              <a:ahLst/>
              <a:cxnLst/>
              <a:rect l="l" t="t" r="r" b="b"/>
              <a:pathLst>
                <a:path w="812800" h="698500">
                  <a:moveTo>
                    <a:pt x="812800" y="349250"/>
                  </a:moveTo>
                  <a:lnTo>
                    <a:pt x="609600" y="698500"/>
                  </a:lnTo>
                  <a:lnTo>
                    <a:pt x="203200" y="698500"/>
                  </a:lnTo>
                  <a:lnTo>
                    <a:pt x="0" y="349250"/>
                  </a:lnTo>
                  <a:lnTo>
                    <a:pt x="203200" y="0"/>
                  </a:lnTo>
                  <a:lnTo>
                    <a:pt x="609600" y="0"/>
                  </a:lnTo>
                  <a:lnTo>
                    <a:pt x="812800" y="34925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0" cap="sq">
              <a:solidFill>
                <a:srgbClr val="FFFFFF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14300" y="-38100"/>
              <a:ext cx="584200" cy="7366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21" name="Freeform 21"/>
          <p:cNvSpPr/>
          <p:nvPr/>
        </p:nvSpPr>
        <p:spPr>
          <a:xfrm>
            <a:off x="16494396" y="1260095"/>
            <a:ext cx="764904" cy="406407"/>
          </a:xfrm>
          <a:custGeom>
            <a:avLst/>
            <a:gdLst/>
            <a:ahLst/>
            <a:cxnLst/>
            <a:rect l="l" t="t" r="r" b="b"/>
            <a:pathLst>
              <a:path w="764904" h="406407">
                <a:moveTo>
                  <a:pt x="0" y="0"/>
                </a:moveTo>
                <a:lnTo>
                  <a:pt x="764904" y="0"/>
                </a:lnTo>
                <a:lnTo>
                  <a:pt x="764904" y="406407"/>
                </a:lnTo>
                <a:lnTo>
                  <a:pt x="0" y="406407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r="-111469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2" name="Freeform 22"/>
          <p:cNvSpPr/>
          <p:nvPr/>
        </p:nvSpPr>
        <p:spPr>
          <a:xfrm>
            <a:off x="5865793" y="8473579"/>
            <a:ext cx="764904" cy="406407"/>
          </a:xfrm>
          <a:custGeom>
            <a:avLst/>
            <a:gdLst/>
            <a:ahLst/>
            <a:cxnLst/>
            <a:rect l="l" t="t" r="r" b="b"/>
            <a:pathLst>
              <a:path w="764904" h="406407">
                <a:moveTo>
                  <a:pt x="0" y="0"/>
                </a:moveTo>
                <a:lnTo>
                  <a:pt x="764904" y="0"/>
                </a:lnTo>
                <a:lnTo>
                  <a:pt x="764904" y="406407"/>
                </a:lnTo>
                <a:lnTo>
                  <a:pt x="0" y="406407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r="-111469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3" name="TextBox 23"/>
          <p:cNvSpPr txBox="1"/>
          <p:nvPr/>
        </p:nvSpPr>
        <p:spPr>
          <a:xfrm>
            <a:off x="7848600" y="150167"/>
            <a:ext cx="6797623" cy="13012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704"/>
              </a:lnSpc>
              <a:spcBef>
                <a:spcPct val="0"/>
              </a:spcBef>
            </a:pPr>
            <a:r>
              <a:rPr lang="en-US" sz="7646" b="1" dirty="0">
                <a:solidFill>
                  <a:srgbClr val="00060D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EXECUTIVE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7866993" y="1219189"/>
            <a:ext cx="6797623" cy="13012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704"/>
              </a:lnSpc>
              <a:spcBef>
                <a:spcPct val="0"/>
              </a:spcBef>
            </a:pPr>
            <a:r>
              <a:rPr lang="en-US" sz="7646" b="1" dirty="0">
                <a:solidFill>
                  <a:srgbClr val="10347A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SUMMARY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6874410" y="2574071"/>
            <a:ext cx="11342122" cy="190821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/>
            <a:r>
              <a:rPr lang="en-US" sz="3600" dirty="0">
                <a:solidFill>
                  <a:schemeClr val="tx2"/>
                </a:solidFill>
              </a:rPr>
              <a:t>Turn original data set that Include one sheet with </a:t>
            </a:r>
            <a:r>
              <a:rPr lang="en-US" sz="4400" dirty="0">
                <a:solidFill>
                  <a:schemeClr val="tx2"/>
                </a:solidFill>
              </a:rPr>
              <a:t>18</a:t>
            </a:r>
            <a:r>
              <a:rPr lang="en-US" sz="3600" dirty="0">
                <a:solidFill>
                  <a:schemeClr val="tx2"/>
                </a:solidFill>
              </a:rPr>
              <a:t> columns</a:t>
            </a:r>
            <a:r>
              <a:rPr lang="ar-EG" sz="3600" dirty="0">
                <a:solidFill>
                  <a:schemeClr val="tx2"/>
                </a:solidFill>
              </a:rPr>
              <a:t> </a:t>
            </a:r>
            <a:r>
              <a:rPr lang="en-US" sz="3600" dirty="0">
                <a:solidFill>
                  <a:schemeClr val="tx2"/>
                </a:solidFill>
              </a:rPr>
              <a:t>&amp; </a:t>
            </a:r>
            <a:r>
              <a:rPr lang="en-US" sz="4400" dirty="0">
                <a:solidFill>
                  <a:schemeClr val="tx2"/>
                </a:solidFill>
              </a:rPr>
              <a:t>9800</a:t>
            </a:r>
            <a:r>
              <a:rPr lang="en-US" sz="3600" dirty="0">
                <a:solidFill>
                  <a:schemeClr val="tx2"/>
                </a:solidFill>
              </a:rPr>
              <a:t> rows</a:t>
            </a:r>
          </a:p>
          <a:p>
            <a:pPr algn="ctr"/>
            <a:r>
              <a:rPr lang="en-US" sz="3600" dirty="0">
                <a:solidFill>
                  <a:schemeClr val="tx2"/>
                </a:solidFill>
              </a:rPr>
              <a:t> with visualization into interactive dashboards</a:t>
            </a:r>
          </a:p>
        </p:txBody>
      </p:sp>
      <p:graphicFrame>
        <p:nvGraphicFramePr>
          <p:cNvPr id="28" name="Diagram 27">
            <a:extLst>
              <a:ext uri="{FF2B5EF4-FFF2-40B4-BE49-F238E27FC236}">
                <a16:creationId xmlns:a16="http://schemas.microsoft.com/office/drawing/2014/main" id="{D51ADD1D-D0A9-4B92-5B7C-21BD724E7BE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435643991"/>
              </p:ext>
            </p:extLst>
          </p:nvPr>
        </p:nvGraphicFramePr>
        <p:xfrm>
          <a:off x="6627946" y="4482286"/>
          <a:ext cx="11621932" cy="551482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9" r:lo="rId10" r:qs="rId11" r:cs="rId12"/>
          </a:graphicData>
        </a:graphic>
      </p:graphicFrame>
      <p:sp>
        <p:nvSpPr>
          <p:cNvPr id="29" name="TextBox 28">
            <a:extLst>
              <a:ext uri="{FF2B5EF4-FFF2-40B4-BE49-F238E27FC236}">
                <a16:creationId xmlns:a16="http://schemas.microsoft.com/office/drawing/2014/main" id="{87C22D01-5F7B-CEC1-5CF9-600D28EA9B7B}"/>
              </a:ext>
            </a:extLst>
          </p:cNvPr>
          <p:cNvSpPr txBox="1"/>
          <p:nvPr/>
        </p:nvSpPr>
        <p:spPr>
          <a:xfrm rot="16200000">
            <a:off x="8768068" y="6766550"/>
            <a:ext cx="220996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600" b="1" dirty="0">
                <a:solidFill>
                  <a:schemeClr val="tx2"/>
                </a:solidFill>
              </a:rPr>
              <a:t>Customers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622BBD74-4191-E508-4A97-0CD7D0530D51}"/>
              </a:ext>
            </a:extLst>
          </p:cNvPr>
          <p:cNvSpPr txBox="1"/>
          <p:nvPr/>
        </p:nvSpPr>
        <p:spPr>
          <a:xfrm>
            <a:off x="10442382" y="5002510"/>
            <a:ext cx="2103089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>
                <a:solidFill>
                  <a:schemeClr val="bg1"/>
                </a:solidFill>
              </a:rPr>
              <a:t>Total # </a:t>
            </a:r>
            <a:r>
              <a:rPr lang="en-US" sz="2200" dirty="0">
                <a:solidFill>
                  <a:schemeClr val="tx2">
                    <a:lumMod val="50000"/>
                  </a:schemeClr>
                </a:solidFill>
              </a:rPr>
              <a:t>793 </a:t>
            </a:r>
          </a:p>
          <a:p>
            <a:endParaRPr lang="en-US" sz="2200" dirty="0">
              <a:solidFill>
                <a:srgbClr val="FF0000"/>
              </a:solidFill>
            </a:endParaRPr>
          </a:p>
          <a:p>
            <a:pPr algn="ctr"/>
            <a:r>
              <a:rPr lang="en-US" sz="2200" dirty="0">
                <a:solidFill>
                  <a:schemeClr val="bg1"/>
                </a:solidFill>
              </a:rPr>
              <a:t>Segment </a:t>
            </a:r>
            <a:endParaRPr lang="ar-EG" sz="2200" dirty="0">
              <a:solidFill>
                <a:schemeClr val="bg1"/>
              </a:solidFill>
            </a:endParaRPr>
          </a:p>
          <a:p>
            <a:r>
              <a:rPr lang="en-US" sz="2200" dirty="0">
                <a:solidFill>
                  <a:schemeClr val="tx2">
                    <a:lumMod val="50000"/>
                  </a:schemeClr>
                </a:solidFill>
              </a:rPr>
              <a:t>52</a:t>
            </a:r>
            <a:r>
              <a:rPr lang="en-US" sz="2200" dirty="0">
                <a:solidFill>
                  <a:schemeClr val="bg1"/>
                </a:solidFill>
              </a:rPr>
              <a:t>% consumer , </a:t>
            </a:r>
            <a:r>
              <a:rPr lang="en-US" sz="2200" dirty="0">
                <a:solidFill>
                  <a:schemeClr val="tx2">
                    <a:lumMod val="50000"/>
                  </a:schemeClr>
                </a:solidFill>
              </a:rPr>
              <a:t>30</a:t>
            </a:r>
            <a:r>
              <a:rPr lang="en-US" sz="2200" dirty="0">
                <a:solidFill>
                  <a:schemeClr val="bg1"/>
                </a:solidFill>
              </a:rPr>
              <a:t>% corporate, </a:t>
            </a:r>
            <a:r>
              <a:rPr lang="en-US" sz="2200" dirty="0">
                <a:solidFill>
                  <a:schemeClr val="tx2">
                    <a:lumMod val="50000"/>
                  </a:schemeClr>
                </a:solidFill>
              </a:rPr>
              <a:t>19</a:t>
            </a:r>
            <a:r>
              <a:rPr lang="en-US" sz="2200" dirty="0">
                <a:solidFill>
                  <a:schemeClr val="bg1"/>
                </a:solidFill>
              </a:rPr>
              <a:t>% home office</a:t>
            </a:r>
          </a:p>
        </p:txBody>
      </p:sp>
      <p:sp>
        <p:nvSpPr>
          <p:cNvPr id="26" name="Flowchart: Extract 25">
            <a:extLst>
              <a:ext uri="{FF2B5EF4-FFF2-40B4-BE49-F238E27FC236}">
                <a16:creationId xmlns:a16="http://schemas.microsoft.com/office/drawing/2014/main" id="{D91DE548-BFE3-EF94-8B00-2D0419D91DB9}"/>
              </a:ext>
            </a:extLst>
          </p:cNvPr>
          <p:cNvSpPr/>
          <p:nvPr/>
        </p:nvSpPr>
        <p:spPr>
          <a:xfrm rot="5400000">
            <a:off x="12097367" y="7709462"/>
            <a:ext cx="538127" cy="357956"/>
          </a:xfrm>
          <a:prstGeom prst="flowChartExtract">
            <a:avLst/>
          </a:prstGeom>
          <a:scene3d>
            <a:camera prst="orthographicFront"/>
            <a:lightRig rig="flat" dir="t"/>
          </a:scene3d>
          <a:sp3d z="190500" extrusionH="12700" prstMaterial="plastic">
            <a:bevelT w="50800" h="50800"/>
          </a:sp3d>
        </p:spPr>
        <p:style>
          <a:lnRef idx="1">
            <a:schemeClr val="accent1">
              <a:alpha val="90000"/>
              <a:hueOff val="0"/>
              <a:satOff val="0"/>
              <a:lumOff val="0"/>
              <a:alphaOff val="-40000"/>
            </a:schemeClr>
          </a:lnRef>
          <a:fillRef idx="1">
            <a:schemeClr val="lt1">
              <a:hueOff val="0"/>
              <a:satOff val="0"/>
              <a:lumOff val="0"/>
              <a:alphaOff val="0"/>
            </a:schemeClr>
          </a:fillRef>
          <a:effectRef idx="2">
            <a:schemeClr val="lt1"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endParaRPr lang="en-US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04DF0AC-744E-68FC-3D27-1EB7502143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39BE1494-58DB-2456-1FAA-F9DFBFBC1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8288000" cy="10287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A person reaching for a paper on a table full of paper and sticky notes">
            <a:extLst>
              <a:ext uri="{FF2B5EF4-FFF2-40B4-BE49-F238E27FC236}">
                <a16:creationId xmlns:a16="http://schemas.microsoft.com/office/drawing/2014/main" id="{C98C9721-FA9D-3C74-DC51-C504D83C319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3934" r="14927"/>
          <a:stretch>
            <a:fillRect/>
          </a:stretch>
        </p:blipFill>
        <p:spPr>
          <a:xfrm>
            <a:off x="7324533" y="10"/>
            <a:ext cx="10963467" cy="10286990"/>
          </a:xfrm>
          <a:custGeom>
            <a:avLst/>
            <a:gdLst/>
            <a:ahLst/>
            <a:cxnLst/>
            <a:rect l="l" t="t" r="r" b="b"/>
            <a:pathLst>
              <a:path w="7308978" h="6858000">
                <a:moveTo>
                  <a:pt x="0" y="0"/>
                </a:moveTo>
                <a:lnTo>
                  <a:pt x="7308978" y="0"/>
                </a:lnTo>
                <a:lnTo>
                  <a:pt x="7308978" y="6858000"/>
                </a:lnTo>
                <a:lnTo>
                  <a:pt x="0" y="6858000"/>
                </a:lnTo>
                <a:lnTo>
                  <a:pt x="62983" y="6788730"/>
                </a:lnTo>
                <a:cubicBezTo>
                  <a:pt x="773509" y="5928900"/>
                  <a:pt x="1212978" y="4741056"/>
                  <a:pt x="1212978" y="3429000"/>
                </a:cubicBezTo>
                <a:cubicBezTo>
                  <a:pt x="1212978" y="2116944"/>
                  <a:pt x="773509" y="929100"/>
                  <a:pt x="62983" y="69271"/>
                </a:cubicBezTo>
                <a:close/>
              </a:path>
            </a:pathLst>
          </a:custGeom>
        </p:spPr>
      </p:pic>
      <p:sp useBgFill="1">
        <p:nvSpPr>
          <p:cNvPr id="17" name="Freeform: Shape 16">
            <a:extLst>
              <a:ext uri="{FF2B5EF4-FFF2-40B4-BE49-F238E27FC236}">
                <a16:creationId xmlns:a16="http://schemas.microsoft.com/office/drawing/2014/main" id="{CDD575EA-598B-AA52-B917-47D919081F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1" cy="10287000"/>
          </a:xfrm>
          <a:custGeom>
            <a:avLst/>
            <a:gdLst>
              <a:gd name="connsiteX0" fmla="*/ 0 w 6096001"/>
              <a:gd name="connsiteY0" fmla="*/ 0 h 6858000"/>
              <a:gd name="connsiteX1" fmla="*/ 4883023 w 6096001"/>
              <a:gd name="connsiteY1" fmla="*/ 0 h 6858000"/>
              <a:gd name="connsiteX2" fmla="*/ 4946006 w 6096001"/>
              <a:gd name="connsiteY2" fmla="*/ 69271 h 6858000"/>
              <a:gd name="connsiteX3" fmla="*/ 6096001 w 6096001"/>
              <a:gd name="connsiteY3" fmla="*/ 3429000 h 6858000"/>
              <a:gd name="connsiteX4" fmla="*/ 4946006 w 6096001"/>
              <a:gd name="connsiteY4" fmla="*/ 6788730 h 6858000"/>
              <a:gd name="connsiteX5" fmla="*/ 4883023 w 6096001"/>
              <a:gd name="connsiteY5" fmla="*/ 6858000 h 6858000"/>
              <a:gd name="connsiteX6" fmla="*/ 0 w 609600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096001" h="6858000">
                <a:moveTo>
                  <a:pt x="0" y="0"/>
                </a:moveTo>
                <a:lnTo>
                  <a:pt x="4883023" y="0"/>
                </a:lnTo>
                <a:lnTo>
                  <a:pt x="4946006" y="69271"/>
                </a:lnTo>
                <a:cubicBezTo>
                  <a:pt x="5656532" y="929100"/>
                  <a:pt x="6096001" y="2116944"/>
                  <a:pt x="6096001" y="3429000"/>
                </a:cubicBezTo>
                <a:cubicBezTo>
                  <a:pt x="6096001" y="4741056"/>
                  <a:pt x="5656532" y="5928900"/>
                  <a:pt x="4946006" y="6788730"/>
                </a:cubicBezTo>
                <a:lnTo>
                  <a:pt x="4883023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rgbClr val="EFEFEF"/>
            </a:solidFill>
          </a:ln>
          <a:effectLst>
            <a:outerShdw blurRad="50800" dist="38100" algn="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4" name="Freeform: Shape 13">
            <a:extLst>
              <a:ext uri="{FF2B5EF4-FFF2-40B4-BE49-F238E27FC236}">
                <a16:creationId xmlns:a16="http://schemas.microsoft.com/office/drawing/2014/main" id="{2B256E3A-817F-606B-3018-35E35C0142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30285" cy="10287000"/>
          </a:xfrm>
          <a:custGeom>
            <a:avLst/>
            <a:gdLst>
              <a:gd name="connsiteX0" fmla="*/ 0 w 6086857"/>
              <a:gd name="connsiteY0" fmla="*/ 0 h 6858000"/>
              <a:gd name="connsiteX1" fmla="*/ 4873879 w 6086857"/>
              <a:gd name="connsiteY1" fmla="*/ 0 h 6858000"/>
              <a:gd name="connsiteX2" fmla="*/ 4936862 w 6086857"/>
              <a:gd name="connsiteY2" fmla="*/ 69271 h 6858000"/>
              <a:gd name="connsiteX3" fmla="*/ 6086857 w 6086857"/>
              <a:gd name="connsiteY3" fmla="*/ 3429000 h 6858000"/>
              <a:gd name="connsiteX4" fmla="*/ 4936862 w 6086857"/>
              <a:gd name="connsiteY4" fmla="*/ 6788730 h 6858000"/>
              <a:gd name="connsiteX5" fmla="*/ 4873879 w 6086857"/>
              <a:gd name="connsiteY5" fmla="*/ 6858000 h 6858000"/>
              <a:gd name="connsiteX6" fmla="*/ 0 w 608685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086857" h="6858000">
                <a:moveTo>
                  <a:pt x="0" y="0"/>
                </a:moveTo>
                <a:lnTo>
                  <a:pt x="4873879" y="0"/>
                </a:lnTo>
                <a:lnTo>
                  <a:pt x="4936862" y="69271"/>
                </a:lnTo>
                <a:cubicBezTo>
                  <a:pt x="5647388" y="929100"/>
                  <a:pt x="6086857" y="2116944"/>
                  <a:pt x="6086857" y="3429000"/>
                </a:cubicBezTo>
                <a:cubicBezTo>
                  <a:pt x="6086857" y="4741056"/>
                  <a:pt x="5647388" y="5928900"/>
                  <a:pt x="4936862" y="6788730"/>
                </a:cubicBezTo>
                <a:lnTo>
                  <a:pt x="4873879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CA19288-203B-EB43-CFAB-11E5F025E2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2356" y="1284732"/>
            <a:ext cx="7488936" cy="1865376"/>
          </a:xfrm>
        </p:spPr>
        <p:txBody>
          <a:bodyPr anchor="ctr">
            <a:normAutofit/>
          </a:bodyPr>
          <a:lstStyle/>
          <a:p>
            <a:r>
              <a:rPr lang="en-US" sz="5100" b="1" u="sng"/>
              <a:t>Table of content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64F98A41-E88A-6FAB-47E2-3B4745745C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686487"/>
            <a:ext cx="192024" cy="98085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93F13F60-460F-8D49-B563-E553A5D65E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56653" y="3293004"/>
            <a:ext cx="7475220" cy="27432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118288-25A3-95A6-1CD7-3168240CDB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2356" y="3784423"/>
            <a:ext cx="7598664" cy="5103545"/>
          </a:xfrm>
        </p:spPr>
        <p:txBody>
          <a:bodyPr anchor="t">
            <a:normAutofit/>
          </a:bodyPr>
          <a:lstStyle/>
          <a:p>
            <a:pPr marL="771525" indent="-771525">
              <a:lnSpc>
                <a:spcPct val="150000"/>
              </a:lnSpc>
              <a:buFont typeface="+mj-lt"/>
              <a:buAutoNum type="arabicPeriod"/>
            </a:pPr>
            <a:r>
              <a:rPr lang="en-US" sz="3000" dirty="0"/>
              <a:t>Project overview &amp; Executive summary </a:t>
            </a:r>
          </a:p>
          <a:p>
            <a:pPr marL="771525" indent="-771525">
              <a:lnSpc>
                <a:spcPct val="150000"/>
              </a:lnSpc>
              <a:buFont typeface="+mj-lt"/>
              <a:buAutoNum type="arabicPeriod"/>
            </a:pPr>
            <a:r>
              <a:rPr lang="en-US" sz="3000" b="1" dirty="0"/>
              <a:t>Data preparation and transformation</a:t>
            </a:r>
          </a:p>
          <a:p>
            <a:pPr marL="0" indent="0">
              <a:buNone/>
            </a:pPr>
            <a:endParaRPr lang="en-US" sz="3000" dirty="0"/>
          </a:p>
          <a:p>
            <a:pPr marL="771525" indent="-771525">
              <a:buFont typeface="+mj-lt"/>
              <a:buAutoNum type="arabicPeriod"/>
            </a:pPr>
            <a:endParaRPr lang="en-US" sz="3000" dirty="0"/>
          </a:p>
          <a:p>
            <a:pPr marL="771525" indent="-771525">
              <a:buFont typeface="+mj-lt"/>
              <a:buAutoNum type="arabicPeriod"/>
            </a:pPr>
            <a:endParaRPr lang="en-US" sz="3000" dirty="0"/>
          </a:p>
        </p:txBody>
      </p:sp>
    </p:spTree>
    <p:extLst>
      <p:ext uri="{BB962C8B-B14F-4D97-AF65-F5344CB8AC3E}">
        <p14:creationId xmlns:p14="http://schemas.microsoft.com/office/powerpoint/2010/main" val="68921598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750599-D6B5-6AA6-FC2F-87AC697D27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3">
            <a:extLst>
              <a:ext uri="{FF2B5EF4-FFF2-40B4-BE49-F238E27FC236}">
                <a16:creationId xmlns:a16="http://schemas.microsoft.com/office/drawing/2014/main" id="{C7E96544-64D6-1F61-A3FA-80D53AB63A5C}"/>
              </a:ext>
            </a:extLst>
          </p:cNvPr>
          <p:cNvSpPr/>
          <p:nvPr/>
        </p:nvSpPr>
        <p:spPr>
          <a:xfrm flipH="1" flipV="1">
            <a:off x="13297050" y="-2137660"/>
            <a:ext cx="4989436" cy="5661772"/>
          </a:xfrm>
          <a:custGeom>
            <a:avLst/>
            <a:gdLst/>
            <a:ahLst/>
            <a:cxnLst/>
            <a:rect l="l" t="t" r="r" b="b"/>
            <a:pathLst>
              <a:path w="4989436" h="5661772">
                <a:moveTo>
                  <a:pt x="4989437" y="5661772"/>
                </a:moveTo>
                <a:lnTo>
                  <a:pt x="0" y="5661772"/>
                </a:lnTo>
                <a:lnTo>
                  <a:pt x="0" y="0"/>
                </a:lnTo>
                <a:lnTo>
                  <a:pt x="4989437" y="0"/>
                </a:lnTo>
                <a:lnTo>
                  <a:pt x="4989437" y="5661772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" name="Freeform 4">
            <a:extLst>
              <a:ext uri="{FF2B5EF4-FFF2-40B4-BE49-F238E27FC236}">
                <a16:creationId xmlns:a16="http://schemas.microsoft.com/office/drawing/2014/main" id="{02D29DA0-7BAB-851A-84D2-059B3318EECE}"/>
              </a:ext>
            </a:extLst>
          </p:cNvPr>
          <p:cNvSpPr/>
          <p:nvPr/>
        </p:nvSpPr>
        <p:spPr>
          <a:xfrm flipV="1">
            <a:off x="1513" y="-2137660"/>
            <a:ext cx="4989436" cy="5661772"/>
          </a:xfrm>
          <a:custGeom>
            <a:avLst/>
            <a:gdLst/>
            <a:ahLst/>
            <a:cxnLst/>
            <a:rect l="l" t="t" r="r" b="b"/>
            <a:pathLst>
              <a:path w="4989436" h="5661772">
                <a:moveTo>
                  <a:pt x="0" y="5661772"/>
                </a:moveTo>
                <a:lnTo>
                  <a:pt x="4989437" y="5661772"/>
                </a:lnTo>
                <a:lnTo>
                  <a:pt x="4989437" y="0"/>
                </a:lnTo>
                <a:lnTo>
                  <a:pt x="0" y="0"/>
                </a:lnTo>
                <a:lnTo>
                  <a:pt x="0" y="5661772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grpSp>
        <p:nvGrpSpPr>
          <p:cNvPr id="5" name="Group 5">
            <a:extLst>
              <a:ext uri="{FF2B5EF4-FFF2-40B4-BE49-F238E27FC236}">
                <a16:creationId xmlns:a16="http://schemas.microsoft.com/office/drawing/2014/main" id="{165294CB-1261-680C-1615-CC78C6A7638D}"/>
              </a:ext>
            </a:extLst>
          </p:cNvPr>
          <p:cNvGrpSpPr/>
          <p:nvPr/>
        </p:nvGrpSpPr>
        <p:grpSpPr>
          <a:xfrm>
            <a:off x="1167596" y="4075299"/>
            <a:ext cx="7837508" cy="647715"/>
            <a:chOff x="0" y="0"/>
            <a:chExt cx="8452023" cy="698500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945EB43F-EB0B-21D4-C052-8BA658CEA232}"/>
                </a:ext>
              </a:extLst>
            </p:cNvPr>
            <p:cNvSpPr/>
            <p:nvPr/>
          </p:nvSpPr>
          <p:spPr>
            <a:xfrm>
              <a:off x="0" y="0"/>
              <a:ext cx="8452023" cy="698500"/>
            </a:xfrm>
            <a:custGeom>
              <a:avLst/>
              <a:gdLst/>
              <a:ahLst/>
              <a:cxnLst/>
              <a:rect l="l" t="t" r="r" b="b"/>
              <a:pathLst>
                <a:path w="8452023" h="698500">
                  <a:moveTo>
                    <a:pt x="8452023" y="349250"/>
                  </a:moveTo>
                  <a:lnTo>
                    <a:pt x="8248823" y="698500"/>
                  </a:lnTo>
                  <a:lnTo>
                    <a:pt x="203200" y="698500"/>
                  </a:lnTo>
                  <a:lnTo>
                    <a:pt x="0" y="349250"/>
                  </a:lnTo>
                  <a:lnTo>
                    <a:pt x="203200" y="0"/>
                  </a:lnTo>
                  <a:lnTo>
                    <a:pt x="8248823" y="0"/>
                  </a:lnTo>
                  <a:lnTo>
                    <a:pt x="8452023" y="349250"/>
                  </a:lnTo>
                  <a:close/>
                </a:path>
              </a:pathLst>
            </a:custGeom>
            <a:solidFill>
              <a:srgbClr val="10347A"/>
            </a:solidFill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E7CB2D35-02DA-C30D-2779-664C5154206B}"/>
                </a:ext>
              </a:extLst>
            </p:cNvPr>
            <p:cNvSpPr txBox="1"/>
            <p:nvPr/>
          </p:nvSpPr>
          <p:spPr>
            <a:xfrm>
              <a:off x="114300" y="-38100"/>
              <a:ext cx="8223423" cy="7366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2659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grpSp>
        <p:nvGrpSpPr>
          <p:cNvPr id="17" name="Group 17">
            <a:extLst>
              <a:ext uri="{FF2B5EF4-FFF2-40B4-BE49-F238E27FC236}">
                <a16:creationId xmlns:a16="http://schemas.microsoft.com/office/drawing/2014/main" id="{46AC9E5E-AA01-7993-B8F6-81404AE55ABE}"/>
              </a:ext>
            </a:extLst>
          </p:cNvPr>
          <p:cNvGrpSpPr/>
          <p:nvPr/>
        </p:nvGrpSpPr>
        <p:grpSpPr>
          <a:xfrm>
            <a:off x="0" y="10032423"/>
            <a:ext cx="18288000" cy="254577"/>
            <a:chOff x="0" y="0"/>
            <a:chExt cx="4816593" cy="67049"/>
          </a:xfrm>
        </p:grpSpPr>
        <p:sp>
          <p:nvSpPr>
            <p:cNvPr id="18" name="Freeform 18">
              <a:extLst>
                <a:ext uri="{FF2B5EF4-FFF2-40B4-BE49-F238E27FC236}">
                  <a16:creationId xmlns:a16="http://schemas.microsoft.com/office/drawing/2014/main" id="{825CEA26-17EF-98E0-CC1C-45BA70F1B794}"/>
                </a:ext>
              </a:extLst>
            </p:cNvPr>
            <p:cNvSpPr/>
            <p:nvPr/>
          </p:nvSpPr>
          <p:spPr>
            <a:xfrm>
              <a:off x="0" y="0"/>
              <a:ext cx="4816592" cy="67049"/>
            </a:xfrm>
            <a:custGeom>
              <a:avLst/>
              <a:gdLst/>
              <a:ahLst/>
              <a:cxnLst/>
              <a:rect l="l" t="t" r="r" b="b"/>
              <a:pathLst>
                <a:path w="4816592" h="67049">
                  <a:moveTo>
                    <a:pt x="0" y="0"/>
                  </a:moveTo>
                  <a:lnTo>
                    <a:pt x="4816592" y="0"/>
                  </a:lnTo>
                  <a:lnTo>
                    <a:pt x="4816592" y="67049"/>
                  </a:lnTo>
                  <a:lnTo>
                    <a:pt x="0" y="67049"/>
                  </a:lnTo>
                  <a:close/>
                </a:path>
              </a:pathLst>
            </a:custGeom>
            <a:gradFill rotWithShape="1">
              <a:gsLst>
                <a:gs pos="0">
                  <a:srgbClr val="002264">
                    <a:alpha val="100000"/>
                  </a:srgbClr>
                </a:gs>
                <a:gs pos="100000">
                  <a:srgbClr val="2D56A5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9" name="TextBox 19">
              <a:extLst>
                <a:ext uri="{FF2B5EF4-FFF2-40B4-BE49-F238E27FC236}">
                  <a16:creationId xmlns:a16="http://schemas.microsoft.com/office/drawing/2014/main" id="{746CE15C-6984-F27A-86CB-9EAAF1E74B53}"/>
                </a:ext>
              </a:extLst>
            </p:cNvPr>
            <p:cNvSpPr txBox="1"/>
            <p:nvPr/>
          </p:nvSpPr>
          <p:spPr>
            <a:xfrm>
              <a:off x="0" y="-38100"/>
              <a:ext cx="4816593" cy="10514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2659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grpSp>
        <p:nvGrpSpPr>
          <p:cNvPr id="20" name="Group 20">
            <a:extLst>
              <a:ext uri="{FF2B5EF4-FFF2-40B4-BE49-F238E27FC236}">
                <a16:creationId xmlns:a16="http://schemas.microsoft.com/office/drawing/2014/main" id="{697C7EAD-32A5-EFFF-E70C-26B1AB77A7C8}"/>
              </a:ext>
            </a:extLst>
          </p:cNvPr>
          <p:cNvGrpSpPr/>
          <p:nvPr/>
        </p:nvGrpSpPr>
        <p:grpSpPr>
          <a:xfrm rot="1816035">
            <a:off x="-566561" y="-953124"/>
            <a:ext cx="1473413" cy="3404505"/>
            <a:chOff x="0" y="0"/>
            <a:chExt cx="388059" cy="896660"/>
          </a:xfrm>
        </p:grpSpPr>
        <p:sp>
          <p:nvSpPr>
            <p:cNvPr id="21" name="Freeform 21">
              <a:extLst>
                <a:ext uri="{FF2B5EF4-FFF2-40B4-BE49-F238E27FC236}">
                  <a16:creationId xmlns:a16="http://schemas.microsoft.com/office/drawing/2014/main" id="{4AB30DB5-8321-1886-D007-870703CFFE07}"/>
                </a:ext>
              </a:extLst>
            </p:cNvPr>
            <p:cNvSpPr/>
            <p:nvPr/>
          </p:nvSpPr>
          <p:spPr>
            <a:xfrm>
              <a:off x="0" y="0"/>
              <a:ext cx="388059" cy="896660"/>
            </a:xfrm>
            <a:custGeom>
              <a:avLst/>
              <a:gdLst/>
              <a:ahLst/>
              <a:cxnLst/>
              <a:rect l="l" t="t" r="r" b="b"/>
              <a:pathLst>
                <a:path w="388059" h="896660">
                  <a:moveTo>
                    <a:pt x="0" y="0"/>
                  </a:moveTo>
                  <a:lnTo>
                    <a:pt x="388059" y="0"/>
                  </a:lnTo>
                  <a:lnTo>
                    <a:pt x="388059" y="896660"/>
                  </a:lnTo>
                  <a:lnTo>
                    <a:pt x="0" y="896660"/>
                  </a:lnTo>
                  <a:close/>
                </a:path>
              </a:pathLst>
            </a:custGeom>
            <a:gradFill rotWithShape="1">
              <a:gsLst>
                <a:gs pos="0">
                  <a:srgbClr val="002264">
                    <a:alpha val="100000"/>
                  </a:srgbClr>
                </a:gs>
                <a:gs pos="100000">
                  <a:srgbClr val="2D56A5">
                    <a:alpha val="100000"/>
                  </a:srgbClr>
                </a:gs>
              </a:gsLst>
              <a:lin ang="5400000"/>
            </a:gradFill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22" name="TextBox 22">
              <a:extLst>
                <a:ext uri="{FF2B5EF4-FFF2-40B4-BE49-F238E27FC236}">
                  <a16:creationId xmlns:a16="http://schemas.microsoft.com/office/drawing/2014/main" id="{CC0E9D64-949F-9827-338F-07388A594655}"/>
                </a:ext>
              </a:extLst>
            </p:cNvPr>
            <p:cNvSpPr txBox="1"/>
            <p:nvPr/>
          </p:nvSpPr>
          <p:spPr>
            <a:xfrm>
              <a:off x="0" y="-38100"/>
              <a:ext cx="388059" cy="93476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2659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grpSp>
        <p:nvGrpSpPr>
          <p:cNvPr id="23" name="Group 23">
            <a:extLst>
              <a:ext uri="{FF2B5EF4-FFF2-40B4-BE49-F238E27FC236}">
                <a16:creationId xmlns:a16="http://schemas.microsoft.com/office/drawing/2014/main" id="{BACB3B51-06E2-6760-0714-9355CA791D54}"/>
              </a:ext>
            </a:extLst>
          </p:cNvPr>
          <p:cNvGrpSpPr/>
          <p:nvPr/>
        </p:nvGrpSpPr>
        <p:grpSpPr>
          <a:xfrm rot="-1818000">
            <a:off x="17380520" y="-953124"/>
            <a:ext cx="1473413" cy="3404505"/>
            <a:chOff x="0" y="0"/>
            <a:chExt cx="388059" cy="896660"/>
          </a:xfrm>
        </p:grpSpPr>
        <p:sp>
          <p:nvSpPr>
            <p:cNvPr id="24" name="Freeform 24">
              <a:extLst>
                <a:ext uri="{FF2B5EF4-FFF2-40B4-BE49-F238E27FC236}">
                  <a16:creationId xmlns:a16="http://schemas.microsoft.com/office/drawing/2014/main" id="{D466751E-8647-2688-D67F-34AFA9C6F061}"/>
                </a:ext>
              </a:extLst>
            </p:cNvPr>
            <p:cNvSpPr/>
            <p:nvPr/>
          </p:nvSpPr>
          <p:spPr>
            <a:xfrm>
              <a:off x="0" y="0"/>
              <a:ext cx="388059" cy="896660"/>
            </a:xfrm>
            <a:custGeom>
              <a:avLst/>
              <a:gdLst/>
              <a:ahLst/>
              <a:cxnLst/>
              <a:rect l="l" t="t" r="r" b="b"/>
              <a:pathLst>
                <a:path w="388059" h="896660">
                  <a:moveTo>
                    <a:pt x="0" y="0"/>
                  </a:moveTo>
                  <a:lnTo>
                    <a:pt x="388059" y="0"/>
                  </a:lnTo>
                  <a:lnTo>
                    <a:pt x="388059" y="896660"/>
                  </a:lnTo>
                  <a:lnTo>
                    <a:pt x="0" y="896660"/>
                  </a:lnTo>
                  <a:close/>
                </a:path>
              </a:pathLst>
            </a:custGeom>
            <a:gradFill rotWithShape="1">
              <a:gsLst>
                <a:gs pos="0">
                  <a:srgbClr val="002264">
                    <a:alpha val="100000"/>
                  </a:srgbClr>
                </a:gs>
                <a:gs pos="100000">
                  <a:srgbClr val="2D56A5">
                    <a:alpha val="100000"/>
                  </a:srgbClr>
                </a:gs>
              </a:gsLst>
              <a:lin ang="5400000"/>
            </a:gradFill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25" name="TextBox 25">
              <a:extLst>
                <a:ext uri="{FF2B5EF4-FFF2-40B4-BE49-F238E27FC236}">
                  <a16:creationId xmlns:a16="http://schemas.microsoft.com/office/drawing/2014/main" id="{CFF3D238-FC5B-EB9C-626A-61BE90550B43}"/>
                </a:ext>
              </a:extLst>
            </p:cNvPr>
            <p:cNvSpPr txBox="1"/>
            <p:nvPr/>
          </p:nvSpPr>
          <p:spPr>
            <a:xfrm>
              <a:off x="0" y="-38100"/>
              <a:ext cx="388059" cy="93476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2659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26" name="Freeform 26">
            <a:extLst>
              <a:ext uri="{FF2B5EF4-FFF2-40B4-BE49-F238E27FC236}">
                <a16:creationId xmlns:a16="http://schemas.microsoft.com/office/drawing/2014/main" id="{AA59E5AB-6172-B9A6-D9AA-5BE8E0CA647B}"/>
              </a:ext>
            </a:extLst>
          </p:cNvPr>
          <p:cNvSpPr/>
          <p:nvPr/>
        </p:nvSpPr>
        <p:spPr>
          <a:xfrm>
            <a:off x="3895720" y="1028700"/>
            <a:ext cx="764904" cy="406407"/>
          </a:xfrm>
          <a:custGeom>
            <a:avLst/>
            <a:gdLst/>
            <a:ahLst/>
            <a:cxnLst/>
            <a:rect l="l" t="t" r="r" b="b"/>
            <a:pathLst>
              <a:path w="764904" h="406407">
                <a:moveTo>
                  <a:pt x="0" y="0"/>
                </a:moveTo>
                <a:lnTo>
                  <a:pt x="764904" y="0"/>
                </a:lnTo>
                <a:lnTo>
                  <a:pt x="764904" y="406407"/>
                </a:lnTo>
                <a:lnTo>
                  <a:pt x="0" y="40640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r="-111469"/>
            </a:stretch>
          </a:blip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7" name="Freeform 27">
            <a:extLst>
              <a:ext uri="{FF2B5EF4-FFF2-40B4-BE49-F238E27FC236}">
                <a16:creationId xmlns:a16="http://schemas.microsoft.com/office/drawing/2014/main" id="{A0BFDE93-31FA-E97F-C0BD-682366459AFA}"/>
              </a:ext>
            </a:extLst>
          </p:cNvPr>
          <p:cNvSpPr/>
          <p:nvPr/>
        </p:nvSpPr>
        <p:spPr>
          <a:xfrm flipH="1">
            <a:off x="13627376" y="1028700"/>
            <a:ext cx="764904" cy="406407"/>
          </a:xfrm>
          <a:custGeom>
            <a:avLst/>
            <a:gdLst/>
            <a:ahLst/>
            <a:cxnLst/>
            <a:rect l="l" t="t" r="r" b="b"/>
            <a:pathLst>
              <a:path w="764904" h="406407">
                <a:moveTo>
                  <a:pt x="764904" y="0"/>
                </a:moveTo>
                <a:lnTo>
                  <a:pt x="0" y="0"/>
                </a:lnTo>
                <a:lnTo>
                  <a:pt x="0" y="406407"/>
                </a:lnTo>
                <a:lnTo>
                  <a:pt x="764904" y="406407"/>
                </a:lnTo>
                <a:lnTo>
                  <a:pt x="764904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r="-111469"/>
            </a:stretch>
          </a:blip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8" name="Freeform 28">
            <a:extLst>
              <a:ext uri="{FF2B5EF4-FFF2-40B4-BE49-F238E27FC236}">
                <a16:creationId xmlns:a16="http://schemas.microsoft.com/office/drawing/2014/main" id="{16961909-0752-E8EC-FFBF-7AA761F392C2}"/>
              </a:ext>
            </a:extLst>
          </p:cNvPr>
          <p:cNvSpPr/>
          <p:nvPr/>
        </p:nvSpPr>
        <p:spPr>
          <a:xfrm>
            <a:off x="1423899" y="4180778"/>
            <a:ext cx="401426" cy="401426"/>
          </a:xfrm>
          <a:custGeom>
            <a:avLst/>
            <a:gdLst/>
            <a:ahLst/>
            <a:cxnLst/>
            <a:rect l="l" t="t" r="r" b="b"/>
            <a:pathLst>
              <a:path w="401426" h="401426">
                <a:moveTo>
                  <a:pt x="0" y="0"/>
                </a:moveTo>
                <a:lnTo>
                  <a:pt x="401426" y="0"/>
                </a:lnTo>
                <a:lnTo>
                  <a:pt x="401426" y="401426"/>
                </a:lnTo>
                <a:lnTo>
                  <a:pt x="0" y="40142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3" name="TextBox 33">
            <a:extLst>
              <a:ext uri="{FF2B5EF4-FFF2-40B4-BE49-F238E27FC236}">
                <a16:creationId xmlns:a16="http://schemas.microsoft.com/office/drawing/2014/main" id="{BED5F2C3-704A-4E24-7327-CCA908C1E5D3}"/>
              </a:ext>
            </a:extLst>
          </p:cNvPr>
          <p:cNvSpPr txBox="1"/>
          <p:nvPr/>
        </p:nvSpPr>
        <p:spPr>
          <a:xfrm>
            <a:off x="3894392" y="189027"/>
            <a:ext cx="10497887" cy="221599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marR="0" lvl="0" indent="0" algn="ctr" defTabSz="914400" rtl="0" eaLnBrk="1" fontAlgn="auto" latinLnBrk="0" hangingPunct="1"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800" b="1" i="0" u="none" strike="noStrike" kern="1200" cap="none" spc="0" normalizeH="0" baseline="0" noProof="0" dirty="0">
                <a:ln>
                  <a:noFill/>
                </a:ln>
                <a:solidFill>
                  <a:srgbClr val="10347A"/>
                </a:solidFill>
                <a:effectLst/>
                <a:uLnTx/>
                <a:uFillTx/>
                <a:latin typeface="Montaser Arabic Bold"/>
                <a:ea typeface="Montaser Arabic Bold"/>
                <a:cs typeface="Montaser Arabic Bold"/>
                <a:sym typeface="Montaser Arabic Bold"/>
              </a:rPr>
              <a:t>Data preparation </a:t>
            </a:r>
          </a:p>
          <a:p>
            <a:pPr marL="0" marR="0" lvl="0" indent="0" algn="ctr" defTabSz="914400" rtl="0" eaLnBrk="1" fontAlgn="auto" latinLnBrk="0" hangingPunct="1"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4800" b="1" dirty="0">
                <a:solidFill>
                  <a:srgbClr val="10347A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&amp; </a:t>
            </a:r>
          </a:p>
          <a:p>
            <a:pPr marL="0" marR="0" lvl="0" indent="0" algn="ctr" defTabSz="914400" rtl="0" eaLnBrk="1" fontAlgn="auto" latinLnBrk="0" hangingPunct="1"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800" b="1" i="0" u="none" strike="noStrike" kern="1200" cap="none" spc="0" normalizeH="0" baseline="0" noProof="0" dirty="0">
                <a:ln>
                  <a:noFill/>
                </a:ln>
                <a:solidFill>
                  <a:srgbClr val="10347A"/>
                </a:solidFill>
                <a:effectLst/>
                <a:uLnTx/>
                <a:uFillTx/>
                <a:latin typeface="Montaser Arabic Bold"/>
                <a:ea typeface="Montaser Arabic Bold"/>
                <a:cs typeface="Montaser Arabic Bold"/>
                <a:sym typeface="Montaser Arabic Bold"/>
              </a:rPr>
              <a:t>transformation</a:t>
            </a:r>
          </a:p>
        </p:txBody>
      </p:sp>
      <p:sp>
        <p:nvSpPr>
          <p:cNvPr id="34" name="TextBox 34">
            <a:extLst>
              <a:ext uri="{FF2B5EF4-FFF2-40B4-BE49-F238E27FC236}">
                <a16:creationId xmlns:a16="http://schemas.microsoft.com/office/drawing/2014/main" id="{A6375995-D9D2-E27A-FF7B-B0695C7982E0}"/>
              </a:ext>
            </a:extLst>
          </p:cNvPr>
          <p:cNvSpPr txBox="1"/>
          <p:nvPr/>
        </p:nvSpPr>
        <p:spPr>
          <a:xfrm>
            <a:off x="1198919" y="2716073"/>
            <a:ext cx="15952808" cy="13080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lvl="0" algn="just">
              <a:lnSpc>
                <a:spcPts val="3359"/>
              </a:lnSpc>
            </a:pPr>
            <a:r>
              <a:rPr lang="en-US" sz="3200" dirty="0"/>
              <a:t>Data </a:t>
            </a:r>
            <a:r>
              <a:rPr lang="en-US" sz="4000" b="1" dirty="0">
                <a:solidFill>
                  <a:schemeClr val="tx2"/>
                </a:solidFill>
              </a:rPr>
              <a:t>cleaning</a:t>
            </a:r>
            <a:r>
              <a:rPr lang="en-US" sz="3200" dirty="0"/>
              <a:t> ensured accuracy and consistency by removing errors, duplicates, and invalid values before analysis. </a:t>
            </a:r>
            <a:r>
              <a:rPr lang="en-US" sz="4000" b="1" dirty="0">
                <a:solidFill>
                  <a:schemeClr val="tx2"/>
                </a:solidFill>
              </a:rPr>
              <a:t>Normalization</a:t>
            </a:r>
            <a:r>
              <a:rPr lang="en-US" sz="3200" dirty="0"/>
              <a:t> then organized the cleaned data into structured tables (1NF–3NF), reducing redundancy and improving data integrity for efficient querying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srgbClr val="00060D"/>
              </a:solidFill>
              <a:effectLst/>
              <a:uLnTx/>
              <a:uFillTx/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5" name="TextBox 35">
            <a:extLst>
              <a:ext uri="{FF2B5EF4-FFF2-40B4-BE49-F238E27FC236}">
                <a16:creationId xmlns:a16="http://schemas.microsoft.com/office/drawing/2014/main" id="{D954C402-01EE-7E5D-1C6F-981545692107}"/>
              </a:ext>
            </a:extLst>
          </p:cNvPr>
          <p:cNvSpPr txBox="1"/>
          <p:nvPr/>
        </p:nvSpPr>
        <p:spPr>
          <a:xfrm>
            <a:off x="1083132" y="4762644"/>
            <a:ext cx="17203354" cy="488838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en-US" sz="2800" b="1" dirty="0"/>
              <a:t>Data Cleaning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800" dirty="0"/>
              <a:t>Remove duplicate records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800" dirty="0"/>
              <a:t>Handle missing values appropriately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800" dirty="0"/>
              <a:t>Standardize date, text, and numeric formats 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800" dirty="0"/>
              <a:t>Ensure consistency across all datasets 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800" dirty="0"/>
              <a:t>Product name standardization  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800" dirty="0"/>
              <a:t>Product name with more than 1 ID (</a:t>
            </a:r>
            <a:r>
              <a:rPr lang="en-US" sz="2800" dirty="0">
                <a:solidFill>
                  <a:schemeClr val="accent1">
                    <a:lumMod val="50000"/>
                  </a:schemeClr>
                </a:solidFill>
              </a:rPr>
              <a:t>Group BY, filter, replace</a:t>
            </a:r>
            <a:r>
              <a:rPr lang="en-US" sz="2800" dirty="0"/>
              <a:t>)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800" dirty="0"/>
              <a:t>Clean white spaces by Remove leading/trailing. </a:t>
            </a:r>
          </a:p>
        </p:txBody>
      </p:sp>
      <p:sp>
        <p:nvSpPr>
          <p:cNvPr id="39" name="TextBox 39">
            <a:extLst>
              <a:ext uri="{FF2B5EF4-FFF2-40B4-BE49-F238E27FC236}">
                <a16:creationId xmlns:a16="http://schemas.microsoft.com/office/drawing/2014/main" id="{8583ADD6-31F7-1D78-8C38-2BAE230C2ADD}"/>
              </a:ext>
            </a:extLst>
          </p:cNvPr>
          <p:cNvSpPr txBox="1"/>
          <p:nvPr/>
        </p:nvSpPr>
        <p:spPr>
          <a:xfrm>
            <a:off x="1949807" y="4196825"/>
            <a:ext cx="6949308" cy="49244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lvl="0">
              <a:defRPr/>
            </a:pPr>
            <a:r>
              <a:rPr lang="en-US" sz="3200" b="1" dirty="0">
                <a:solidFill>
                  <a:schemeClr val="bg1"/>
                </a:solidFill>
              </a:rPr>
              <a:t>Data cleaning (excel, SQL, Python)</a:t>
            </a:r>
            <a:endParaRPr lang="en-US" sz="3200" dirty="0">
              <a:solidFill>
                <a:schemeClr val="bg1"/>
              </a:solidFill>
            </a:endParaRPr>
          </a:p>
        </p:txBody>
      </p:sp>
      <p:pic>
        <p:nvPicPr>
          <p:cNvPr id="1033" name="Picture 9">
            <a:extLst>
              <a:ext uri="{FF2B5EF4-FFF2-40B4-BE49-F238E27FC236}">
                <a16:creationId xmlns:a16="http://schemas.microsoft.com/office/drawing/2014/main" id="{8EFAC774-2068-0579-EC09-2D7C30FAEED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8899115" y="4260852"/>
            <a:ext cx="3308115" cy="35241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5" name="Picture 44">
            <a:extLst>
              <a:ext uri="{FF2B5EF4-FFF2-40B4-BE49-F238E27FC236}">
                <a16:creationId xmlns:a16="http://schemas.microsoft.com/office/drawing/2014/main" id="{88D30AB4-4292-DD4B-F3FF-0EB60515FC08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4196527" y="4309006"/>
            <a:ext cx="3496015" cy="2949745"/>
          </a:xfrm>
          <a:prstGeom prst="rect">
            <a:avLst/>
          </a:prstGeom>
        </p:spPr>
      </p:pic>
      <p:pic>
        <p:nvPicPr>
          <p:cNvPr id="1035" name="Picture 11">
            <a:extLst>
              <a:ext uri="{FF2B5EF4-FFF2-40B4-BE49-F238E27FC236}">
                <a16:creationId xmlns:a16="http://schemas.microsoft.com/office/drawing/2014/main" id="{E7028F15-FFC1-8917-8C86-1142D02522C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854575" y="7507601"/>
            <a:ext cx="4767748" cy="2095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3913370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50D1C5B3-B60D-4696-AE60-100D5EC8AB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8288000" cy="10287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5184EE59-3061-456B-9FB5-98A8E0E74B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2115126" y="2115123"/>
            <a:ext cx="10287000" cy="6056754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F7E07B5E-9FB5-4C91-8BE4-6167EB58D0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2115128" y="2130329"/>
            <a:ext cx="10286999" cy="605675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37524947-EB09-4DD9-973B-9F75BBCD72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1151885" y="5382128"/>
            <a:ext cx="3752969" cy="6056762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D30C8E25-2DD1-45C6-9F04-0F0CBF6660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2115143" y="2115119"/>
            <a:ext cx="10287005" cy="6056753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BC57EA3C-C239-4132-A618-5CBE9F896B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752605" y="1454577"/>
            <a:ext cx="5850535" cy="6268437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8CEF9BA-6912-7BD0-E06B-FEAB7A32A9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599" y="684517"/>
            <a:ext cx="5622859" cy="5334146"/>
          </a:xfrm>
        </p:spPr>
        <p:txBody>
          <a:bodyPr vert="horz" lIns="137160" tIns="68580" rIns="137160" bIns="68580" rtlCol="0" anchor="b">
            <a:normAutofit/>
          </a:bodyPr>
          <a:lstStyle/>
          <a:p>
            <a:r>
              <a:rPr lang="en-US" sz="5600" dirty="0">
                <a:solidFill>
                  <a:srgbClr val="FFFFFF"/>
                </a:solidFill>
              </a:rPr>
              <a:t>Overview after normalization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C36BDA13-C68E-C654-13D5-FF0D4A354A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5335" y="873477"/>
            <a:ext cx="5375514" cy="4574823"/>
          </a:xfrm>
          <a:prstGeom prst="rect">
            <a:avLst/>
          </a:prstGeom>
          <a:ln>
            <a:solidFill>
              <a:schemeClr val="tx2">
                <a:lumMod val="50000"/>
              </a:schemeClr>
            </a:solidFill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9211429-4343-2386-8CB7-DD087228EE4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429645" y="873477"/>
            <a:ext cx="5096355" cy="4574823"/>
          </a:xfrm>
          <a:prstGeom prst="rect">
            <a:avLst/>
          </a:prstGeom>
          <a:ln>
            <a:solidFill>
              <a:schemeClr val="tx2">
                <a:lumMod val="50000"/>
              </a:schemeClr>
            </a:solidFill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ECEB2CA-F7D4-61BC-AE63-B0836CBDDA8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5336" y="6018664"/>
            <a:ext cx="5375514" cy="3849236"/>
          </a:xfrm>
          <a:prstGeom prst="rect">
            <a:avLst/>
          </a:prstGeom>
          <a:ln>
            <a:solidFill>
              <a:schemeClr val="tx2">
                <a:lumMod val="50000"/>
              </a:schemeClr>
            </a:solidFill>
          </a:ln>
        </p:spPr>
      </p:pic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D45A5F0-4214-1CA3-8898-9DB60AB7528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429644" y="6018663"/>
            <a:ext cx="5096355" cy="3849236"/>
          </a:xfrm>
          <a:prstGeom prst="rect">
            <a:avLst/>
          </a:prstGeom>
          <a:ln>
            <a:solidFill>
              <a:schemeClr val="tx2">
                <a:lumMod val="50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3295875106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spd="med">
        <p15:prstTrans prst="fallOver"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1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1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2689881-F228-41F4-A27A-EC35A32EF8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8288000" cy="10287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1199E1B1-A8C0-4FE8-A5A8-1CB41D69F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3" y="0"/>
            <a:ext cx="18287997" cy="2363932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4A8DE83-DE75-4B41-9DB4-A7EC0B0DEC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3284" cy="236319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A7009A0A-BEF5-4EAC-AF15-E4F9F002E2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4" y="-1"/>
            <a:ext cx="18288002" cy="2361466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607B9B8-E84A-96D8-9C6C-FDB309732C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9569" y="372057"/>
            <a:ext cx="10595582" cy="173880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>
              <a:lnSpc>
                <a:spcPct val="90000"/>
              </a:lnSpc>
            </a:pPr>
            <a:r>
              <a:rPr lang="en-US" sz="6000" b="1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Data Model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70031" y="2949439"/>
            <a:ext cx="10947936" cy="66782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1127606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spd="med">
        <p15:prstTrans prst="fallOver"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6"/>
          <p:cNvGrpSpPr/>
          <p:nvPr/>
        </p:nvGrpSpPr>
        <p:grpSpPr>
          <a:xfrm>
            <a:off x="2133600" y="416194"/>
            <a:ext cx="10312394" cy="806030"/>
            <a:chOff x="0" y="0"/>
            <a:chExt cx="4051749" cy="6985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4051749" cy="698500"/>
            </a:xfrm>
            <a:custGeom>
              <a:avLst/>
              <a:gdLst/>
              <a:ahLst/>
              <a:cxnLst/>
              <a:rect l="l" t="t" r="r" b="b"/>
              <a:pathLst>
                <a:path w="4051749" h="698500">
                  <a:moveTo>
                    <a:pt x="4051749" y="349250"/>
                  </a:moveTo>
                  <a:lnTo>
                    <a:pt x="3848549" y="698500"/>
                  </a:lnTo>
                  <a:lnTo>
                    <a:pt x="203200" y="698500"/>
                  </a:lnTo>
                  <a:lnTo>
                    <a:pt x="0" y="349250"/>
                  </a:lnTo>
                  <a:lnTo>
                    <a:pt x="203200" y="0"/>
                  </a:lnTo>
                  <a:lnTo>
                    <a:pt x="3848549" y="0"/>
                  </a:lnTo>
                  <a:lnTo>
                    <a:pt x="4051749" y="349250"/>
                  </a:lnTo>
                  <a:close/>
                </a:path>
              </a:pathLst>
            </a:custGeom>
            <a:solidFill>
              <a:srgbClr val="10347A"/>
            </a:solidFill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114300" y="-38100"/>
              <a:ext cx="3823149" cy="7366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3" name="TextBox 13"/>
          <p:cNvSpPr txBox="1"/>
          <p:nvPr/>
        </p:nvSpPr>
        <p:spPr>
          <a:xfrm>
            <a:off x="1067996" y="4018867"/>
            <a:ext cx="7445358" cy="711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800"/>
              </a:lnSpc>
            </a:pPr>
            <a:r>
              <a:rPr lang="en-US" sz="2000" dirty="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Delays in production and distribution are causing stock shortages, which negatively impacts sales and customer satisfaction.</a:t>
            </a:r>
          </a:p>
        </p:txBody>
      </p:sp>
      <p:sp>
        <p:nvSpPr>
          <p:cNvPr id="14" name="Freeform 14"/>
          <p:cNvSpPr/>
          <p:nvPr/>
        </p:nvSpPr>
        <p:spPr>
          <a:xfrm>
            <a:off x="3688260" y="706182"/>
            <a:ext cx="328079" cy="328079"/>
          </a:xfrm>
          <a:custGeom>
            <a:avLst/>
            <a:gdLst/>
            <a:ahLst/>
            <a:cxnLst/>
            <a:rect l="l" t="t" r="r" b="b"/>
            <a:pathLst>
              <a:path w="328079" h="328079">
                <a:moveTo>
                  <a:pt x="0" y="0"/>
                </a:moveTo>
                <a:lnTo>
                  <a:pt x="328079" y="0"/>
                </a:lnTo>
                <a:lnTo>
                  <a:pt x="328079" y="328079"/>
                </a:lnTo>
                <a:lnTo>
                  <a:pt x="0" y="32807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6" name="TextBox 16"/>
          <p:cNvSpPr txBox="1"/>
          <p:nvPr/>
        </p:nvSpPr>
        <p:spPr>
          <a:xfrm>
            <a:off x="5280085" y="609674"/>
            <a:ext cx="5387920" cy="3751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20"/>
              </a:lnSpc>
            </a:pPr>
            <a:r>
              <a:rPr lang="en-US" sz="2400" b="1" dirty="0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Data cleaning screenshots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067996" y="6049700"/>
            <a:ext cx="7445358" cy="711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800"/>
              </a:lnSpc>
            </a:pPr>
            <a:r>
              <a:rPr lang="en-US" sz="2000" dirty="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Sales processes are inefficient, causing delays and missed opportunities, especially during peak demand.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1496183" y="7549666"/>
            <a:ext cx="5387920" cy="3981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20"/>
              </a:lnSpc>
            </a:pPr>
            <a:r>
              <a:rPr lang="en-US" sz="2400" b="1" dirty="0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SHIFTS IN CONSUMER BEHAVIOR</a:t>
            </a:r>
          </a:p>
        </p:txBody>
      </p:sp>
      <p:grpSp>
        <p:nvGrpSpPr>
          <p:cNvPr id="30" name="Group 30"/>
          <p:cNvGrpSpPr/>
          <p:nvPr/>
        </p:nvGrpSpPr>
        <p:grpSpPr>
          <a:xfrm>
            <a:off x="0" y="10032423"/>
            <a:ext cx="18288000" cy="254577"/>
            <a:chOff x="0" y="0"/>
            <a:chExt cx="4816593" cy="67049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4816592" cy="67049"/>
            </a:xfrm>
            <a:custGeom>
              <a:avLst/>
              <a:gdLst/>
              <a:ahLst/>
              <a:cxnLst/>
              <a:rect l="l" t="t" r="r" b="b"/>
              <a:pathLst>
                <a:path w="4816592" h="67049">
                  <a:moveTo>
                    <a:pt x="0" y="0"/>
                  </a:moveTo>
                  <a:lnTo>
                    <a:pt x="4816592" y="0"/>
                  </a:lnTo>
                  <a:lnTo>
                    <a:pt x="4816592" y="67049"/>
                  </a:lnTo>
                  <a:lnTo>
                    <a:pt x="0" y="67049"/>
                  </a:lnTo>
                  <a:close/>
                </a:path>
              </a:pathLst>
            </a:custGeom>
            <a:gradFill rotWithShape="1">
              <a:gsLst>
                <a:gs pos="0">
                  <a:srgbClr val="002264">
                    <a:alpha val="100000"/>
                  </a:srgbClr>
                </a:gs>
                <a:gs pos="100000">
                  <a:srgbClr val="2D56A5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US"/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0" y="-38100"/>
              <a:ext cx="4816593" cy="10514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0" y="0"/>
            <a:ext cx="18288000" cy="254577"/>
            <a:chOff x="0" y="0"/>
            <a:chExt cx="4816593" cy="67049"/>
          </a:xfrm>
        </p:grpSpPr>
        <p:sp>
          <p:nvSpPr>
            <p:cNvPr id="34" name="Freeform 34"/>
            <p:cNvSpPr/>
            <p:nvPr/>
          </p:nvSpPr>
          <p:spPr>
            <a:xfrm>
              <a:off x="0" y="0"/>
              <a:ext cx="4816592" cy="67049"/>
            </a:xfrm>
            <a:custGeom>
              <a:avLst/>
              <a:gdLst/>
              <a:ahLst/>
              <a:cxnLst/>
              <a:rect l="l" t="t" r="r" b="b"/>
              <a:pathLst>
                <a:path w="4816592" h="67049">
                  <a:moveTo>
                    <a:pt x="0" y="0"/>
                  </a:moveTo>
                  <a:lnTo>
                    <a:pt x="4816592" y="0"/>
                  </a:lnTo>
                  <a:lnTo>
                    <a:pt x="4816592" y="67049"/>
                  </a:lnTo>
                  <a:lnTo>
                    <a:pt x="0" y="67049"/>
                  </a:lnTo>
                  <a:close/>
                </a:path>
              </a:pathLst>
            </a:custGeom>
            <a:gradFill rotWithShape="1">
              <a:gsLst>
                <a:gs pos="0">
                  <a:srgbClr val="002264">
                    <a:alpha val="100000"/>
                  </a:srgbClr>
                </a:gs>
                <a:gs pos="100000">
                  <a:srgbClr val="2D56A5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US"/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0" y="-38100"/>
              <a:ext cx="4816593" cy="10514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12805410" y="9437029"/>
            <a:ext cx="8200805" cy="1699941"/>
            <a:chOff x="0" y="0"/>
            <a:chExt cx="3369683" cy="698500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3369683" cy="698500"/>
            </a:xfrm>
            <a:custGeom>
              <a:avLst/>
              <a:gdLst/>
              <a:ahLst/>
              <a:cxnLst/>
              <a:rect l="l" t="t" r="r" b="b"/>
              <a:pathLst>
                <a:path w="3369683" h="698500">
                  <a:moveTo>
                    <a:pt x="3369683" y="349250"/>
                  </a:moveTo>
                  <a:lnTo>
                    <a:pt x="3166483" y="698500"/>
                  </a:lnTo>
                  <a:lnTo>
                    <a:pt x="203200" y="698500"/>
                  </a:lnTo>
                  <a:lnTo>
                    <a:pt x="0" y="349250"/>
                  </a:lnTo>
                  <a:lnTo>
                    <a:pt x="203200" y="0"/>
                  </a:lnTo>
                  <a:lnTo>
                    <a:pt x="3166483" y="0"/>
                  </a:lnTo>
                  <a:lnTo>
                    <a:pt x="3369683" y="349250"/>
                  </a:lnTo>
                  <a:close/>
                </a:path>
              </a:pathLst>
            </a:custGeom>
            <a:gradFill rotWithShape="1">
              <a:gsLst>
                <a:gs pos="0">
                  <a:srgbClr val="002264">
                    <a:alpha val="100000"/>
                  </a:srgbClr>
                </a:gs>
                <a:gs pos="100000">
                  <a:srgbClr val="2D56A5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US"/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114300" y="-38100"/>
              <a:ext cx="3141083" cy="7366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39" name="Freeform 39"/>
          <p:cNvSpPr/>
          <p:nvPr/>
        </p:nvSpPr>
        <p:spPr>
          <a:xfrm>
            <a:off x="10514468" y="9258300"/>
            <a:ext cx="764904" cy="406407"/>
          </a:xfrm>
          <a:custGeom>
            <a:avLst/>
            <a:gdLst/>
            <a:ahLst/>
            <a:cxnLst/>
            <a:rect l="l" t="t" r="r" b="b"/>
            <a:pathLst>
              <a:path w="764904" h="406407">
                <a:moveTo>
                  <a:pt x="0" y="0"/>
                </a:moveTo>
                <a:lnTo>
                  <a:pt x="764904" y="0"/>
                </a:lnTo>
                <a:lnTo>
                  <a:pt x="764904" y="406407"/>
                </a:lnTo>
                <a:lnTo>
                  <a:pt x="0" y="40640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r="-111469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0" name="Freeform 40"/>
          <p:cNvSpPr/>
          <p:nvPr/>
        </p:nvSpPr>
        <p:spPr>
          <a:xfrm>
            <a:off x="16494396" y="788244"/>
            <a:ext cx="764904" cy="406407"/>
          </a:xfrm>
          <a:custGeom>
            <a:avLst/>
            <a:gdLst/>
            <a:ahLst/>
            <a:cxnLst/>
            <a:rect l="l" t="t" r="r" b="b"/>
            <a:pathLst>
              <a:path w="764904" h="406407">
                <a:moveTo>
                  <a:pt x="0" y="0"/>
                </a:moveTo>
                <a:lnTo>
                  <a:pt x="764904" y="0"/>
                </a:lnTo>
                <a:lnTo>
                  <a:pt x="764904" y="406406"/>
                </a:lnTo>
                <a:lnTo>
                  <a:pt x="0" y="40640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r="-111469"/>
            </a:stretch>
          </a:blipFill>
        </p:spPr>
        <p:txBody>
          <a:bodyPr/>
          <a:lstStyle/>
          <a:p>
            <a:endParaRPr lang="en-US"/>
          </a:p>
        </p:txBody>
      </p:sp>
      <p:pic>
        <p:nvPicPr>
          <p:cNvPr id="4" name="Picture 3" descr="A screenshot of a computer">
            <a:extLst>
              <a:ext uri="{FF2B5EF4-FFF2-40B4-BE49-F238E27FC236}">
                <a16:creationId xmlns:a16="http://schemas.microsoft.com/office/drawing/2014/main" id="{FF1516BE-A4EA-7DEB-37BC-4A9112429CF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4715" y="2386878"/>
            <a:ext cx="5672685" cy="6310516"/>
          </a:xfrm>
          <a:prstGeom prst="rect">
            <a:avLst/>
          </a:prstGeom>
          <a:ln>
            <a:solidFill>
              <a:schemeClr val="tx2"/>
            </a:solidFill>
          </a:ln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8B454C59-537C-EA82-34B5-CE30B5393119}"/>
              </a:ext>
            </a:extLst>
          </p:cNvPr>
          <p:cNvSpPr txBox="1"/>
          <p:nvPr/>
        </p:nvSpPr>
        <p:spPr>
          <a:xfrm>
            <a:off x="2286000" y="1431979"/>
            <a:ext cx="598549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800" b="1" dirty="0">
                <a:solidFill>
                  <a:schemeClr val="tx2"/>
                </a:solidFill>
              </a:rPr>
              <a:t>Product ID &amp; Name repetition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686A95C-6692-C7C5-384C-D8B5B1941F9A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445994" y="2407692"/>
            <a:ext cx="5407495" cy="6254479"/>
          </a:xfrm>
          <a:prstGeom prst="rect">
            <a:avLst/>
          </a:prstGeom>
          <a:ln>
            <a:solidFill>
              <a:schemeClr val="tx2"/>
            </a:solidFill>
          </a:ln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8EB8478B-051F-8EC0-071D-EAE15971AFC3}"/>
              </a:ext>
            </a:extLst>
          </p:cNvPr>
          <p:cNvSpPr txBox="1"/>
          <p:nvPr/>
        </p:nvSpPr>
        <p:spPr>
          <a:xfrm>
            <a:off x="13664629" y="1572280"/>
            <a:ext cx="281314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2800" b="1" dirty="0">
                <a:solidFill>
                  <a:schemeClr val="tx2">
                    <a:lumMod val="75000"/>
                  </a:schemeClr>
                </a:solidFill>
              </a:rPr>
              <a:t>Missing values</a:t>
            </a:r>
          </a:p>
        </p:txBody>
      </p:sp>
      <p:pic>
        <p:nvPicPr>
          <p:cNvPr id="11" name="Picture 10" descr="A screenshot of a computer">
            <a:extLst>
              <a:ext uri="{FF2B5EF4-FFF2-40B4-BE49-F238E27FC236}">
                <a16:creationId xmlns:a16="http://schemas.microsoft.com/office/drawing/2014/main" id="{668DFF01-B3E8-C215-B65D-9F7FC33AE391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04510" y="2339189"/>
            <a:ext cx="5672686" cy="6322982"/>
          </a:xfrm>
          <a:prstGeom prst="rect">
            <a:avLst/>
          </a:prstGeom>
          <a:ln>
            <a:solidFill>
              <a:schemeClr val="tx2"/>
            </a:solidFill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D69D73-FE1A-3D4A-9A67-11F833A924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4">
            <a:extLst>
              <a:ext uri="{FF2B5EF4-FFF2-40B4-BE49-F238E27FC236}">
                <a16:creationId xmlns:a16="http://schemas.microsoft.com/office/drawing/2014/main" id="{E2BC6D7C-65C9-2243-4D98-0834E7D7293C}"/>
              </a:ext>
            </a:extLst>
          </p:cNvPr>
          <p:cNvSpPr txBox="1"/>
          <p:nvPr/>
        </p:nvSpPr>
        <p:spPr>
          <a:xfrm>
            <a:off x="461399" y="1816360"/>
            <a:ext cx="6781800" cy="46166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spcBef>
                <a:spcPct val="0"/>
              </a:spcBef>
            </a:pPr>
            <a:r>
              <a:rPr lang="en-US" sz="3000" b="1" dirty="0">
                <a:solidFill>
                  <a:srgbClr val="10347A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SQL</a:t>
            </a:r>
          </a:p>
        </p:txBody>
      </p:sp>
      <p:grpSp>
        <p:nvGrpSpPr>
          <p:cNvPr id="6" name="Group 6">
            <a:extLst>
              <a:ext uri="{FF2B5EF4-FFF2-40B4-BE49-F238E27FC236}">
                <a16:creationId xmlns:a16="http://schemas.microsoft.com/office/drawing/2014/main" id="{55C24D77-0C7D-6828-D4D5-712A778F10B5}"/>
              </a:ext>
            </a:extLst>
          </p:cNvPr>
          <p:cNvGrpSpPr/>
          <p:nvPr/>
        </p:nvGrpSpPr>
        <p:grpSpPr>
          <a:xfrm>
            <a:off x="2133600" y="416194"/>
            <a:ext cx="10312394" cy="806030"/>
            <a:chOff x="0" y="0"/>
            <a:chExt cx="4051749" cy="698500"/>
          </a:xfrm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A96709DC-CECF-B779-F8EF-3CF26C202AA1}"/>
                </a:ext>
              </a:extLst>
            </p:cNvPr>
            <p:cNvSpPr/>
            <p:nvPr/>
          </p:nvSpPr>
          <p:spPr>
            <a:xfrm>
              <a:off x="0" y="0"/>
              <a:ext cx="4051749" cy="698500"/>
            </a:xfrm>
            <a:custGeom>
              <a:avLst/>
              <a:gdLst/>
              <a:ahLst/>
              <a:cxnLst/>
              <a:rect l="l" t="t" r="r" b="b"/>
              <a:pathLst>
                <a:path w="4051749" h="698500">
                  <a:moveTo>
                    <a:pt x="4051749" y="349250"/>
                  </a:moveTo>
                  <a:lnTo>
                    <a:pt x="3848549" y="698500"/>
                  </a:lnTo>
                  <a:lnTo>
                    <a:pt x="203200" y="698500"/>
                  </a:lnTo>
                  <a:lnTo>
                    <a:pt x="0" y="349250"/>
                  </a:lnTo>
                  <a:lnTo>
                    <a:pt x="203200" y="0"/>
                  </a:lnTo>
                  <a:lnTo>
                    <a:pt x="3848549" y="0"/>
                  </a:lnTo>
                  <a:lnTo>
                    <a:pt x="4051749" y="349250"/>
                  </a:lnTo>
                  <a:close/>
                </a:path>
              </a:pathLst>
            </a:custGeom>
            <a:solidFill>
              <a:srgbClr val="10347A"/>
            </a:solidFill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8" name="TextBox 8">
              <a:extLst>
                <a:ext uri="{FF2B5EF4-FFF2-40B4-BE49-F238E27FC236}">
                  <a16:creationId xmlns:a16="http://schemas.microsoft.com/office/drawing/2014/main" id="{FDA26C66-039B-ACE1-BFD8-DEA1E04704DF}"/>
                </a:ext>
              </a:extLst>
            </p:cNvPr>
            <p:cNvSpPr txBox="1"/>
            <p:nvPr/>
          </p:nvSpPr>
          <p:spPr>
            <a:xfrm>
              <a:off x="114300" y="-38100"/>
              <a:ext cx="3823149" cy="7366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3" name="TextBox 13">
            <a:extLst>
              <a:ext uri="{FF2B5EF4-FFF2-40B4-BE49-F238E27FC236}">
                <a16:creationId xmlns:a16="http://schemas.microsoft.com/office/drawing/2014/main" id="{F84BEDB8-8F87-CD65-D20F-DDD3B807FC84}"/>
              </a:ext>
            </a:extLst>
          </p:cNvPr>
          <p:cNvSpPr txBox="1"/>
          <p:nvPr/>
        </p:nvSpPr>
        <p:spPr>
          <a:xfrm>
            <a:off x="1067996" y="4018867"/>
            <a:ext cx="7445358" cy="711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800"/>
              </a:lnSpc>
            </a:pPr>
            <a:r>
              <a:rPr lang="en-US" sz="2000" dirty="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Delays in production and distribution are causing stock shortages, which negatively impacts sales and customer satisfaction.</a:t>
            </a:r>
          </a:p>
        </p:txBody>
      </p:sp>
      <p:sp>
        <p:nvSpPr>
          <p:cNvPr id="14" name="Freeform 14">
            <a:extLst>
              <a:ext uri="{FF2B5EF4-FFF2-40B4-BE49-F238E27FC236}">
                <a16:creationId xmlns:a16="http://schemas.microsoft.com/office/drawing/2014/main" id="{58994399-29F1-091B-7491-366367A8245D}"/>
              </a:ext>
            </a:extLst>
          </p:cNvPr>
          <p:cNvSpPr/>
          <p:nvPr/>
        </p:nvSpPr>
        <p:spPr>
          <a:xfrm>
            <a:off x="3688260" y="706182"/>
            <a:ext cx="328079" cy="328079"/>
          </a:xfrm>
          <a:custGeom>
            <a:avLst/>
            <a:gdLst/>
            <a:ahLst/>
            <a:cxnLst/>
            <a:rect l="l" t="t" r="r" b="b"/>
            <a:pathLst>
              <a:path w="328079" h="328079">
                <a:moveTo>
                  <a:pt x="0" y="0"/>
                </a:moveTo>
                <a:lnTo>
                  <a:pt x="328079" y="0"/>
                </a:lnTo>
                <a:lnTo>
                  <a:pt x="328079" y="328079"/>
                </a:lnTo>
                <a:lnTo>
                  <a:pt x="0" y="32807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6" name="TextBox 16">
            <a:extLst>
              <a:ext uri="{FF2B5EF4-FFF2-40B4-BE49-F238E27FC236}">
                <a16:creationId xmlns:a16="http://schemas.microsoft.com/office/drawing/2014/main" id="{E4349970-BCD8-7404-13B2-1A4120608B90}"/>
              </a:ext>
            </a:extLst>
          </p:cNvPr>
          <p:cNvSpPr txBox="1"/>
          <p:nvPr/>
        </p:nvSpPr>
        <p:spPr>
          <a:xfrm>
            <a:off x="5280085" y="609674"/>
            <a:ext cx="5387920" cy="3751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20"/>
              </a:lnSpc>
            </a:pPr>
            <a:r>
              <a:rPr lang="en-US" sz="2400" b="1" dirty="0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Data cleaning screenshots</a:t>
            </a:r>
          </a:p>
        </p:txBody>
      </p:sp>
      <p:sp>
        <p:nvSpPr>
          <p:cNvPr id="21" name="TextBox 21">
            <a:extLst>
              <a:ext uri="{FF2B5EF4-FFF2-40B4-BE49-F238E27FC236}">
                <a16:creationId xmlns:a16="http://schemas.microsoft.com/office/drawing/2014/main" id="{6D663A96-C97E-6F28-8E7A-517856AB22AB}"/>
              </a:ext>
            </a:extLst>
          </p:cNvPr>
          <p:cNvSpPr txBox="1"/>
          <p:nvPr/>
        </p:nvSpPr>
        <p:spPr>
          <a:xfrm>
            <a:off x="1067996" y="6049700"/>
            <a:ext cx="7445358" cy="711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800"/>
              </a:lnSpc>
            </a:pPr>
            <a:r>
              <a:rPr lang="en-US" sz="2000" dirty="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Sales processes are inefficient, causing delays and missed opportunities, especially during peak demand.</a:t>
            </a:r>
          </a:p>
        </p:txBody>
      </p:sp>
      <p:sp>
        <p:nvSpPr>
          <p:cNvPr id="29" name="TextBox 29">
            <a:extLst>
              <a:ext uri="{FF2B5EF4-FFF2-40B4-BE49-F238E27FC236}">
                <a16:creationId xmlns:a16="http://schemas.microsoft.com/office/drawing/2014/main" id="{063FF241-4D32-E463-9CFA-46DA34AA7860}"/>
              </a:ext>
            </a:extLst>
          </p:cNvPr>
          <p:cNvSpPr txBox="1"/>
          <p:nvPr/>
        </p:nvSpPr>
        <p:spPr>
          <a:xfrm>
            <a:off x="1496183" y="7549666"/>
            <a:ext cx="5387920" cy="3981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20"/>
              </a:lnSpc>
            </a:pPr>
            <a:r>
              <a:rPr lang="en-US" sz="2400" b="1" dirty="0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SHIFTS IN CONSUMER BEHAVIOR</a:t>
            </a:r>
          </a:p>
        </p:txBody>
      </p:sp>
      <p:grpSp>
        <p:nvGrpSpPr>
          <p:cNvPr id="30" name="Group 30">
            <a:extLst>
              <a:ext uri="{FF2B5EF4-FFF2-40B4-BE49-F238E27FC236}">
                <a16:creationId xmlns:a16="http://schemas.microsoft.com/office/drawing/2014/main" id="{A3BC1886-9E04-EF40-0142-02A6EBA6D634}"/>
              </a:ext>
            </a:extLst>
          </p:cNvPr>
          <p:cNvGrpSpPr/>
          <p:nvPr/>
        </p:nvGrpSpPr>
        <p:grpSpPr>
          <a:xfrm>
            <a:off x="0" y="10032423"/>
            <a:ext cx="18288000" cy="254577"/>
            <a:chOff x="0" y="0"/>
            <a:chExt cx="4816593" cy="67049"/>
          </a:xfrm>
        </p:grpSpPr>
        <p:sp>
          <p:nvSpPr>
            <p:cNvPr id="31" name="Freeform 31">
              <a:extLst>
                <a:ext uri="{FF2B5EF4-FFF2-40B4-BE49-F238E27FC236}">
                  <a16:creationId xmlns:a16="http://schemas.microsoft.com/office/drawing/2014/main" id="{6B2D98D1-8CC0-23B7-CFB1-248A1A9C3DF0}"/>
                </a:ext>
              </a:extLst>
            </p:cNvPr>
            <p:cNvSpPr/>
            <p:nvPr/>
          </p:nvSpPr>
          <p:spPr>
            <a:xfrm>
              <a:off x="0" y="0"/>
              <a:ext cx="4816592" cy="67049"/>
            </a:xfrm>
            <a:custGeom>
              <a:avLst/>
              <a:gdLst/>
              <a:ahLst/>
              <a:cxnLst/>
              <a:rect l="l" t="t" r="r" b="b"/>
              <a:pathLst>
                <a:path w="4816592" h="67049">
                  <a:moveTo>
                    <a:pt x="0" y="0"/>
                  </a:moveTo>
                  <a:lnTo>
                    <a:pt x="4816592" y="0"/>
                  </a:lnTo>
                  <a:lnTo>
                    <a:pt x="4816592" y="67049"/>
                  </a:lnTo>
                  <a:lnTo>
                    <a:pt x="0" y="67049"/>
                  </a:lnTo>
                  <a:close/>
                </a:path>
              </a:pathLst>
            </a:custGeom>
            <a:gradFill rotWithShape="1">
              <a:gsLst>
                <a:gs pos="0">
                  <a:srgbClr val="002264">
                    <a:alpha val="100000"/>
                  </a:srgbClr>
                </a:gs>
                <a:gs pos="100000">
                  <a:srgbClr val="2D56A5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US"/>
            </a:p>
          </p:txBody>
        </p:sp>
        <p:sp>
          <p:nvSpPr>
            <p:cNvPr id="32" name="TextBox 32">
              <a:extLst>
                <a:ext uri="{FF2B5EF4-FFF2-40B4-BE49-F238E27FC236}">
                  <a16:creationId xmlns:a16="http://schemas.microsoft.com/office/drawing/2014/main" id="{53828A1E-4C86-3B4E-D872-853526343101}"/>
                </a:ext>
              </a:extLst>
            </p:cNvPr>
            <p:cNvSpPr txBox="1"/>
            <p:nvPr/>
          </p:nvSpPr>
          <p:spPr>
            <a:xfrm>
              <a:off x="0" y="-38100"/>
              <a:ext cx="4816593" cy="10514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33" name="Group 33">
            <a:extLst>
              <a:ext uri="{FF2B5EF4-FFF2-40B4-BE49-F238E27FC236}">
                <a16:creationId xmlns:a16="http://schemas.microsoft.com/office/drawing/2014/main" id="{574E561F-EC1F-7223-64F3-B2C00DFC8469}"/>
              </a:ext>
            </a:extLst>
          </p:cNvPr>
          <p:cNvGrpSpPr/>
          <p:nvPr/>
        </p:nvGrpSpPr>
        <p:grpSpPr>
          <a:xfrm>
            <a:off x="0" y="0"/>
            <a:ext cx="18288000" cy="254577"/>
            <a:chOff x="0" y="0"/>
            <a:chExt cx="4816593" cy="67049"/>
          </a:xfrm>
        </p:grpSpPr>
        <p:sp>
          <p:nvSpPr>
            <p:cNvPr id="34" name="Freeform 34">
              <a:extLst>
                <a:ext uri="{FF2B5EF4-FFF2-40B4-BE49-F238E27FC236}">
                  <a16:creationId xmlns:a16="http://schemas.microsoft.com/office/drawing/2014/main" id="{4013A8B6-4DC7-6468-ED8A-3C3890EB4BD8}"/>
                </a:ext>
              </a:extLst>
            </p:cNvPr>
            <p:cNvSpPr/>
            <p:nvPr/>
          </p:nvSpPr>
          <p:spPr>
            <a:xfrm>
              <a:off x="0" y="0"/>
              <a:ext cx="4816592" cy="67049"/>
            </a:xfrm>
            <a:custGeom>
              <a:avLst/>
              <a:gdLst/>
              <a:ahLst/>
              <a:cxnLst/>
              <a:rect l="l" t="t" r="r" b="b"/>
              <a:pathLst>
                <a:path w="4816592" h="67049">
                  <a:moveTo>
                    <a:pt x="0" y="0"/>
                  </a:moveTo>
                  <a:lnTo>
                    <a:pt x="4816592" y="0"/>
                  </a:lnTo>
                  <a:lnTo>
                    <a:pt x="4816592" y="67049"/>
                  </a:lnTo>
                  <a:lnTo>
                    <a:pt x="0" y="67049"/>
                  </a:lnTo>
                  <a:close/>
                </a:path>
              </a:pathLst>
            </a:custGeom>
            <a:gradFill rotWithShape="1">
              <a:gsLst>
                <a:gs pos="0">
                  <a:srgbClr val="002264">
                    <a:alpha val="100000"/>
                  </a:srgbClr>
                </a:gs>
                <a:gs pos="100000">
                  <a:srgbClr val="2D56A5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US"/>
            </a:p>
          </p:txBody>
        </p:sp>
        <p:sp>
          <p:nvSpPr>
            <p:cNvPr id="35" name="TextBox 35">
              <a:extLst>
                <a:ext uri="{FF2B5EF4-FFF2-40B4-BE49-F238E27FC236}">
                  <a16:creationId xmlns:a16="http://schemas.microsoft.com/office/drawing/2014/main" id="{0D9CA326-05C8-343E-D348-210C569189EB}"/>
                </a:ext>
              </a:extLst>
            </p:cNvPr>
            <p:cNvSpPr txBox="1"/>
            <p:nvPr/>
          </p:nvSpPr>
          <p:spPr>
            <a:xfrm>
              <a:off x="0" y="-38100"/>
              <a:ext cx="4816593" cy="10514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36" name="Group 36">
            <a:extLst>
              <a:ext uri="{FF2B5EF4-FFF2-40B4-BE49-F238E27FC236}">
                <a16:creationId xmlns:a16="http://schemas.microsoft.com/office/drawing/2014/main" id="{EF48B85D-361B-8620-82F3-45CD03862339}"/>
              </a:ext>
            </a:extLst>
          </p:cNvPr>
          <p:cNvGrpSpPr/>
          <p:nvPr/>
        </p:nvGrpSpPr>
        <p:grpSpPr>
          <a:xfrm>
            <a:off x="12805410" y="9437029"/>
            <a:ext cx="8200805" cy="1699941"/>
            <a:chOff x="0" y="0"/>
            <a:chExt cx="3369683" cy="698500"/>
          </a:xfrm>
        </p:grpSpPr>
        <p:sp>
          <p:nvSpPr>
            <p:cNvPr id="37" name="Freeform 37">
              <a:extLst>
                <a:ext uri="{FF2B5EF4-FFF2-40B4-BE49-F238E27FC236}">
                  <a16:creationId xmlns:a16="http://schemas.microsoft.com/office/drawing/2014/main" id="{41760668-5E11-14D9-744B-A2B76F70B6DD}"/>
                </a:ext>
              </a:extLst>
            </p:cNvPr>
            <p:cNvSpPr/>
            <p:nvPr/>
          </p:nvSpPr>
          <p:spPr>
            <a:xfrm>
              <a:off x="0" y="0"/>
              <a:ext cx="3369683" cy="698500"/>
            </a:xfrm>
            <a:custGeom>
              <a:avLst/>
              <a:gdLst/>
              <a:ahLst/>
              <a:cxnLst/>
              <a:rect l="l" t="t" r="r" b="b"/>
              <a:pathLst>
                <a:path w="3369683" h="698500">
                  <a:moveTo>
                    <a:pt x="3369683" y="349250"/>
                  </a:moveTo>
                  <a:lnTo>
                    <a:pt x="3166483" y="698500"/>
                  </a:lnTo>
                  <a:lnTo>
                    <a:pt x="203200" y="698500"/>
                  </a:lnTo>
                  <a:lnTo>
                    <a:pt x="0" y="349250"/>
                  </a:lnTo>
                  <a:lnTo>
                    <a:pt x="203200" y="0"/>
                  </a:lnTo>
                  <a:lnTo>
                    <a:pt x="3166483" y="0"/>
                  </a:lnTo>
                  <a:lnTo>
                    <a:pt x="3369683" y="349250"/>
                  </a:lnTo>
                  <a:close/>
                </a:path>
              </a:pathLst>
            </a:custGeom>
            <a:gradFill rotWithShape="1">
              <a:gsLst>
                <a:gs pos="0">
                  <a:srgbClr val="002264">
                    <a:alpha val="100000"/>
                  </a:srgbClr>
                </a:gs>
                <a:gs pos="100000">
                  <a:srgbClr val="2D56A5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US"/>
            </a:p>
          </p:txBody>
        </p:sp>
        <p:sp>
          <p:nvSpPr>
            <p:cNvPr id="38" name="TextBox 38">
              <a:extLst>
                <a:ext uri="{FF2B5EF4-FFF2-40B4-BE49-F238E27FC236}">
                  <a16:creationId xmlns:a16="http://schemas.microsoft.com/office/drawing/2014/main" id="{A57BF060-DB0E-A013-6E65-B8A686F7C5F4}"/>
                </a:ext>
              </a:extLst>
            </p:cNvPr>
            <p:cNvSpPr txBox="1"/>
            <p:nvPr/>
          </p:nvSpPr>
          <p:spPr>
            <a:xfrm>
              <a:off x="114300" y="-38100"/>
              <a:ext cx="3141083" cy="7366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39" name="Freeform 39">
            <a:extLst>
              <a:ext uri="{FF2B5EF4-FFF2-40B4-BE49-F238E27FC236}">
                <a16:creationId xmlns:a16="http://schemas.microsoft.com/office/drawing/2014/main" id="{8D659913-30BB-DF8F-3894-0F0AB5D620B0}"/>
              </a:ext>
            </a:extLst>
          </p:cNvPr>
          <p:cNvSpPr/>
          <p:nvPr/>
        </p:nvSpPr>
        <p:spPr>
          <a:xfrm>
            <a:off x="10514468" y="9258300"/>
            <a:ext cx="764904" cy="406407"/>
          </a:xfrm>
          <a:custGeom>
            <a:avLst/>
            <a:gdLst/>
            <a:ahLst/>
            <a:cxnLst/>
            <a:rect l="l" t="t" r="r" b="b"/>
            <a:pathLst>
              <a:path w="764904" h="406407">
                <a:moveTo>
                  <a:pt x="0" y="0"/>
                </a:moveTo>
                <a:lnTo>
                  <a:pt x="764904" y="0"/>
                </a:lnTo>
                <a:lnTo>
                  <a:pt x="764904" y="406407"/>
                </a:lnTo>
                <a:lnTo>
                  <a:pt x="0" y="40640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r="-111469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0" name="Freeform 40">
            <a:extLst>
              <a:ext uri="{FF2B5EF4-FFF2-40B4-BE49-F238E27FC236}">
                <a16:creationId xmlns:a16="http://schemas.microsoft.com/office/drawing/2014/main" id="{1D65E448-EDC2-8D37-30EB-F91E4CBA2F34}"/>
              </a:ext>
            </a:extLst>
          </p:cNvPr>
          <p:cNvSpPr/>
          <p:nvPr/>
        </p:nvSpPr>
        <p:spPr>
          <a:xfrm>
            <a:off x="16494396" y="788244"/>
            <a:ext cx="764904" cy="406407"/>
          </a:xfrm>
          <a:custGeom>
            <a:avLst/>
            <a:gdLst/>
            <a:ahLst/>
            <a:cxnLst/>
            <a:rect l="l" t="t" r="r" b="b"/>
            <a:pathLst>
              <a:path w="764904" h="406407">
                <a:moveTo>
                  <a:pt x="0" y="0"/>
                </a:moveTo>
                <a:lnTo>
                  <a:pt x="764904" y="0"/>
                </a:lnTo>
                <a:lnTo>
                  <a:pt x="764904" y="406406"/>
                </a:lnTo>
                <a:lnTo>
                  <a:pt x="0" y="40640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r="-111469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4" name="TextBox 4">
            <a:extLst>
              <a:ext uri="{FF2B5EF4-FFF2-40B4-BE49-F238E27FC236}">
                <a16:creationId xmlns:a16="http://schemas.microsoft.com/office/drawing/2014/main" id="{C7362590-B055-9645-3C43-C7E6DEE79C97}"/>
              </a:ext>
            </a:extLst>
          </p:cNvPr>
          <p:cNvSpPr txBox="1"/>
          <p:nvPr/>
        </p:nvSpPr>
        <p:spPr>
          <a:xfrm>
            <a:off x="9758450" y="1795286"/>
            <a:ext cx="6781800" cy="46166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spcBef>
                <a:spcPct val="0"/>
              </a:spcBef>
            </a:pPr>
            <a:r>
              <a:rPr lang="en-US" sz="3000" b="1" dirty="0">
                <a:solidFill>
                  <a:srgbClr val="10347A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Python</a:t>
            </a:r>
          </a:p>
        </p:txBody>
      </p:sp>
      <p:pic>
        <p:nvPicPr>
          <p:cNvPr id="49" name="Picture 48">
            <a:extLst>
              <a:ext uri="{FF2B5EF4-FFF2-40B4-BE49-F238E27FC236}">
                <a16:creationId xmlns:a16="http://schemas.microsoft.com/office/drawing/2014/main" id="{5A9EDA9F-4BF5-A74D-9C95-0234B36408C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631271" y="2764233"/>
            <a:ext cx="3970842" cy="2231538"/>
          </a:xfrm>
          <a:prstGeom prst="rect">
            <a:avLst/>
          </a:prstGeom>
          <a:ln>
            <a:solidFill>
              <a:schemeClr val="tx2">
                <a:lumMod val="50000"/>
              </a:schemeClr>
            </a:solidFill>
          </a:ln>
        </p:spPr>
      </p:pic>
      <p:pic>
        <p:nvPicPr>
          <p:cNvPr id="51" name="Picture 50">
            <a:extLst>
              <a:ext uri="{FF2B5EF4-FFF2-40B4-BE49-F238E27FC236}">
                <a16:creationId xmlns:a16="http://schemas.microsoft.com/office/drawing/2014/main" id="{72B8F936-650D-8F04-63FD-F8F90C3D0E9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4097000" y="2735361"/>
            <a:ext cx="3970842" cy="2231538"/>
          </a:xfrm>
          <a:prstGeom prst="rect">
            <a:avLst/>
          </a:prstGeom>
          <a:ln>
            <a:solidFill>
              <a:schemeClr val="tx2">
                <a:lumMod val="50000"/>
              </a:schemeClr>
            </a:solidFill>
          </a:ln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0B9D231D-FFB6-F5E4-4A35-D37C752506C7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793984" y="5775195"/>
            <a:ext cx="3761344" cy="2214147"/>
          </a:xfrm>
          <a:prstGeom prst="rect">
            <a:avLst/>
          </a:prstGeom>
          <a:ln>
            <a:solidFill>
              <a:schemeClr val="tx2">
                <a:lumMod val="50000"/>
              </a:schemeClr>
            </a:solidFill>
          </a:ln>
        </p:spPr>
      </p:pic>
      <p:pic>
        <p:nvPicPr>
          <p:cNvPr id="57" name="Picture 56">
            <a:extLst>
              <a:ext uri="{FF2B5EF4-FFF2-40B4-BE49-F238E27FC236}">
                <a16:creationId xmlns:a16="http://schemas.microsoft.com/office/drawing/2014/main" id="{82EE2195-28B5-53F7-F2F2-14FC0CA3ED6B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3976861" y="5816869"/>
            <a:ext cx="4090981" cy="2172473"/>
          </a:xfrm>
          <a:prstGeom prst="rect">
            <a:avLst/>
          </a:prstGeom>
          <a:ln>
            <a:solidFill>
              <a:schemeClr val="tx2">
                <a:lumMod val="50000"/>
              </a:schemeClr>
            </a:solidFill>
          </a:ln>
        </p:spPr>
      </p:pic>
      <p:pic>
        <p:nvPicPr>
          <p:cNvPr id="63" name="Picture 62">
            <a:extLst>
              <a:ext uri="{FF2B5EF4-FFF2-40B4-BE49-F238E27FC236}">
                <a16:creationId xmlns:a16="http://schemas.microsoft.com/office/drawing/2014/main" id="{D454D8A4-CD7D-FAE2-8CFC-7245CD1A2BBB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034807" y="5714861"/>
            <a:ext cx="4201106" cy="2303952"/>
          </a:xfrm>
          <a:prstGeom prst="rect">
            <a:avLst/>
          </a:prstGeom>
          <a:ln>
            <a:solidFill>
              <a:schemeClr val="tx2">
                <a:lumMod val="50000"/>
              </a:schemeClr>
            </a:solidFill>
          </a:ln>
        </p:spPr>
      </p:pic>
      <p:pic>
        <p:nvPicPr>
          <p:cNvPr id="65" name="Picture 64">
            <a:extLst>
              <a:ext uri="{FF2B5EF4-FFF2-40B4-BE49-F238E27FC236}">
                <a16:creationId xmlns:a16="http://schemas.microsoft.com/office/drawing/2014/main" id="{935F0DF0-FBC3-0D19-FAE6-6575B7571D93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19093" y="5685392"/>
            <a:ext cx="4057644" cy="2303952"/>
          </a:xfrm>
          <a:prstGeom prst="rect">
            <a:avLst/>
          </a:prstGeom>
          <a:ln>
            <a:solidFill>
              <a:schemeClr val="tx2">
                <a:lumMod val="75000"/>
              </a:schemeClr>
            </a:solidFill>
          </a:ln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74581F48-94D0-56AD-1010-36969EDB39B0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19092" y="2762155"/>
            <a:ext cx="3970841" cy="2303953"/>
          </a:xfrm>
          <a:prstGeom prst="rect">
            <a:avLst/>
          </a:prstGeom>
          <a:ln>
            <a:solidFill>
              <a:schemeClr val="tx2"/>
            </a:solidFill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3FDFA19-5A66-4A45-4787-BBD115F2FD7F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038837" y="2824164"/>
            <a:ext cx="4128415" cy="2231538"/>
          </a:xfrm>
          <a:prstGeom prst="rect">
            <a:avLst/>
          </a:prstGeom>
          <a:ln>
            <a:solidFill>
              <a:schemeClr val="tx2"/>
            </a:solidFill>
          </a:ln>
        </p:spPr>
      </p:pic>
    </p:spTree>
    <p:extLst>
      <p:ext uri="{BB962C8B-B14F-4D97-AF65-F5344CB8AC3E}">
        <p14:creationId xmlns:p14="http://schemas.microsoft.com/office/powerpoint/2010/main" val="210114828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35F60B-960D-7A04-A266-1E589AE705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4">
            <a:extLst>
              <a:ext uri="{FF2B5EF4-FFF2-40B4-BE49-F238E27FC236}">
                <a16:creationId xmlns:a16="http://schemas.microsoft.com/office/drawing/2014/main" id="{B747B222-EBD4-7167-5340-5E31DBC78CA5}"/>
              </a:ext>
            </a:extLst>
          </p:cNvPr>
          <p:cNvSpPr txBox="1"/>
          <p:nvPr/>
        </p:nvSpPr>
        <p:spPr>
          <a:xfrm>
            <a:off x="457200" y="1519033"/>
            <a:ext cx="6781800" cy="46166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spcBef>
                <a:spcPct val="0"/>
              </a:spcBef>
            </a:pPr>
            <a:r>
              <a:rPr lang="en-US" sz="3000" b="1" dirty="0">
                <a:solidFill>
                  <a:srgbClr val="10347A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SQL </a:t>
            </a:r>
          </a:p>
        </p:txBody>
      </p:sp>
      <p:grpSp>
        <p:nvGrpSpPr>
          <p:cNvPr id="6" name="Group 6">
            <a:extLst>
              <a:ext uri="{FF2B5EF4-FFF2-40B4-BE49-F238E27FC236}">
                <a16:creationId xmlns:a16="http://schemas.microsoft.com/office/drawing/2014/main" id="{5281D861-9B6A-2690-3511-34DDF16D365A}"/>
              </a:ext>
            </a:extLst>
          </p:cNvPr>
          <p:cNvGrpSpPr/>
          <p:nvPr/>
        </p:nvGrpSpPr>
        <p:grpSpPr>
          <a:xfrm>
            <a:off x="2133600" y="416194"/>
            <a:ext cx="10312394" cy="806030"/>
            <a:chOff x="0" y="0"/>
            <a:chExt cx="4051749" cy="698500"/>
          </a:xfrm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8B07A63A-3AF6-E164-2C11-6B7BBB7885C4}"/>
                </a:ext>
              </a:extLst>
            </p:cNvPr>
            <p:cNvSpPr/>
            <p:nvPr/>
          </p:nvSpPr>
          <p:spPr>
            <a:xfrm>
              <a:off x="0" y="0"/>
              <a:ext cx="4051749" cy="698500"/>
            </a:xfrm>
            <a:custGeom>
              <a:avLst/>
              <a:gdLst/>
              <a:ahLst/>
              <a:cxnLst/>
              <a:rect l="l" t="t" r="r" b="b"/>
              <a:pathLst>
                <a:path w="4051749" h="698500">
                  <a:moveTo>
                    <a:pt x="4051749" y="349250"/>
                  </a:moveTo>
                  <a:lnTo>
                    <a:pt x="3848549" y="698500"/>
                  </a:lnTo>
                  <a:lnTo>
                    <a:pt x="203200" y="698500"/>
                  </a:lnTo>
                  <a:lnTo>
                    <a:pt x="0" y="349250"/>
                  </a:lnTo>
                  <a:lnTo>
                    <a:pt x="203200" y="0"/>
                  </a:lnTo>
                  <a:lnTo>
                    <a:pt x="3848549" y="0"/>
                  </a:lnTo>
                  <a:lnTo>
                    <a:pt x="4051749" y="349250"/>
                  </a:lnTo>
                  <a:close/>
                </a:path>
              </a:pathLst>
            </a:custGeom>
            <a:solidFill>
              <a:srgbClr val="10347A"/>
            </a:solidFill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8" name="TextBox 8">
              <a:extLst>
                <a:ext uri="{FF2B5EF4-FFF2-40B4-BE49-F238E27FC236}">
                  <a16:creationId xmlns:a16="http://schemas.microsoft.com/office/drawing/2014/main" id="{C085D7AE-8196-BD79-7AD8-FC56AE2EF1D6}"/>
                </a:ext>
              </a:extLst>
            </p:cNvPr>
            <p:cNvSpPr txBox="1"/>
            <p:nvPr/>
          </p:nvSpPr>
          <p:spPr>
            <a:xfrm>
              <a:off x="114300" y="-38100"/>
              <a:ext cx="3823149" cy="7366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4" name="Freeform 14">
            <a:extLst>
              <a:ext uri="{FF2B5EF4-FFF2-40B4-BE49-F238E27FC236}">
                <a16:creationId xmlns:a16="http://schemas.microsoft.com/office/drawing/2014/main" id="{9F7F7246-E424-B9B4-BD92-FFCED17B9BA1}"/>
              </a:ext>
            </a:extLst>
          </p:cNvPr>
          <p:cNvSpPr/>
          <p:nvPr/>
        </p:nvSpPr>
        <p:spPr>
          <a:xfrm>
            <a:off x="3688260" y="706182"/>
            <a:ext cx="328079" cy="328079"/>
          </a:xfrm>
          <a:custGeom>
            <a:avLst/>
            <a:gdLst/>
            <a:ahLst/>
            <a:cxnLst/>
            <a:rect l="l" t="t" r="r" b="b"/>
            <a:pathLst>
              <a:path w="328079" h="328079">
                <a:moveTo>
                  <a:pt x="0" y="0"/>
                </a:moveTo>
                <a:lnTo>
                  <a:pt x="328079" y="0"/>
                </a:lnTo>
                <a:lnTo>
                  <a:pt x="328079" y="328079"/>
                </a:lnTo>
                <a:lnTo>
                  <a:pt x="0" y="32807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6" name="TextBox 16">
            <a:extLst>
              <a:ext uri="{FF2B5EF4-FFF2-40B4-BE49-F238E27FC236}">
                <a16:creationId xmlns:a16="http://schemas.microsoft.com/office/drawing/2014/main" id="{52C12F8E-18D1-60C6-B6CC-26FA2210FF0D}"/>
              </a:ext>
            </a:extLst>
          </p:cNvPr>
          <p:cNvSpPr txBox="1"/>
          <p:nvPr/>
        </p:nvSpPr>
        <p:spPr>
          <a:xfrm>
            <a:off x="4191000" y="609674"/>
            <a:ext cx="6477005" cy="41357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120"/>
              </a:lnSpc>
            </a:pPr>
            <a:r>
              <a:rPr lang="en-US" sz="3600" b="1" dirty="0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Data cleaning screenshots</a:t>
            </a:r>
          </a:p>
        </p:txBody>
      </p:sp>
      <p:sp>
        <p:nvSpPr>
          <p:cNvPr id="21" name="TextBox 21">
            <a:extLst>
              <a:ext uri="{FF2B5EF4-FFF2-40B4-BE49-F238E27FC236}">
                <a16:creationId xmlns:a16="http://schemas.microsoft.com/office/drawing/2014/main" id="{746FC324-16FF-662B-2C88-5323F1DF3CC3}"/>
              </a:ext>
            </a:extLst>
          </p:cNvPr>
          <p:cNvSpPr txBox="1"/>
          <p:nvPr/>
        </p:nvSpPr>
        <p:spPr>
          <a:xfrm>
            <a:off x="1067996" y="6049700"/>
            <a:ext cx="7445358" cy="711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800"/>
              </a:lnSpc>
            </a:pPr>
            <a:r>
              <a:rPr lang="en-US" sz="2000" dirty="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Sales processes are inefficient, causing delays and missed opportunities, especially during peak demand.</a:t>
            </a:r>
          </a:p>
        </p:txBody>
      </p:sp>
      <p:sp>
        <p:nvSpPr>
          <p:cNvPr id="29" name="TextBox 29">
            <a:extLst>
              <a:ext uri="{FF2B5EF4-FFF2-40B4-BE49-F238E27FC236}">
                <a16:creationId xmlns:a16="http://schemas.microsoft.com/office/drawing/2014/main" id="{37E34933-C3C9-E9CC-F49F-3C3FFBE8699E}"/>
              </a:ext>
            </a:extLst>
          </p:cNvPr>
          <p:cNvSpPr txBox="1"/>
          <p:nvPr/>
        </p:nvSpPr>
        <p:spPr>
          <a:xfrm>
            <a:off x="1496183" y="7549666"/>
            <a:ext cx="5387920" cy="3981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20"/>
              </a:lnSpc>
            </a:pPr>
            <a:r>
              <a:rPr lang="en-US" sz="2400" b="1" dirty="0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SHIFTS IN CONSUMER BEHAVIOR</a:t>
            </a:r>
          </a:p>
        </p:txBody>
      </p:sp>
      <p:grpSp>
        <p:nvGrpSpPr>
          <p:cNvPr id="30" name="Group 30">
            <a:extLst>
              <a:ext uri="{FF2B5EF4-FFF2-40B4-BE49-F238E27FC236}">
                <a16:creationId xmlns:a16="http://schemas.microsoft.com/office/drawing/2014/main" id="{8124252E-F6B0-FC31-6292-010B5332B7FC}"/>
              </a:ext>
            </a:extLst>
          </p:cNvPr>
          <p:cNvGrpSpPr/>
          <p:nvPr/>
        </p:nvGrpSpPr>
        <p:grpSpPr>
          <a:xfrm>
            <a:off x="0" y="10032423"/>
            <a:ext cx="18288000" cy="254577"/>
            <a:chOff x="0" y="0"/>
            <a:chExt cx="4816593" cy="67049"/>
          </a:xfrm>
        </p:grpSpPr>
        <p:sp>
          <p:nvSpPr>
            <p:cNvPr id="31" name="Freeform 31">
              <a:extLst>
                <a:ext uri="{FF2B5EF4-FFF2-40B4-BE49-F238E27FC236}">
                  <a16:creationId xmlns:a16="http://schemas.microsoft.com/office/drawing/2014/main" id="{48DA85B1-3BF0-A639-D937-9BD55A190610}"/>
                </a:ext>
              </a:extLst>
            </p:cNvPr>
            <p:cNvSpPr/>
            <p:nvPr/>
          </p:nvSpPr>
          <p:spPr>
            <a:xfrm>
              <a:off x="0" y="0"/>
              <a:ext cx="4816592" cy="67049"/>
            </a:xfrm>
            <a:custGeom>
              <a:avLst/>
              <a:gdLst/>
              <a:ahLst/>
              <a:cxnLst/>
              <a:rect l="l" t="t" r="r" b="b"/>
              <a:pathLst>
                <a:path w="4816592" h="67049">
                  <a:moveTo>
                    <a:pt x="0" y="0"/>
                  </a:moveTo>
                  <a:lnTo>
                    <a:pt x="4816592" y="0"/>
                  </a:lnTo>
                  <a:lnTo>
                    <a:pt x="4816592" y="67049"/>
                  </a:lnTo>
                  <a:lnTo>
                    <a:pt x="0" y="67049"/>
                  </a:lnTo>
                  <a:close/>
                </a:path>
              </a:pathLst>
            </a:custGeom>
            <a:gradFill rotWithShape="1">
              <a:gsLst>
                <a:gs pos="0">
                  <a:srgbClr val="002264">
                    <a:alpha val="100000"/>
                  </a:srgbClr>
                </a:gs>
                <a:gs pos="100000">
                  <a:srgbClr val="2D56A5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US"/>
            </a:p>
          </p:txBody>
        </p:sp>
        <p:sp>
          <p:nvSpPr>
            <p:cNvPr id="32" name="TextBox 32">
              <a:extLst>
                <a:ext uri="{FF2B5EF4-FFF2-40B4-BE49-F238E27FC236}">
                  <a16:creationId xmlns:a16="http://schemas.microsoft.com/office/drawing/2014/main" id="{634A7498-B38B-496B-A690-4C911CA7647C}"/>
                </a:ext>
              </a:extLst>
            </p:cNvPr>
            <p:cNvSpPr txBox="1"/>
            <p:nvPr/>
          </p:nvSpPr>
          <p:spPr>
            <a:xfrm>
              <a:off x="0" y="-38100"/>
              <a:ext cx="4816593" cy="10514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33" name="Group 33">
            <a:extLst>
              <a:ext uri="{FF2B5EF4-FFF2-40B4-BE49-F238E27FC236}">
                <a16:creationId xmlns:a16="http://schemas.microsoft.com/office/drawing/2014/main" id="{419536C5-34FB-3277-0C17-FFEB1ACE040B}"/>
              </a:ext>
            </a:extLst>
          </p:cNvPr>
          <p:cNvGrpSpPr/>
          <p:nvPr/>
        </p:nvGrpSpPr>
        <p:grpSpPr>
          <a:xfrm>
            <a:off x="0" y="0"/>
            <a:ext cx="18288000" cy="254577"/>
            <a:chOff x="0" y="0"/>
            <a:chExt cx="4816593" cy="67049"/>
          </a:xfrm>
        </p:grpSpPr>
        <p:sp>
          <p:nvSpPr>
            <p:cNvPr id="34" name="Freeform 34">
              <a:extLst>
                <a:ext uri="{FF2B5EF4-FFF2-40B4-BE49-F238E27FC236}">
                  <a16:creationId xmlns:a16="http://schemas.microsoft.com/office/drawing/2014/main" id="{39AA9613-44FE-989C-3802-F74CB5B01190}"/>
                </a:ext>
              </a:extLst>
            </p:cNvPr>
            <p:cNvSpPr/>
            <p:nvPr/>
          </p:nvSpPr>
          <p:spPr>
            <a:xfrm>
              <a:off x="0" y="0"/>
              <a:ext cx="4816592" cy="67049"/>
            </a:xfrm>
            <a:custGeom>
              <a:avLst/>
              <a:gdLst/>
              <a:ahLst/>
              <a:cxnLst/>
              <a:rect l="l" t="t" r="r" b="b"/>
              <a:pathLst>
                <a:path w="4816592" h="67049">
                  <a:moveTo>
                    <a:pt x="0" y="0"/>
                  </a:moveTo>
                  <a:lnTo>
                    <a:pt x="4816592" y="0"/>
                  </a:lnTo>
                  <a:lnTo>
                    <a:pt x="4816592" y="67049"/>
                  </a:lnTo>
                  <a:lnTo>
                    <a:pt x="0" y="67049"/>
                  </a:lnTo>
                  <a:close/>
                </a:path>
              </a:pathLst>
            </a:custGeom>
            <a:gradFill rotWithShape="1">
              <a:gsLst>
                <a:gs pos="0">
                  <a:srgbClr val="002264">
                    <a:alpha val="100000"/>
                  </a:srgbClr>
                </a:gs>
                <a:gs pos="100000">
                  <a:srgbClr val="2D56A5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US"/>
            </a:p>
          </p:txBody>
        </p:sp>
        <p:sp>
          <p:nvSpPr>
            <p:cNvPr id="35" name="TextBox 35">
              <a:extLst>
                <a:ext uri="{FF2B5EF4-FFF2-40B4-BE49-F238E27FC236}">
                  <a16:creationId xmlns:a16="http://schemas.microsoft.com/office/drawing/2014/main" id="{6965F01B-9771-4DC3-561C-DEE33D0B68F7}"/>
                </a:ext>
              </a:extLst>
            </p:cNvPr>
            <p:cNvSpPr txBox="1"/>
            <p:nvPr/>
          </p:nvSpPr>
          <p:spPr>
            <a:xfrm>
              <a:off x="0" y="-38100"/>
              <a:ext cx="4816593" cy="10514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36" name="Group 36">
            <a:extLst>
              <a:ext uri="{FF2B5EF4-FFF2-40B4-BE49-F238E27FC236}">
                <a16:creationId xmlns:a16="http://schemas.microsoft.com/office/drawing/2014/main" id="{9F1A0372-8B81-5FA9-0EFF-A5D49A0AFBE2}"/>
              </a:ext>
            </a:extLst>
          </p:cNvPr>
          <p:cNvGrpSpPr/>
          <p:nvPr/>
        </p:nvGrpSpPr>
        <p:grpSpPr>
          <a:xfrm>
            <a:off x="12805410" y="9437029"/>
            <a:ext cx="8200805" cy="1699941"/>
            <a:chOff x="0" y="0"/>
            <a:chExt cx="3369683" cy="698500"/>
          </a:xfrm>
        </p:grpSpPr>
        <p:sp>
          <p:nvSpPr>
            <p:cNvPr id="37" name="Freeform 37">
              <a:extLst>
                <a:ext uri="{FF2B5EF4-FFF2-40B4-BE49-F238E27FC236}">
                  <a16:creationId xmlns:a16="http://schemas.microsoft.com/office/drawing/2014/main" id="{283EC4BC-0DEF-AD01-0D3D-50F36B0C9B99}"/>
                </a:ext>
              </a:extLst>
            </p:cNvPr>
            <p:cNvSpPr/>
            <p:nvPr/>
          </p:nvSpPr>
          <p:spPr>
            <a:xfrm>
              <a:off x="0" y="0"/>
              <a:ext cx="3369683" cy="698500"/>
            </a:xfrm>
            <a:custGeom>
              <a:avLst/>
              <a:gdLst/>
              <a:ahLst/>
              <a:cxnLst/>
              <a:rect l="l" t="t" r="r" b="b"/>
              <a:pathLst>
                <a:path w="3369683" h="698500">
                  <a:moveTo>
                    <a:pt x="3369683" y="349250"/>
                  </a:moveTo>
                  <a:lnTo>
                    <a:pt x="3166483" y="698500"/>
                  </a:lnTo>
                  <a:lnTo>
                    <a:pt x="203200" y="698500"/>
                  </a:lnTo>
                  <a:lnTo>
                    <a:pt x="0" y="349250"/>
                  </a:lnTo>
                  <a:lnTo>
                    <a:pt x="203200" y="0"/>
                  </a:lnTo>
                  <a:lnTo>
                    <a:pt x="3166483" y="0"/>
                  </a:lnTo>
                  <a:lnTo>
                    <a:pt x="3369683" y="349250"/>
                  </a:lnTo>
                  <a:close/>
                </a:path>
              </a:pathLst>
            </a:custGeom>
            <a:gradFill rotWithShape="1">
              <a:gsLst>
                <a:gs pos="0">
                  <a:srgbClr val="002264">
                    <a:alpha val="100000"/>
                  </a:srgbClr>
                </a:gs>
                <a:gs pos="100000">
                  <a:srgbClr val="2D56A5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US"/>
            </a:p>
          </p:txBody>
        </p:sp>
        <p:sp>
          <p:nvSpPr>
            <p:cNvPr id="38" name="TextBox 38">
              <a:extLst>
                <a:ext uri="{FF2B5EF4-FFF2-40B4-BE49-F238E27FC236}">
                  <a16:creationId xmlns:a16="http://schemas.microsoft.com/office/drawing/2014/main" id="{86ABBA7B-9A47-F5B5-E0B3-748263952DE1}"/>
                </a:ext>
              </a:extLst>
            </p:cNvPr>
            <p:cNvSpPr txBox="1"/>
            <p:nvPr/>
          </p:nvSpPr>
          <p:spPr>
            <a:xfrm>
              <a:off x="114300" y="-38100"/>
              <a:ext cx="3141083" cy="7366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39" name="Freeform 39">
            <a:extLst>
              <a:ext uri="{FF2B5EF4-FFF2-40B4-BE49-F238E27FC236}">
                <a16:creationId xmlns:a16="http://schemas.microsoft.com/office/drawing/2014/main" id="{84FBBB50-908C-7478-2DCA-9ACD698ACD21}"/>
              </a:ext>
            </a:extLst>
          </p:cNvPr>
          <p:cNvSpPr/>
          <p:nvPr/>
        </p:nvSpPr>
        <p:spPr>
          <a:xfrm>
            <a:off x="10514468" y="9258300"/>
            <a:ext cx="764904" cy="406407"/>
          </a:xfrm>
          <a:custGeom>
            <a:avLst/>
            <a:gdLst/>
            <a:ahLst/>
            <a:cxnLst/>
            <a:rect l="l" t="t" r="r" b="b"/>
            <a:pathLst>
              <a:path w="764904" h="406407">
                <a:moveTo>
                  <a:pt x="0" y="0"/>
                </a:moveTo>
                <a:lnTo>
                  <a:pt x="764904" y="0"/>
                </a:lnTo>
                <a:lnTo>
                  <a:pt x="764904" y="406407"/>
                </a:lnTo>
                <a:lnTo>
                  <a:pt x="0" y="40640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r="-111469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0" name="Freeform 40">
            <a:extLst>
              <a:ext uri="{FF2B5EF4-FFF2-40B4-BE49-F238E27FC236}">
                <a16:creationId xmlns:a16="http://schemas.microsoft.com/office/drawing/2014/main" id="{915ACAFD-92CF-9087-C0A2-AE6ECD4EEC95}"/>
              </a:ext>
            </a:extLst>
          </p:cNvPr>
          <p:cNvSpPr/>
          <p:nvPr/>
        </p:nvSpPr>
        <p:spPr>
          <a:xfrm>
            <a:off x="16494396" y="788244"/>
            <a:ext cx="764904" cy="406407"/>
          </a:xfrm>
          <a:custGeom>
            <a:avLst/>
            <a:gdLst/>
            <a:ahLst/>
            <a:cxnLst/>
            <a:rect l="l" t="t" r="r" b="b"/>
            <a:pathLst>
              <a:path w="764904" h="406407">
                <a:moveTo>
                  <a:pt x="0" y="0"/>
                </a:moveTo>
                <a:lnTo>
                  <a:pt x="764904" y="0"/>
                </a:lnTo>
                <a:lnTo>
                  <a:pt x="764904" y="406406"/>
                </a:lnTo>
                <a:lnTo>
                  <a:pt x="0" y="40640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r="-111469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4" name="TextBox 4">
            <a:extLst>
              <a:ext uri="{FF2B5EF4-FFF2-40B4-BE49-F238E27FC236}">
                <a16:creationId xmlns:a16="http://schemas.microsoft.com/office/drawing/2014/main" id="{EA973EC3-E47F-30A0-E132-564827BD89A3}"/>
              </a:ext>
            </a:extLst>
          </p:cNvPr>
          <p:cNvSpPr txBox="1"/>
          <p:nvPr/>
        </p:nvSpPr>
        <p:spPr>
          <a:xfrm>
            <a:off x="10124012" y="1815634"/>
            <a:ext cx="6781800" cy="46166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spcBef>
                <a:spcPct val="0"/>
              </a:spcBef>
            </a:pPr>
            <a:r>
              <a:rPr lang="en-US" sz="3000" b="1" dirty="0">
                <a:solidFill>
                  <a:srgbClr val="10347A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Python 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8588923-EFD7-1B5B-823E-23763AA0E67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4284" y="5932266"/>
            <a:ext cx="4334538" cy="2544892"/>
          </a:xfrm>
          <a:prstGeom prst="rect">
            <a:avLst/>
          </a:prstGeom>
          <a:ln>
            <a:solidFill>
              <a:schemeClr val="tx2">
                <a:lumMod val="50000"/>
              </a:schemeClr>
            </a:solidFill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B4E70B4B-9891-B242-EC01-2DB6E655000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30853" y="5932266"/>
            <a:ext cx="4123729" cy="2544892"/>
          </a:xfrm>
          <a:prstGeom prst="rect">
            <a:avLst/>
          </a:prstGeom>
          <a:ln>
            <a:solidFill>
              <a:schemeClr val="tx2">
                <a:lumMod val="50000"/>
              </a:schemeClr>
            </a:solidFill>
          </a:ln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D09EE98A-13EF-A944-2F40-1B92C5F1CF09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40151" y="2628900"/>
            <a:ext cx="4302804" cy="2544892"/>
          </a:xfrm>
          <a:prstGeom prst="rect">
            <a:avLst/>
          </a:prstGeom>
          <a:ln>
            <a:solidFill>
              <a:schemeClr val="tx2">
                <a:lumMod val="50000"/>
              </a:schemeClr>
            </a:solidFill>
          </a:ln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9EAF88D6-E709-209D-FDDF-D51685684A65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889104" y="2642932"/>
            <a:ext cx="4302804" cy="2453153"/>
          </a:xfrm>
          <a:prstGeom prst="rect">
            <a:avLst/>
          </a:prstGeom>
          <a:ln>
            <a:solidFill>
              <a:schemeClr val="tx2">
                <a:lumMod val="50000"/>
              </a:schemeClr>
            </a:solidFill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B1929FF-4155-7C83-857F-5F4EE836EC72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4201348" y="2635331"/>
            <a:ext cx="3781852" cy="2376205"/>
          </a:xfrm>
          <a:prstGeom prst="rect">
            <a:avLst/>
          </a:prstGeom>
          <a:ln>
            <a:solidFill>
              <a:schemeClr val="tx2"/>
            </a:solidFill>
          </a:ln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3053EA9F-0657-8E15-F102-BD227DE23100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638057" y="2635332"/>
            <a:ext cx="4001743" cy="2376205"/>
          </a:xfrm>
          <a:prstGeom prst="rect">
            <a:avLst/>
          </a:prstGeom>
          <a:ln>
            <a:solidFill>
              <a:schemeClr val="tx2"/>
            </a:solidFill>
          </a:ln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DA361D71-2501-D3E7-3844-F54E5372BF9E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589279" y="5922162"/>
            <a:ext cx="4001743" cy="2544892"/>
          </a:xfrm>
          <a:prstGeom prst="rect">
            <a:avLst/>
          </a:prstGeom>
          <a:ln>
            <a:solidFill>
              <a:schemeClr val="tx2"/>
            </a:solidFill>
          </a:ln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D7EE56AB-F209-8221-68EE-F1DF4292595D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4081516" y="5964139"/>
            <a:ext cx="3781851" cy="2376205"/>
          </a:xfrm>
          <a:prstGeom prst="rect">
            <a:avLst/>
          </a:prstGeom>
          <a:ln>
            <a:solidFill>
              <a:schemeClr val="tx2"/>
            </a:solidFill>
          </a:ln>
        </p:spPr>
      </p:pic>
    </p:spTree>
    <p:extLst>
      <p:ext uri="{BB962C8B-B14F-4D97-AF65-F5344CB8AC3E}">
        <p14:creationId xmlns:p14="http://schemas.microsoft.com/office/powerpoint/2010/main" val="214308714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EB9C7C4-FBC6-ADDA-1583-375E37A6A0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90E92407-5D0C-A9E4-E560-912E8666C4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8288000" cy="10287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A person reaching for a paper on a table full of paper and sticky notes">
            <a:extLst>
              <a:ext uri="{FF2B5EF4-FFF2-40B4-BE49-F238E27FC236}">
                <a16:creationId xmlns:a16="http://schemas.microsoft.com/office/drawing/2014/main" id="{A6A1F431-47F3-B096-FFE0-E2267C9A9F2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3934" r="14927"/>
          <a:stretch>
            <a:fillRect/>
          </a:stretch>
        </p:blipFill>
        <p:spPr>
          <a:xfrm>
            <a:off x="7324533" y="10"/>
            <a:ext cx="10963467" cy="10286990"/>
          </a:xfrm>
          <a:custGeom>
            <a:avLst/>
            <a:gdLst/>
            <a:ahLst/>
            <a:cxnLst/>
            <a:rect l="l" t="t" r="r" b="b"/>
            <a:pathLst>
              <a:path w="7308978" h="6858000">
                <a:moveTo>
                  <a:pt x="0" y="0"/>
                </a:moveTo>
                <a:lnTo>
                  <a:pt x="7308978" y="0"/>
                </a:lnTo>
                <a:lnTo>
                  <a:pt x="7308978" y="6858000"/>
                </a:lnTo>
                <a:lnTo>
                  <a:pt x="0" y="6858000"/>
                </a:lnTo>
                <a:lnTo>
                  <a:pt x="62983" y="6788730"/>
                </a:lnTo>
                <a:cubicBezTo>
                  <a:pt x="773509" y="5928900"/>
                  <a:pt x="1212978" y="4741056"/>
                  <a:pt x="1212978" y="3429000"/>
                </a:cubicBezTo>
                <a:cubicBezTo>
                  <a:pt x="1212978" y="2116944"/>
                  <a:pt x="773509" y="929100"/>
                  <a:pt x="62983" y="69271"/>
                </a:cubicBezTo>
                <a:close/>
              </a:path>
            </a:pathLst>
          </a:custGeom>
        </p:spPr>
      </p:pic>
      <p:sp useBgFill="1">
        <p:nvSpPr>
          <p:cNvPr id="17" name="Freeform: Shape 16">
            <a:extLst>
              <a:ext uri="{FF2B5EF4-FFF2-40B4-BE49-F238E27FC236}">
                <a16:creationId xmlns:a16="http://schemas.microsoft.com/office/drawing/2014/main" id="{B43E26F8-7D53-728F-C200-43A0C38540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1" cy="10287000"/>
          </a:xfrm>
          <a:custGeom>
            <a:avLst/>
            <a:gdLst>
              <a:gd name="connsiteX0" fmla="*/ 0 w 6096001"/>
              <a:gd name="connsiteY0" fmla="*/ 0 h 6858000"/>
              <a:gd name="connsiteX1" fmla="*/ 4883023 w 6096001"/>
              <a:gd name="connsiteY1" fmla="*/ 0 h 6858000"/>
              <a:gd name="connsiteX2" fmla="*/ 4946006 w 6096001"/>
              <a:gd name="connsiteY2" fmla="*/ 69271 h 6858000"/>
              <a:gd name="connsiteX3" fmla="*/ 6096001 w 6096001"/>
              <a:gd name="connsiteY3" fmla="*/ 3429000 h 6858000"/>
              <a:gd name="connsiteX4" fmla="*/ 4946006 w 6096001"/>
              <a:gd name="connsiteY4" fmla="*/ 6788730 h 6858000"/>
              <a:gd name="connsiteX5" fmla="*/ 4883023 w 6096001"/>
              <a:gd name="connsiteY5" fmla="*/ 6858000 h 6858000"/>
              <a:gd name="connsiteX6" fmla="*/ 0 w 609600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096001" h="6858000">
                <a:moveTo>
                  <a:pt x="0" y="0"/>
                </a:moveTo>
                <a:lnTo>
                  <a:pt x="4883023" y="0"/>
                </a:lnTo>
                <a:lnTo>
                  <a:pt x="4946006" y="69271"/>
                </a:lnTo>
                <a:cubicBezTo>
                  <a:pt x="5656532" y="929100"/>
                  <a:pt x="6096001" y="2116944"/>
                  <a:pt x="6096001" y="3429000"/>
                </a:cubicBezTo>
                <a:cubicBezTo>
                  <a:pt x="6096001" y="4741056"/>
                  <a:pt x="5656532" y="5928900"/>
                  <a:pt x="4946006" y="6788730"/>
                </a:cubicBezTo>
                <a:lnTo>
                  <a:pt x="4883023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rgbClr val="EFEFEF"/>
            </a:solidFill>
          </a:ln>
          <a:effectLst>
            <a:outerShdw blurRad="50800" dist="38100" algn="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4" name="Freeform: Shape 13">
            <a:extLst>
              <a:ext uri="{FF2B5EF4-FFF2-40B4-BE49-F238E27FC236}">
                <a16:creationId xmlns:a16="http://schemas.microsoft.com/office/drawing/2014/main" id="{7F8CE70E-4121-49C8-E83E-419C70F88E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30285" cy="10287000"/>
          </a:xfrm>
          <a:custGeom>
            <a:avLst/>
            <a:gdLst>
              <a:gd name="connsiteX0" fmla="*/ 0 w 6086857"/>
              <a:gd name="connsiteY0" fmla="*/ 0 h 6858000"/>
              <a:gd name="connsiteX1" fmla="*/ 4873879 w 6086857"/>
              <a:gd name="connsiteY1" fmla="*/ 0 h 6858000"/>
              <a:gd name="connsiteX2" fmla="*/ 4936862 w 6086857"/>
              <a:gd name="connsiteY2" fmla="*/ 69271 h 6858000"/>
              <a:gd name="connsiteX3" fmla="*/ 6086857 w 6086857"/>
              <a:gd name="connsiteY3" fmla="*/ 3429000 h 6858000"/>
              <a:gd name="connsiteX4" fmla="*/ 4936862 w 6086857"/>
              <a:gd name="connsiteY4" fmla="*/ 6788730 h 6858000"/>
              <a:gd name="connsiteX5" fmla="*/ 4873879 w 6086857"/>
              <a:gd name="connsiteY5" fmla="*/ 6858000 h 6858000"/>
              <a:gd name="connsiteX6" fmla="*/ 0 w 608685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086857" h="6858000">
                <a:moveTo>
                  <a:pt x="0" y="0"/>
                </a:moveTo>
                <a:lnTo>
                  <a:pt x="4873879" y="0"/>
                </a:lnTo>
                <a:lnTo>
                  <a:pt x="4936862" y="69271"/>
                </a:lnTo>
                <a:cubicBezTo>
                  <a:pt x="5647388" y="929100"/>
                  <a:pt x="6086857" y="2116944"/>
                  <a:pt x="6086857" y="3429000"/>
                </a:cubicBezTo>
                <a:cubicBezTo>
                  <a:pt x="6086857" y="4741056"/>
                  <a:pt x="5647388" y="5928900"/>
                  <a:pt x="4936862" y="6788730"/>
                </a:cubicBezTo>
                <a:lnTo>
                  <a:pt x="4873879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EDC14EC-AC3B-AC94-0510-52F34C934F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2356" y="1284732"/>
            <a:ext cx="7488936" cy="1865376"/>
          </a:xfrm>
        </p:spPr>
        <p:txBody>
          <a:bodyPr anchor="ctr">
            <a:normAutofit/>
          </a:bodyPr>
          <a:lstStyle/>
          <a:p>
            <a:r>
              <a:rPr lang="en-US" sz="5100" b="1" u="sng"/>
              <a:t>Table of content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3D75AA4-7EC8-D887-F6EC-66EA23C55A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686487"/>
            <a:ext cx="192024" cy="98085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9D520B5B-C6A3-FAA7-3FA8-18DCA0EA98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56653" y="3293004"/>
            <a:ext cx="7475220" cy="27432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2E2B3B-66EA-7035-6BEE-5978E77A1E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2356" y="3784423"/>
            <a:ext cx="7598664" cy="5103545"/>
          </a:xfrm>
        </p:spPr>
        <p:txBody>
          <a:bodyPr anchor="t">
            <a:normAutofit/>
          </a:bodyPr>
          <a:lstStyle/>
          <a:p>
            <a:pPr marL="771525" indent="-771525">
              <a:lnSpc>
                <a:spcPct val="150000"/>
              </a:lnSpc>
              <a:buFont typeface="+mj-lt"/>
              <a:buAutoNum type="arabicPeriod"/>
            </a:pPr>
            <a:r>
              <a:rPr lang="en-US" sz="3000" dirty="0"/>
              <a:t>Project overview &amp; Executive summary </a:t>
            </a:r>
          </a:p>
          <a:p>
            <a:pPr marL="771525" indent="-771525">
              <a:lnSpc>
                <a:spcPct val="150000"/>
              </a:lnSpc>
              <a:buFont typeface="+mj-lt"/>
              <a:buAutoNum type="arabicPeriod"/>
            </a:pPr>
            <a:r>
              <a:rPr lang="en-US" sz="3000" dirty="0"/>
              <a:t>Data preparation and transformation</a:t>
            </a:r>
          </a:p>
          <a:p>
            <a:pPr marL="771525" indent="-771525">
              <a:lnSpc>
                <a:spcPct val="150000"/>
              </a:lnSpc>
              <a:buFont typeface="+mj-lt"/>
              <a:buAutoNum type="arabicPeriod"/>
            </a:pPr>
            <a:r>
              <a:rPr lang="en-US" sz="3000" b="1" dirty="0"/>
              <a:t>Project Analysis step</a:t>
            </a:r>
          </a:p>
          <a:p>
            <a:pPr marL="0" indent="0">
              <a:buNone/>
            </a:pPr>
            <a:endParaRPr lang="en-US" sz="3000" dirty="0"/>
          </a:p>
          <a:p>
            <a:pPr marL="771525" indent="-771525">
              <a:buFont typeface="+mj-lt"/>
              <a:buAutoNum type="arabicPeriod"/>
            </a:pPr>
            <a:endParaRPr lang="en-US" sz="3000" dirty="0"/>
          </a:p>
          <a:p>
            <a:pPr marL="771525" indent="-771525">
              <a:buFont typeface="+mj-lt"/>
              <a:buAutoNum type="arabicPeriod"/>
            </a:pPr>
            <a:endParaRPr lang="en-US" sz="3000" dirty="0"/>
          </a:p>
        </p:txBody>
      </p:sp>
    </p:spTree>
    <p:extLst>
      <p:ext uri="{BB962C8B-B14F-4D97-AF65-F5344CB8AC3E}">
        <p14:creationId xmlns:p14="http://schemas.microsoft.com/office/powerpoint/2010/main" val="166239509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52EEBB-1C1E-4E2D-68D2-351661EB24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A8637285-D093-A666-D227-57978C44588C}"/>
              </a:ext>
            </a:extLst>
          </p:cNvPr>
          <p:cNvSpPr/>
          <p:nvPr/>
        </p:nvSpPr>
        <p:spPr>
          <a:xfrm>
            <a:off x="-548327" y="-119669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2813" t="-22813"/>
            </a:stretch>
          </a:blip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7347A63B-6516-AABE-6090-B58B55EA4700}"/>
              </a:ext>
            </a:extLst>
          </p:cNvPr>
          <p:cNvSpPr/>
          <p:nvPr/>
        </p:nvSpPr>
        <p:spPr>
          <a:xfrm flipH="1" flipV="1">
            <a:off x="13297050" y="-2137660"/>
            <a:ext cx="4989436" cy="5661772"/>
          </a:xfrm>
          <a:custGeom>
            <a:avLst/>
            <a:gdLst/>
            <a:ahLst/>
            <a:cxnLst/>
            <a:rect l="l" t="t" r="r" b="b"/>
            <a:pathLst>
              <a:path w="4989436" h="5661772">
                <a:moveTo>
                  <a:pt x="4989437" y="5661772"/>
                </a:moveTo>
                <a:lnTo>
                  <a:pt x="0" y="5661772"/>
                </a:lnTo>
                <a:lnTo>
                  <a:pt x="0" y="0"/>
                </a:lnTo>
                <a:lnTo>
                  <a:pt x="4989437" y="0"/>
                </a:lnTo>
                <a:lnTo>
                  <a:pt x="4989437" y="5661772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" name="Freeform 4">
            <a:extLst>
              <a:ext uri="{FF2B5EF4-FFF2-40B4-BE49-F238E27FC236}">
                <a16:creationId xmlns:a16="http://schemas.microsoft.com/office/drawing/2014/main" id="{52E666F5-68E9-B837-A10F-9E9465B56806}"/>
              </a:ext>
            </a:extLst>
          </p:cNvPr>
          <p:cNvSpPr/>
          <p:nvPr/>
        </p:nvSpPr>
        <p:spPr>
          <a:xfrm flipV="1">
            <a:off x="1513" y="-2137660"/>
            <a:ext cx="4989436" cy="5661772"/>
          </a:xfrm>
          <a:custGeom>
            <a:avLst/>
            <a:gdLst/>
            <a:ahLst/>
            <a:cxnLst/>
            <a:rect l="l" t="t" r="r" b="b"/>
            <a:pathLst>
              <a:path w="4989436" h="5661772">
                <a:moveTo>
                  <a:pt x="0" y="5661772"/>
                </a:moveTo>
                <a:lnTo>
                  <a:pt x="4989437" y="5661772"/>
                </a:lnTo>
                <a:lnTo>
                  <a:pt x="4989437" y="0"/>
                </a:lnTo>
                <a:lnTo>
                  <a:pt x="0" y="0"/>
                </a:lnTo>
                <a:lnTo>
                  <a:pt x="0" y="5661772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grpSp>
        <p:nvGrpSpPr>
          <p:cNvPr id="5" name="Group 5">
            <a:extLst>
              <a:ext uri="{FF2B5EF4-FFF2-40B4-BE49-F238E27FC236}">
                <a16:creationId xmlns:a16="http://schemas.microsoft.com/office/drawing/2014/main" id="{6C25D012-ADB1-672B-55E7-2732B3E81A5E}"/>
              </a:ext>
            </a:extLst>
          </p:cNvPr>
          <p:cNvGrpSpPr/>
          <p:nvPr/>
        </p:nvGrpSpPr>
        <p:grpSpPr>
          <a:xfrm>
            <a:off x="758165" y="2679300"/>
            <a:ext cx="7837508" cy="647715"/>
            <a:chOff x="0" y="0"/>
            <a:chExt cx="8452023" cy="698500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BDA72F5F-9366-09C1-1F59-5EAEAA13A8D1}"/>
                </a:ext>
              </a:extLst>
            </p:cNvPr>
            <p:cNvSpPr/>
            <p:nvPr/>
          </p:nvSpPr>
          <p:spPr>
            <a:xfrm>
              <a:off x="0" y="0"/>
              <a:ext cx="8452023" cy="698500"/>
            </a:xfrm>
            <a:custGeom>
              <a:avLst/>
              <a:gdLst/>
              <a:ahLst/>
              <a:cxnLst/>
              <a:rect l="l" t="t" r="r" b="b"/>
              <a:pathLst>
                <a:path w="8452023" h="698500">
                  <a:moveTo>
                    <a:pt x="8452023" y="349250"/>
                  </a:moveTo>
                  <a:lnTo>
                    <a:pt x="8248823" y="698500"/>
                  </a:lnTo>
                  <a:lnTo>
                    <a:pt x="203200" y="698500"/>
                  </a:lnTo>
                  <a:lnTo>
                    <a:pt x="0" y="349250"/>
                  </a:lnTo>
                  <a:lnTo>
                    <a:pt x="203200" y="0"/>
                  </a:lnTo>
                  <a:lnTo>
                    <a:pt x="8248823" y="0"/>
                  </a:lnTo>
                  <a:lnTo>
                    <a:pt x="8452023" y="349250"/>
                  </a:lnTo>
                  <a:close/>
                </a:path>
              </a:pathLst>
            </a:custGeom>
            <a:solidFill>
              <a:srgbClr val="10347A"/>
            </a:solidFill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17986C7D-4D65-7A13-A839-7BEF3C92E68D}"/>
                </a:ext>
              </a:extLst>
            </p:cNvPr>
            <p:cNvSpPr txBox="1"/>
            <p:nvPr/>
          </p:nvSpPr>
          <p:spPr>
            <a:xfrm>
              <a:off x="114300" y="-38100"/>
              <a:ext cx="8223423" cy="7366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2659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grpSp>
        <p:nvGrpSpPr>
          <p:cNvPr id="17" name="Group 17">
            <a:extLst>
              <a:ext uri="{FF2B5EF4-FFF2-40B4-BE49-F238E27FC236}">
                <a16:creationId xmlns:a16="http://schemas.microsoft.com/office/drawing/2014/main" id="{9DF325D0-6DCF-34C2-8527-D2B821BF21A7}"/>
              </a:ext>
            </a:extLst>
          </p:cNvPr>
          <p:cNvGrpSpPr/>
          <p:nvPr/>
        </p:nvGrpSpPr>
        <p:grpSpPr>
          <a:xfrm>
            <a:off x="0" y="10032423"/>
            <a:ext cx="18288000" cy="254577"/>
            <a:chOff x="0" y="0"/>
            <a:chExt cx="4816593" cy="67049"/>
          </a:xfrm>
        </p:grpSpPr>
        <p:sp>
          <p:nvSpPr>
            <p:cNvPr id="18" name="Freeform 18">
              <a:extLst>
                <a:ext uri="{FF2B5EF4-FFF2-40B4-BE49-F238E27FC236}">
                  <a16:creationId xmlns:a16="http://schemas.microsoft.com/office/drawing/2014/main" id="{D54F50BA-3CBB-B8E8-4B6F-D4F641837D98}"/>
                </a:ext>
              </a:extLst>
            </p:cNvPr>
            <p:cNvSpPr/>
            <p:nvPr/>
          </p:nvSpPr>
          <p:spPr>
            <a:xfrm>
              <a:off x="0" y="0"/>
              <a:ext cx="4816592" cy="67049"/>
            </a:xfrm>
            <a:custGeom>
              <a:avLst/>
              <a:gdLst/>
              <a:ahLst/>
              <a:cxnLst/>
              <a:rect l="l" t="t" r="r" b="b"/>
              <a:pathLst>
                <a:path w="4816592" h="67049">
                  <a:moveTo>
                    <a:pt x="0" y="0"/>
                  </a:moveTo>
                  <a:lnTo>
                    <a:pt x="4816592" y="0"/>
                  </a:lnTo>
                  <a:lnTo>
                    <a:pt x="4816592" y="67049"/>
                  </a:lnTo>
                  <a:lnTo>
                    <a:pt x="0" y="67049"/>
                  </a:lnTo>
                  <a:close/>
                </a:path>
              </a:pathLst>
            </a:custGeom>
            <a:gradFill rotWithShape="1">
              <a:gsLst>
                <a:gs pos="0">
                  <a:srgbClr val="002264">
                    <a:alpha val="100000"/>
                  </a:srgbClr>
                </a:gs>
                <a:gs pos="100000">
                  <a:srgbClr val="2D56A5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9" name="TextBox 19">
              <a:extLst>
                <a:ext uri="{FF2B5EF4-FFF2-40B4-BE49-F238E27FC236}">
                  <a16:creationId xmlns:a16="http://schemas.microsoft.com/office/drawing/2014/main" id="{A76D9949-A07D-3FE1-B62B-9BBC3548E65B}"/>
                </a:ext>
              </a:extLst>
            </p:cNvPr>
            <p:cNvSpPr txBox="1"/>
            <p:nvPr/>
          </p:nvSpPr>
          <p:spPr>
            <a:xfrm>
              <a:off x="0" y="-38100"/>
              <a:ext cx="4816593" cy="10514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2659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grpSp>
        <p:nvGrpSpPr>
          <p:cNvPr id="20" name="Group 20">
            <a:extLst>
              <a:ext uri="{FF2B5EF4-FFF2-40B4-BE49-F238E27FC236}">
                <a16:creationId xmlns:a16="http://schemas.microsoft.com/office/drawing/2014/main" id="{BD1AA37A-B6B7-21BA-0ACC-9C62EE672EDF}"/>
              </a:ext>
            </a:extLst>
          </p:cNvPr>
          <p:cNvGrpSpPr/>
          <p:nvPr/>
        </p:nvGrpSpPr>
        <p:grpSpPr>
          <a:xfrm rot="1816035">
            <a:off x="-566561" y="-953124"/>
            <a:ext cx="1473413" cy="3404505"/>
            <a:chOff x="0" y="0"/>
            <a:chExt cx="388059" cy="896660"/>
          </a:xfrm>
        </p:grpSpPr>
        <p:sp>
          <p:nvSpPr>
            <p:cNvPr id="21" name="Freeform 21">
              <a:extLst>
                <a:ext uri="{FF2B5EF4-FFF2-40B4-BE49-F238E27FC236}">
                  <a16:creationId xmlns:a16="http://schemas.microsoft.com/office/drawing/2014/main" id="{2EC4839D-6D8D-9762-2B09-76A25D2FC230}"/>
                </a:ext>
              </a:extLst>
            </p:cNvPr>
            <p:cNvSpPr/>
            <p:nvPr/>
          </p:nvSpPr>
          <p:spPr>
            <a:xfrm>
              <a:off x="0" y="0"/>
              <a:ext cx="388059" cy="896660"/>
            </a:xfrm>
            <a:custGeom>
              <a:avLst/>
              <a:gdLst/>
              <a:ahLst/>
              <a:cxnLst/>
              <a:rect l="l" t="t" r="r" b="b"/>
              <a:pathLst>
                <a:path w="388059" h="896660">
                  <a:moveTo>
                    <a:pt x="0" y="0"/>
                  </a:moveTo>
                  <a:lnTo>
                    <a:pt x="388059" y="0"/>
                  </a:lnTo>
                  <a:lnTo>
                    <a:pt x="388059" y="896660"/>
                  </a:lnTo>
                  <a:lnTo>
                    <a:pt x="0" y="896660"/>
                  </a:lnTo>
                  <a:close/>
                </a:path>
              </a:pathLst>
            </a:custGeom>
            <a:gradFill rotWithShape="1">
              <a:gsLst>
                <a:gs pos="0">
                  <a:srgbClr val="002264">
                    <a:alpha val="100000"/>
                  </a:srgbClr>
                </a:gs>
                <a:gs pos="100000">
                  <a:srgbClr val="2D56A5">
                    <a:alpha val="100000"/>
                  </a:srgbClr>
                </a:gs>
              </a:gsLst>
              <a:lin ang="5400000"/>
            </a:gradFill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22" name="TextBox 22">
              <a:extLst>
                <a:ext uri="{FF2B5EF4-FFF2-40B4-BE49-F238E27FC236}">
                  <a16:creationId xmlns:a16="http://schemas.microsoft.com/office/drawing/2014/main" id="{47CE3815-834E-E6D9-E8EA-9A3C2705C55E}"/>
                </a:ext>
              </a:extLst>
            </p:cNvPr>
            <p:cNvSpPr txBox="1"/>
            <p:nvPr/>
          </p:nvSpPr>
          <p:spPr>
            <a:xfrm>
              <a:off x="0" y="-38100"/>
              <a:ext cx="388059" cy="93476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2659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grpSp>
        <p:nvGrpSpPr>
          <p:cNvPr id="23" name="Group 23">
            <a:extLst>
              <a:ext uri="{FF2B5EF4-FFF2-40B4-BE49-F238E27FC236}">
                <a16:creationId xmlns:a16="http://schemas.microsoft.com/office/drawing/2014/main" id="{98F575CB-A086-A114-95C0-3AD56FA9DD5D}"/>
              </a:ext>
            </a:extLst>
          </p:cNvPr>
          <p:cNvGrpSpPr/>
          <p:nvPr/>
        </p:nvGrpSpPr>
        <p:grpSpPr>
          <a:xfrm rot="-1818000">
            <a:off x="17380520" y="-953124"/>
            <a:ext cx="1473413" cy="3404505"/>
            <a:chOff x="0" y="0"/>
            <a:chExt cx="388059" cy="896660"/>
          </a:xfrm>
        </p:grpSpPr>
        <p:sp>
          <p:nvSpPr>
            <p:cNvPr id="24" name="Freeform 24">
              <a:extLst>
                <a:ext uri="{FF2B5EF4-FFF2-40B4-BE49-F238E27FC236}">
                  <a16:creationId xmlns:a16="http://schemas.microsoft.com/office/drawing/2014/main" id="{D57E8ECB-3409-2470-0E20-1E0348B8D4A0}"/>
                </a:ext>
              </a:extLst>
            </p:cNvPr>
            <p:cNvSpPr/>
            <p:nvPr/>
          </p:nvSpPr>
          <p:spPr>
            <a:xfrm>
              <a:off x="0" y="0"/>
              <a:ext cx="388059" cy="896660"/>
            </a:xfrm>
            <a:custGeom>
              <a:avLst/>
              <a:gdLst/>
              <a:ahLst/>
              <a:cxnLst/>
              <a:rect l="l" t="t" r="r" b="b"/>
              <a:pathLst>
                <a:path w="388059" h="896660">
                  <a:moveTo>
                    <a:pt x="0" y="0"/>
                  </a:moveTo>
                  <a:lnTo>
                    <a:pt x="388059" y="0"/>
                  </a:lnTo>
                  <a:lnTo>
                    <a:pt x="388059" y="896660"/>
                  </a:lnTo>
                  <a:lnTo>
                    <a:pt x="0" y="896660"/>
                  </a:lnTo>
                  <a:close/>
                </a:path>
              </a:pathLst>
            </a:custGeom>
            <a:gradFill rotWithShape="1">
              <a:gsLst>
                <a:gs pos="0">
                  <a:srgbClr val="002264">
                    <a:alpha val="100000"/>
                  </a:srgbClr>
                </a:gs>
                <a:gs pos="100000">
                  <a:srgbClr val="2D56A5">
                    <a:alpha val="100000"/>
                  </a:srgbClr>
                </a:gs>
              </a:gsLst>
              <a:lin ang="5400000"/>
            </a:gradFill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25" name="TextBox 25">
              <a:extLst>
                <a:ext uri="{FF2B5EF4-FFF2-40B4-BE49-F238E27FC236}">
                  <a16:creationId xmlns:a16="http://schemas.microsoft.com/office/drawing/2014/main" id="{B352387C-E54B-548B-91D5-81CABF34696D}"/>
                </a:ext>
              </a:extLst>
            </p:cNvPr>
            <p:cNvSpPr txBox="1"/>
            <p:nvPr/>
          </p:nvSpPr>
          <p:spPr>
            <a:xfrm>
              <a:off x="0" y="-38100"/>
              <a:ext cx="388059" cy="93476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2659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26" name="Freeform 26">
            <a:extLst>
              <a:ext uri="{FF2B5EF4-FFF2-40B4-BE49-F238E27FC236}">
                <a16:creationId xmlns:a16="http://schemas.microsoft.com/office/drawing/2014/main" id="{8148F236-FBE5-1148-587D-AC22C01685B2}"/>
              </a:ext>
            </a:extLst>
          </p:cNvPr>
          <p:cNvSpPr/>
          <p:nvPr/>
        </p:nvSpPr>
        <p:spPr>
          <a:xfrm>
            <a:off x="3895720" y="1028700"/>
            <a:ext cx="764904" cy="406407"/>
          </a:xfrm>
          <a:custGeom>
            <a:avLst/>
            <a:gdLst/>
            <a:ahLst/>
            <a:cxnLst/>
            <a:rect l="l" t="t" r="r" b="b"/>
            <a:pathLst>
              <a:path w="764904" h="406407">
                <a:moveTo>
                  <a:pt x="0" y="0"/>
                </a:moveTo>
                <a:lnTo>
                  <a:pt x="764904" y="0"/>
                </a:lnTo>
                <a:lnTo>
                  <a:pt x="764904" y="406407"/>
                </a:lnTo>
                <a:lnTo>
                  <a:pt x="0" y="406407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r="-111469"/>
            </a:stretch>
          </a:blip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7" name="Freeform 27">
            <a:extLst>
              <a:ext uri="{FF2B5EF4-FFF2-40B4-BE49-F238E27FC236}">
                <a16:creationId xmlns:a16="http://schemas.microsoft.com/office/drawing/2014/main" id="{DCCE82AA-A524-823A-88F5-C4B9E54D382B}"/>
              </a:ext>
            </a:extLst>
          </p:cNvPr>
          <p:cNvSpPr/>
          <p:nvPr/>
        </p:nvSpPr>
        <p:spPr>
          <a:xfrm flipH="1">
            <a:off x="13627376" y="1028700"/>
            <a:ext cx="764904" cy="406407"/>
          </a:xfrm>
          <a:custGeom>
            <a:avLst/>
            <a:gdLst/>
            <a:ahLst/>
            <a:cxnLst/>
            <a:rect l="l" t="t" r="r" b="b"/>
            <a:pathLst>
              <a:path w="764904" h="406407">
                <a:moveTo>
                  <a:pt x="764904" y="0"/>
                </a:moveTo>
                <a:lnTo>
                  <a:pt x="0" y="0"/>
                </a:lnTo>
                <a:lnTo>
                  <a:pt x="0" y="406407"/>
                </a:lnTo>
                <a:lnTo>
                  <a:pt x="764904" y="406407"/>
                </a:lnTo>
                <a:lnTo>
                  <a:pt x="764904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r="-111469"/>
            </a:stretch>
          </a:blip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8" name="Freeform 28">
            <a:extLst>
              <a:ext uri="{FF2B5EF4-FFF2-40B4-BE49-F238E27FC236}">
                <a16:creationId xmlns:a16="http://schemas.microsoft.com/office/drawing/2014/main" id="{8EFDA534-F312-7C71-D621-961AE2828867}"/>
              </a:ext>
            </a:extLst>
          </p:cNvPr>
          <p:cNvSpPr/>
          <p:nvPr/>
        </p:nvSpPr>
        <p:spPr>
          <a:xfrm>
            <a:off x="1335909" y="2827558"/>
            <a:ext cx="401426" cy="401426"/>
          </a:xfrm>
          <a:custGeom>
            <a:avLst/>
            <a:gdLst/>
            <a:ahLst/>
            <a:cxnLst/>
            <a:rect l="l" t="t" r="r" b="b"/>
            <a:pathLst>
              <a:path w="401426" h="401426">
                <a:moveTo>
                  <a:pt x="0" y="0"/>
                </a:moveTo>
                <a:lnTo>
                  <a:pt x="401426" y="0"/>
                </a:lnTo>
                <a:lnTo>
                  <a:pt x="401426" y="401426"/>
                </a:lnTo>
                <a:lnTo>
                  <a:pt x="0" y="401426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3" name="TextBox 33">
            <a:extLst>
              <a:ext uri="{FF2B5EF4-FFF2-40B4-BE49-F238E27FC236}">
                <a16:creationId xmlns:a16="http://schemas.microsoft.com/office/drawing/2014/main" id="{122A391A-61B5-72B2-9961-DF8F4ADAD43D}"/>
              </a:ext>
            </a:extLst>
          </p:cNvPr>
          <p:cNvSpPr txBox="1"/>
          <p:nvPr/>
        </p:nvSpPr>
        <p:spPr>
          <a:xfrm>
            <a:off x="3894392" y="189027"/>
            <a:ext cx="10497887" cy="221599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marR="0" lvl="0" indent="0" algn="ctr" defTabSz="914400" rtl="0" eaLnBrk="1" fontAlgn="auto" latinLnBrk="0" hangingPunct="1"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800" b="1" i="0" u="none" strike="noStrike" kern="1200" cap="none" spc="0" normalizeH="0" baseline="0" noProof="0" dirty="0">
                <a:ln>
                  <a:noFill/>
                </a:ln>
                <a:solidFill>
                  <a:srgbClr val="10347A"/>
                </a:solidFill>
                <a:effectLst/>
                <a:uLnTx/>
                <a:uFillTx/>
                <a:latin typeface="Montaser Arabic Bold"/>
                <a:ea typeface="Montaser Arabic Bold"/>
                <a:cs typeface="Montaser Arabic Bold"/>
                <a:sym typeface="Montaser Arabic Bold"/>
              </a:rPr>
              <a:t>Data preparation </a:t>
            </a:r>
          </a:p>
          <a:p>
            <a:pPr marL="0" marR="0" lvl="0" indent="0" algn="ctr" defTabSz="914400" rtl="0" eaLnBrk="1" fontAlgn="auto" latinLnBrk="0" hangingPunct="1"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4800" b="1" dirty="0">
                <a:solidFill>
                  <a:srgbClr val="10347A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&amp; </a:t>
            </a:r>
          </a:p>
          <a:p>
            <a:pPr marL="0" marR="0" lvl="0" indent="0" algn="ctr" defTabSz="914400" rtl="0" eaLnBrk="1" fontAlgn="auto" latinLnBrk="0" hangingPunct="1"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800" b="1" i="0" u="none" strike="noStrike" kern="1200" cap="none" spc="0" normalizeH="0" baseline="0" noProof="0" dirty="0">
                <a:ln>
                  <a:noFill/>
                </a:ln>
                <a:solidFill>
                  <a:srgbClr val="10347A"/>
                </a:solidFill>
                <a:effectLst/>
                <a:uLnTx/>
                <a:uFillTx/>
                <a:latin typeface="Montaser Arabic Bold"/>
                <a:ea typeface="Montaser Arabic Bold"/>
                <a:cs typeface="Montaser Arabic Bold"/>
                <a:sym typeface="Montaser Arabic Bold"/>
              </a:rPr>
              <a:t>transformation</a:t>
            </a:r>
          </a:p>
        </p:txBody>
      </p:sp>
      <p:sp>
        <p:nvSpPr>
          <p:cNvPr id="39" name="TextBox 39">
            <a:extLst>
              <a:ext uri="{FF2B5EF4-FFF2-40B4-BE49-F238E27FC236}">
                <a16:creationId xmlns:a16="http://schemas.microsoft.com/office/drawing/2014/main" id="{9CF55093-6DFF-F005-7E95-10442A872F0A}"/>
              </a:ext>
            </a:extLst>
          </p:cNvPr>
          <p:cNvSpPr txBox="1"/>
          <p:nvPr/>
        </p:nvSpPr>
        <p:spPr>
          <a:xfrm>
            <a:off x="1953718" y="2802933"/>
            <a:ext cx="5387920" cy="4924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lvl="0">
              <a:defRPr/>
            </a:pPr>
            <a:r>
              <a:rPr lang="en-US" sz="3200" b="1" dirty="0">
                <a:solidFill>
                  <a:schemeClr val="bg1"/>
                </a:solidFill>
              </a:rPr>
              <a:t>Data analysis </a:t>
            </a:r>
            <a:endParaRPr lang="en-US" sz="3200" dirty="0">
              <a:solidFill>
                <a:schemeClr val="bg1"/>
              </a:solidFill>
            </a:endParaRPr>
          </a:p>
        </p:txBody>
      </p:sp>
      <p:sp>
        <p:nvSpPr>
          <p:cNvPr id="9" name="Rectangle 2">
            <a:extLst>
              <a:ext uri="{FF2B5EF4-FFF2-40B4-BE49-F238E27FC236}">
                <a16:creationId xmlns:a16="http://schemas.microsoft.com/office/drawing/2014/main" id="{05BCCA56-0E48-4FF1-5C97-B18FF0033AE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2747" y="3467966"/>
            <a:ext cx="17561993" cy="615835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en-US" altLang="en-US" sz="2600" b="1" i="0" u="none" strike="noStrike" cap="none" normalizeH="0" baseline="0" dirty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  <a:latin typeface="Arial" panose="020B0604020202020204" pitchFamily="34" charset="0"/>
              </a:rPr>
              <a:t>Dataset Segmentation:</a:t>
            </a:r>
            <a:r>
              <a:rPr kumimoji="0" lang="en-US" altLang="en-US" sz="2600" b="0" i="0" u="none" strike="noStrike" cap="none" normalizeH="0" baseline="0" dirty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Sales data was categorized into </a:t>
            </a:r>
            <a:r>
              <a:rPr kumimoji="0" lang="en-US" altLang="en-US" sz="3200" b="1" i="0" u="none" strike="noStrike" cap="none" normalizeH="0" baseline="0" dirty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  <a:latin typeface="Arial" panose="020B0604020202020204" pitchFamily="34" charset="0"/>
              </a:rPr>
              <a:t>four</a:t>
            </a:r>
            <a:r>
              <a:rPr kumimoji="0" lang="en-US" altLang="en-US" sz="2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key areas: </a:t>
            </a:r>
            <a:r>
              <a:rPr kumimoji="0" lang="en-US" altLang="en-US" sz="2600" b="1" i="0" u="none" strike="noStrike" cap="none" normalizeH="0" baseline="0" dirty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  <a:latin typeface="Arial" panose="020B0604020202020204" pitchFamily="34" charset="0"/>
              </a:rPr>
              <a:t>Product, Customer, Shipping Performance, and Sales</a:t>
            </a:r>
            <a:r>
              <a:rPr kumimoji="0" lang="en-US" altLang="en-US" sz="2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ensuring a structured approach for analysis.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en-US" altLang="en-US" sz="2600" b="1" i="0" u="none" strike="noStrike" cap="none" normalizeH="0" baseline="0" dirty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  <a:latin typeface="Arial" panose="020B0604020202020204" pitchFamily="34" charset="0"/>
              </a:rPr>
              <a:t>Focused Analysis</a:t>
            </a:r>
            <a:r>
              <a:rPr kumimoji="0" lang="en-US" altLang="en-US" sz="2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  <a:r>
              <a:rPr kumimoji="0" lang="en-US" altLang="en-US" sz="2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Each category was examined individually to identify trends, patterns, and areas of opportunity. 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lang="en-US" altLang="en-US" sz="2600" b="1" dirty="0">
                <a:solidFill>
                  <a:schemeClr val="tx2"/>
                </a:solidFill>
                <a:latin typeface="Arial" panose="020B0604020202020204" pitchFamily="34" charset="0"/>
              </a:rPr>
              <a:t>Calculated fields: </a:t>
            </a:r>
            <a:r>
              <a:rPr lang="en-US" altLang="en-US" sz="2600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</a:rPr>
              <a:t>to enhance information insights and analysis</a:t>
            </a:r>
            <a:endParaRPr kumimoji="0" lang="en-US" altLang="en-US" sz="2600" i="0" u="none" strike="noStrike" cap="none" normalizeH="0" baseline="0" dirty="0">
              <a:ln>
                <a:noFill/>
              </a:ln>
              <a:solidFill>
                <a:schemeClr val="tx1">
                  <a:lumMod val="95000"/>
                  <a:lumOff val="5000"/>
                </a:schemeClr>
              </a:solidFill>
              <a:effectLst/>
              <a:latin typeface="Arial" panose="020B0604020202020204" pitchFamily="34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en-US" altLang="en-US" sz="2600" b="1" i="0" u="none" strike="noStrike" cap="none" normalizeH="0" baseline="0" dirty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  <a:latin typeface="Arial" panose="020B0604020202020204" pitchFamily="34" charset="0"/>
              </a:rPr>
              <a:t>Insights Generation:</a:t>
            </a:r>
            <a:r>
              <a:rPr kumimoji="0" lang="en-US" altLang="en-US" sz="2600" b="0" i="0" u="none" strike="noStrike" cap="none" normalizeH="0" baseline="0" dirty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Analyzed data helped uncover customer preferences, top-performing products, and potential inefficiencies in shipping.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en-US" altLang="en-US" sz="2600" b="1" i="0" u="none" strike="noStrike" cap="none" normalizeH="0" baseline="0" dirty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  <a:latin typeface="Arial" panose="020B0604020202020204" pitchFamily="34" charset="0"/>
              </a:rPr>
              <a:t>Actionable Recommendations:</a:t>
            </a:r>
            <a:r>
              <a:rPr kumimoji="0" lang="en-US" altLang="en-US" sz="2600" b="0" i="0" u="none" strike="noStrike" cap="none" normalizeH="0" baseline="0" dirty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Findings were translated into strategic recommendations for sales improvement, inventory management, and operational efficiency.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en-US" altLang="en-US" sz="2600" b="1" i="0" u="none" strike="noStrike" cap="none" normalizeH="0" baseline="0" dirty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  <a:latin typeface="Arial" panose="020B0604020202020204" pitchFamily="34" charset="0"/>
              </a:rPr>
              <a:t>Data-Driven Decisions:</a:t>
            </a:r>
            <a:r>
              <a:rPr kumimoji="0" lang="en-US" altLang="en-US" sz="2600" b="0" i="0" u="none" strike="noStrike" cap="none" normalizeH="0" baseline="0" dirty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Organized insights support decision-making, enabling proactive planning and measurable business impact</a:t>
            </a:r>
          </a:p>
        </p:txBody>
      </p:sp>
    </p:spTree>
    <p:extLst>
      <p:ext uri="{BB962C8B-B14F-4D97-AF65-F5344CB8AC3E}">
        <p14:creationId xmlns:p14="http://schemas.microsoft.com/office/powerpoint/2010/main" val="33690486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3810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2813" t="-22813"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5" name="TextBox 5"/>
          <p:cNvSpPr txBox="1"/>
          <p:nvPr/>
        </p:nvSpPr>
        <p:spPr>
          <a:xfrm>
            <a:off x="-464346" y="7823050"/>
            <a:ext cx="17617657" cy="683045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2659"/>
              </a:lnSpc>
            </a:pPr>
            <a:endParaRPr/>
          </a:p>
        </p:txBody>
      </p:sp>
      <p:grpSp>
        <p:nvGrpSpPr>
          <p:cNvPr id="10" name="Group 10"/>
          <p:cNvGrpSpPr/>
          <p:nvPr/>
        </p:nvGrpSpPr>
        <p:grpSpPr>
          <a:xfrm>
            <a:off x="0" y="0"/>
            <a:ext cx="18288000" cy="254577"/>
            <a:chOff x="0" y="0"/>
            <a:chExt cx="4816593" cy="67049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4816592" cy="67049"/>
            </a:xfrm>
            <a:custGeom>
              <a:avLst/>
              <a:gdLst/>
              <a:ahLst/>
              <a:cxnLst/>
              <a:rect l="l" t="t" r="r" b="b"/>
              <a:pathLst>
                <a:path w="4816592" h="67049">
                  <a:moveTo>
                    <a:pt x="0" y="0"/>
                  </a:moveTo>
                  <a:lnTo>
                    <a:pt x="4816592" y="0"/>
                  </a:lnTo>
                  <a:lnTo>
                    <a:pt x="4816592" y="67049"/>
                  </a:lnTo>
                  <a:lnTo>
                    <a:pt x="0" y="67049"/>
                  </a:lnTo>
                  <a:close/>
                </a:path>
              </a:pathLst>
            </a:custGeom>
            <a:gradFill rotWithShape="1">
              <a:gsLst>
                <a:gs pos="0">
                  <a:srgbClr val="002264">
                    <a:alpha val="100000"/>
                  </a:srgbClr>
                </a:gs>
                <a:gs pos="100000">
                  <a:srgbClr val="2D56A5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0" y="-38100"/>
              <a:ext cx="4816593" cy="10514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11811068" y="-1584844"/>
            <a:ext cx="7490149" cy="2448388"/>
            <a:chOff x="0" y="0"/>
            <a:chExt cx="2136863" cy="69850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2136863" cy="698500"/>
            </a:xfrm>
            <a:custGeom>
              <a:avLst/>
              <a:gdLst/>
              <a:ahLst/>
              <a:cxnLst/>
              <a:rect l="l" t="t" r="r" b="b"/>
              <a:pathLst>
                <a:path w="2136863" h="698500">
                  <a:moveTo>
                    <a:pt x="2136863" y="349250"/>
                  </a:moveTo>
                  <a:lnTo>
                    <a:pt x="1933663" y="698500"/>
                  </a:lnTo>
                  <a:lnTo>
                    <a:pt x="203200" y="698500"/>
                  </a:lnTo>
                  <a:lnTo>
                    <a:pt x="0" y="349250"/>
                  </a:lnTo>
                  <a:lnTo>
                    <a:pt x="203200" y="0"/>
                  </a:lnTo>
                  <a:lnTo>
                    <a:pt x="1933663" y="0"/>
                  </a:lnTo>
                  <a:lnTo>
                    <a:pt x="2136863" y="349250"/>
                  </a:lnTo>
                  <a:close/>
                </a:path>
              </a:pathLst>
            </a:custGeom>
            <a:gradFill rotWithShape="1">
              <a:gsLst>
                <a:gs pos="0">
                  <a:srgbClr val="002264">
                    <a:alpha val="100000"/>
                  </a:srgbClr>
                </a:gs>
                <a:gs pos="100000">
                  <a:srgbClr val="2D56A5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14300" y="-38100"/>
              <a:ext cx="1908263" cy="7366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6" name="Freeform 16"/>
          <p:cNvSpPr/>
          <p:nvPr/>
        </p:nvSpPr>
        <p:spPr>
          <a:xfrm>
            <a:off x="10276153" y="1260095"/>
            <a:ext cx="764904" cy="406407"/>
          </a:xfrm>
          <a:custGeom>
            <a:avLst/>
            <a:gdLst/>
            <a:ahLst/>
            <a:cxnLst/>
            <a:rect l="l" t="t" r="r" b="b"/>
            <a:pathLst>
              <a:path w="764904" h="406407">
                <a:moveTo>
                  <a:pt x="0" y="0"/>
                </a:moveTo>
                <a:lnTo>
                  <a:pt x="764904" y="0"/>
                </a:lnTo>
                <a:lnTo>
                  <a:pt x="764904" y="406407"/>
                </a:lnTo>
                <a:lnTo>
                  <a:pt x="0" y="40640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r="-111469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9" name="TextBox 19"/>
          <p:cNvSpPr txBox="1"/>
          <p:nvPr/>
        </p:nvSpPr>
        <p:spPr>
          <a:xfrm>
            <a:off x="1028700" y="885825"/>
            <a:ext cx="9093461" cy="13012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704"/>
              </a:lnSpc>
              <a:spcBef>
                <a:spcPct val="0"/>
              </a:spcBef>
            </a:pPr>
            <a:r>
              <a:rPr lang="en-US" sz="7646" b="1">
                <a:solidFill>
                  <a:srgbClr val="10347A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SALES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028700" y="1837158"/>
            <a:ext cx="8390653" cy="13012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704"/>
              </a:lnSpc>
              <a:spcBef>
                <a:spcPct val="0"/>
              </a:spcBef>
            </a:pPr>
            <a:r>
              <a:rPr lang="en-US" sz="7646" b="1" dirty="0">
                <a:solidFill>
                  <a:srgbClr val="00060D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Analysis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028700" y="2795473"/>
            <a:ext cx="8390653" cy="13012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704"/>
              </a:lnSpc>
              <a:spcBef>
                <a:spcPct val="0"/>
              </a:spcBef>
            </a:pPr>
            <a:r>
              <a:rPr lang="en-US" sz="7646" b="1" dirty="0">
                <a:solidFill>
                  <a:srgbClr val="10347A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Tolls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028700" y="4490339"/>
            <a:ext cx="16040100" cy="4704365"/>
          </a:xfrm>
          <a:prstGeom prst="rect">
            <a:avLst/>
          </a:prstGeom>
          <a:ln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4000" dirty="0"/>
              <a:t>Data analysis using </a:t>
            </a:r>
            <a:r>
              <a:rPr lang="en-US" sz="4800" b="1" dirty="0"/>
              <a:t>SQL</a:t>
            </a:r>
            <a:r>
              <a:rPr lang="en-US" sz="4000" dirty="0"/>
              <a:t>, </a:t>
            </a:r>
            <a:r>
              <a:rPr lang="en-US" sz="4800" b="1" dirty="0"/>
              <a:t>Excel</a:t>
            </a:r>
            <a:r>
              <a:rPr lang="en-US" sz="4000" dirty="0"/>
              <a:t>, and </a:t>
            </a:r>
            <a:r>
              <a:rPr lang="en-US" sz="4800" b="1" dirty="0"/>
              <a:t>Python</a:t>
            </a:r>
            <a:r>
              <a:rPr lang="en-US" sz="4000" dirty="0"/>
              <a:t> for data </a:t>
            </a:r>
            <a:r>
              <a:rPr lang="en-US" sz="4000" b="1" dirty="0"/>
              <a:t>verification</a:t>
            </a:r>
            <a:r>
              <a:rPr lang="en-US" sz="4000" dirty="0"/>
              <a:t> provides a powerful, end-to-end approach for transforming raw datasets into actionable insights. SQL structures and queries the data, Excel enables quick exploration </a:t>
            </a:r>
          </a:p>
          <a:p>
            <a:pPr algn="just">
              <a:lnSpc>
                <a:spcPct val="150000"/>
              </a:lnSpc>
            </a:pPr>
            <a:r>
              <a:rPr lang="en-US" sz="4000" dirty="0"/>
              <a:t>and visualization, and Python automates advanced analytics, creating </a:t>
            </a:r>
          </a:p>
          <a:p>
            <a:pPr algn="just">
              <a:lnSpc>
                <a:spcPct val="150000"/>
              </a:lnSpc>
            </a:pPr>
            <a:r>
              <a:rPr lang="en-US" sz="4000" dirty="0"/>
              <a:t>a seamless workflow for accurate, scalable decision-making</a:t>
            </a:r>
            <a:endParaRPr lang="en-US" sz="3600" dirty="0">
              <a:solidFill>
                <a:srgbClr val="00060D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85763" y="-4072416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2813" t="-22813"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3" name="Group 3"/>
          <p:cNvGrpSpPr/>
          <p:nvPr/>
        </p:nvGrpSpPr>
        <p:grpSpPr>
          <a:xfrm>
            <a:off x="9639404" y="2013937"/>
            <a:ext cx="6926505" cy="647715"/>
            <a:chOff x="0" y="0"/>
            <a:chExt cx="7469591" cy="6985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7469591" cy="698500"/>
            </a:xfrm>
            <a:custGeom>
              <a:avLst/>
              <a:gdLst/>
              <a:ahLst/>
              <a:cxnLst/>
              <a:rect l="l" t="t" r="r" b="b"/>
              <a:pathLst>
                <a:path w="7469591" h="698500">
                  <a:moveTo>
                    <a:pt x="7469591" y="349250"/>
                  </a:moveTo>
                  <a:lnTo>
                    <a:pt x="7266391" y="698500"/>
                  </a:lnTo>
                  <a:lnTo>
                    <a:pt x="203200" y="698500"/>
                  </a:lnTo>
                  <a:lnTo>
                    <a:pt x="0" y="349250"/>
                  </a:lnTo>
                  <a:lnTo>
                    <a:pt x="203200" y="0"/>
                  </a:lnTo>
                  <a:lnTo>
                    <a:pt x="7266391" y="0"/>
                  </a:lnTo>
                  <a:lnTo>
                    <a:pt x="7469591" y="349250"/>
                  </a:lnTo>
                  <a:close/>
                </a:path>
              </a:pathLst>
            </a:custGeom>
            <a:solidFill>
              <a:srgbClr val="10347A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114300" y="-38100"/>
              <a:ext cx="7240991" cy="7366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9571246" y="3076057"/>
            <a:ext cx="6926505" cy="647715"/>
            <a:chOff x="0" y="0"/>
            <a:chExt cx="7469591" cy="6985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7469591" cy="698500"/>
            </a:xfrm>
            <a:custGeom>
              <a:avLst/>
              <a:gdLst/>
              <a:ahLst/>
              <a:cxnLst/>
              <a:rect l="l" t="t" r="r" b="b"/>
              <a:pathLst>
                <a:path w="7469591" h="698500">
                  <a:moveTo>
                    <a:pt x="7469591" y="349250"/>
                  </a:moveTo>
                  <a:lnTo>
                    <a:pt x="7266391" y="698500"/>
                  </a:lnTo>
                  <a:lnTo>
                    <a:pt x="203200" y="698500"/>
                  </a:lnTo>
                  <a:lnTo>
                    <a:pt x="0" y="349250"/>
                  </a:lnTo>
                  <a:lnTo>
                    <a:pt x="203200" y="0"/>
                  </a:lnTo>
                  <a:lnTo>
                    <a:pt x="7266391" y="0"/>
                  </a:lnTo>
                  <a:lnTo>
                    <a:pt x="7469591" y="349250"/>
                  </a:lnTo>
                  <a:close/>
                </a:path>
              </a:pathLst>
            </a:custGeom>
            <a:solidFill>
              <a:srgbClr val="10347A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114300" y="-38100"/>
              <a:ext cx="7240991" cy="7366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9595521" y="3938159"/>
            <a:ext cx="7557789" cy="5216337"/>
            <a:chOff x="-795081" y="-4926831"/>
            <a:chExt cx="8150372" cy="5625331"/>
          </a:xfrm>
        </p:grpSpPr>
        <p:sp>
          <p:nvSpPr>
            <p:cNvPr id="10" name="Freeform 10"/>
            <p:cNvSpPr/>
            <p:nvPr/>
          </p:nvSpPr>
          <p:spPr>
            <a:xfrm>
              <a:off x="-795081" y="-4926831"/>
              <a:ext cx="7469591" cy="698500"/>
            </a:xfrm>
            <a:custGeom>
              <a:avLst/>
              <a:gdLst/>
              <a:ahLst/>
              <a:cxnLst/>
              <a:rect l="l" t="t" r="r" b="b"/>
              <a:pathLst>
                <a:path w="7469591" h="698500">
                  <a:moveTo>
                    <a:pt x="7469591" y="349250"/>
                  </a:moveTo>
                  <a:lnTo>
                    <a:pt x="7266391" y="698500"/>
                  </a:lnTo>
                  <a:lnTo>
                    <a:pt x="203200" y="698500"/>
                  </a:lnTo>
                  <a:lnTo>
                    <a:pt x="0" y="349250"/>
                  </a:lnTo>
                  <a:lnTo>
                    <a:pt x="203200" y="0"/>
                  </a:lnTo>
                  <a:lnTo>
                    <a:pt x="7266391" y="0"/>
                  </a:lnTo>
                  <a:lnTo>
                    <a:pt x="7469591" y="349250"/>
                  </a:lnTo>
                  <a:close/>
                </a:path>
              </a:pathLst>
            </a:custGeom>
            <a:solidFill>
              <a:srgbClr val="10347A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14300" y="-38100"/>
              <a:ext cx="7240991" cy="7366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5" name="Group 15"/>
          <p:cNvGrpSpPr/>
          <p:nvPr/>
        </p:nvGrpSpPr>
        <p:grpSpPr>
          <a:xfrm rot="1816035">
            <a:off x="-666771" y="7129837"/>
            <a:ext cx="4871721" cy="4116685"/>
            <a:chOff x="0" y="0"/>
            <a:chExt cx="1283087" cy="1084230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1283087" cy="1084230"/>
            </a:xfrm>
            <a:custGeom>
              <a:avLst/>
              <a:gdLst/>
              <a:ahLst/>
              <a:cxnLst/>
              <a:rect l="l" t="t" r="r" b="b"/>
              <a:pathLst>
                <a:path w="1283087" h="1084230">
                  <a:moveTo>
                    <a:pt x="0" y="0"/>
                  </a:moveTo>
                  <a:lnTo>
                    <a:pt x="1283087" y="0"/>
                  </a:lnTo>
                  <a:lnTo>
                    <a:pt x="1283087" y="1084230"/>
                  </a:lnTo>
                  <a:lnTo>
                    <a:pt x="0" y="1084230"/>
                  </a:lnTo>
                  <a:close/>
                </a:path>
              </a:pathLst>
            </a:custGeom>
            <a:gradFill rotWithShape="1">
              <a:gsLst>
                <a:gs pos="0">
                  <a:srgbClr val="002264">
                    <a:alpha val="100000"/>
                  </a:srgbClr>
                </a:gs>
                <a:gs pos="100000">
                  <a:srgbClr val="2D56A5">
                    <a:alpha val="100000"/>
                  </a:srgbClr>
                </a:gs>
              </a:gsLst>
              <a:lin ang="5400000"/>
            </a:gradFill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0" y="-38100"/>
              <a:ext cx="1283087" cy="112233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8" name="Group 18"/>
          <p:cNvGrpSpPr/>
          <p:nvPr/>
        </p:nvGrpSpPr>
        <p:grpSpPr>
          <a:xfrm rot="1816035">
            <a:off x="4298912" y="8233619"/>
            <a:ext cx="1370504" cy="4326908"/>
            <a:chOff x="0" y="0"/>
            <a:chExt cx="360956" cy="1139597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360956" cy="1139597"/>
            </a:xfrm>
            <a:custGeom>
              <a:avLst/>
              <a:gdLst/>
              <a:ahLst/>
              <a:cxnLst/>
              <a:rect l="l" t="t" r="r" b="b"/>
              <a:pathLst>
                <a:path w="360956" h="1139597">
                  <a:moveTo>
                    <a:pt x="0" y="0"/>
                  </a:moveTo>
                  <a:lnTo>
                    <a:pt x="360956" y="0"/>
                  </a:lnTo>
                  <a:lnTo>
                    <a:pt x="360956" y="1139597"/>
                  </a:lnTo>
                  <a:lnTo>
                    <a:pt x="0" y="1139597"/>
                  </a:lnTo>
                  <a:close/>
                </a:path>
              </a:pathLst>
            </a:custGeom>
            <a:gradFill rotWithShape="1">
              <a:gsLst>
                <a:gs pos="0">
                  <a:srgbClr val="002264">
                    <a:alpha val="100000"/>
                  </a:srgbClr>
                </a:gs>
                <a:gs pos="100000">
                  <a:srgbClr val="2D56A5">
                    <a:alpha val="100000"/>
                  </a:srgbClr>
                </a:gs>
              </a:gsLst>
              <a:lin ang="5400000"/>
            </a:gradFill>
          </p:spPr>
          <p:txBody>
            <a:bodyPr/>
            <a:lstStyle/>
            <a:p>
              <a:endParaRPr lang="en-US"/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0" y="-38100"/>
              <a:ext cx="360956" cy="117769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-3244675" y="4782074"/>
            <a:ext cx="6794577" cy="5839090"/>
            <a:chOff x="0" y="0"/>
            <a:chExt cx="812800" cy="698500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812800" cy="698500"/>
            </a:xfrm>
            <a:custGeom>
              <a:avLst/>
              <a:gdLst/>
              <a:ahLst/>
              <a:cxnLst/>
              <a:rect l="l" t="t" r="r" b="b"/>
              <a:pathLst>
                <a:path w="812800" h="698500">
                  <a:moveTo>
                    <a:pt x="812800" y="349250"/>
                  </a:moveTo>
                  <a:lnTo>
                    <a:pt x="609600" y="698500"/>
                  </a:lnTo>
                  <a:lnTo>
                    <a:pt x="203200" y="698500"/>
                  </a:lnTo>
                  <a:lnTo>
                    <a:pt x="0" y="349250"/>
                  </a:lnTo>
                  <a:lnTo>
                    <a:pt x="203200" y="0"/>
                  </a:lnTo>
                  <a:lnTo>
                    <a:pt x="609600" y="0"/>
                  </a:lnTo>
                  <a:lnTo>
                    <a:pt x="812800" y="34925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0" cap="sq">
              <a:solidFill>
                <a:srgbClr val="FFFFFF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114300" y="-38100"/>
              <a:ext cx="584200" cy="7366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0" y="0"/>
            <a:ext cx="18288000" cy="254577"/>
            <a:chOff x="0" y="0"/>
            <a:chExt cx="4816593" cy="67049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4816592" cy="67049"/>
            </a:xfrm>
            <a:custGeom>
              <a:avLst/>
              <a:gdLst/>
              <a:ahLst/>
              <a:cxnLst/>
              <a:rect l="l" t="t" r="r" b="b"/>
              <a:pathLst>
                <a:path w="4816592" h="67049">
                  <a:moveTo>
                    <a:pt x="0" y="0"/>
                  </a:moveTo>
                  <a:lnTo>
                    <a:pt x="4816592" y="0"/>
                  </a:lnTo>
                  <a:lnTo>
                    <a:pt x="4816592" y="67049"/>
                  </a:lnTo>
                  <a:lnTo>
                    <a:pt x="0" y="67049"/>
                  </a:lnTo>
                  <a:close/>
                </a:path>
              </a:pathLst>
            </a:custGeom>
            <a:gradFill rotWithShape="1">
              <a:gsLst>
                <a:gs pos="0">
                  <a:srgbClr val="002264">
                    <a:alpha val="100000"/>
                  </a:srgbClr>
                </a:gs>
                <a:gs pos="100000">
                  <a:srgbClr val="2D56A5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US"/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0" y="-38100"/>
              <a:ext cx="4816593" cy="10514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-3321198" y="-529605"/>
            <a:ext cx="12650959" cy="9684100"/>
            <a:chOff x="0" y="0"/>
            <a:chExt cx="912495" cy="698500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912495" cy="698500"/>
            </a:xfrm>
            <a:custGeom>
              <a:avLst/>
              <a:gdLst/>
              <a:ahLst/>
              <a:cxnLst/>
              <a:rect l="l" t="t" r="r" b="b"/>
              <a:pathLst>
                <a:path w="912495" h="698500">
                  <a:moveTo>
                    <a:pt x="912495" y="349250"/>
                  </a:moveTo>
                  <a:lnTo>
                    <a:pt x="709295" y="698500"/>
                  </a:lnTo>
                  <a:lnTo>
                    <a:pt x="203200" y="698500"/>
                  </a:lnTo>
                  <a:lnTo>
                    <a:pt x="0" y="349250"/>
                  </a:lnTo>
                  <a:lnTo>
                    <a:pt x="203200" y="0"/>
                  </a:lnTo>
                  <a:lnTo>
                    <a:pt x="709295" y="0"/>
                  </a:lnTo>
                  <a:lnTo>
                    <a:pt x="912495" y="349250"/>
                  </a:lnTo>
                  <a:close/>
                </a:path>
              </a:pathLst>
            </a:custGeom>
            <a:gradFill rotWithShape="1">
              <a:gsLst>
                <a:gs pos="0">
                  <a:srgbClr val="002264">
                    <a:alpha val="100000"/>
                  </a:srgbClr>
                </a:gs>
                <a:gs pos="100000">
                  <a:srgbClr val="2D56A5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US"/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114300" y="-38100"/>
              <a:ext cx="683895" cy="7366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32" name="Freeform 32"/>
          <p:cNvSpPr/>
          <p:nvPr/>
        </p:nvSpPr>
        <p:spPr>
          <a:xfrm>
            <a:off x="16494396" y="1028700"/>
            <a:ext cx="764904" cy="406407"/>
          </a:xfrm>
          <a:custGeom>
            <a:avLst/>
            <a:gdLst/>
            <a:ahLst/>
            <a:cxnLst/>
            <a:rect l="l" t="t" r="r" b="b"/>
            <a:pathLst>
              <a:path w="764904" h="406407">
                <a:moveTo>
                  <a:pt x="0" y="0"/>
                </a:moveTo>
                <a:lnTo>
                  <a:pt x="764904" y="0"/>
                </a:lnTo>
                <a:lnTo>
                  <a:pt x="764904" y="406407"/>
                </a:lnTo>
                <a:lnTo>
                  <a:pt x="0" y="40640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r="-111469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3" name="Freeform 33"/>
          <p:cNvSpPr/>
          <p:nvPr/>
        </p:nvSpPr>
        <p:spPr>
          <a:xfrm>
            <a:off x="8564857" y="8748089"/>
            <a:ext cx="764904" cy="406407"/>
          </a:xfrm>
          <a:custGeom>
            <a:avLst/>
            <a:gdLst/>
            <a:ahLst/>
            <a:cxnLst/>
            <a:rect l="l" t="t" r="r" b="b"/>
            <a:pathLst>
              <a:path w="764904" h="406407">
                <a:moveTo>
                  <a:pt x="0" y="0"/>
                </a:moveTo>
                <a:lnTo>
                  <a:pt x="764904" y="0"/>
                </a:lnTo>
                <a:lnTo>
                  <a:pt x="764904" y="406406"/>
                </a:lnTo>
                <a:lnTo>
                  <a:pt x="0" y="40640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r="-111469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7" name="TextBox 37"/>
          <p:cNvSpPr txBox="1"/>
          <p:nvPr/>
        </p:nvSpPr>
        <p:spPr>
          <a:xfrm>
            <a:off x="10177071" y="2080171"/>
            <a:ext cx="6915184" cy="3751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20"/>
              </a:lnSpc>
            </a:pPr>
            <a:r>
              <a:rPr lang="en-US" sz="2400" b="1" dirty="0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Total sales and total order numbers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10177071" y="3192868"/>
            <a:ext cx="6915184" cy="3751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20"/>
              </a:lnSpc>
            </a:pPr>
            <a:r>
              <a:rPr lang="en-US" sz="2400" b="1" dirty="0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Total sales per quarter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10092785" y="4102847"/>
            <a:ext cx="6915184" cy="3751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20"/>
              </a:lnSpc>
            </a:pPr>
            <a:r>
              <a:rPr lang="en-US" sz="2400" b="1" dirty="0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Order numbers per quarter</a:t>
            </a:r>
          </a:p>
        </p:txBody>
      </p:sp>
      <p:grpSp>
        <p:nvGrpSpPr>
          <p:cNvPr id="40" name="Group 6">
            <a:extLst>
              <a:ext uri="{FF2B5EF4-FFF2-40B4-BE49-F238E27FC236}">
                <a16:creationId xmlns:a16="http://schemas.microsoft.com/office/drawing/2014/main" id="{7483DCDD-8A4B-1D3B-E663-03DE515A50A9}"/>
              </a:ext>
            </a:extLst>
          </p:cNvPr>
          <p:cNvGrpSpPr/>
          <p:nvPr/>
        </p:nvGrpSpPr>
        <p:grpSpPr>
          <a:xfrm>
            <a:off x="7144984" y="-15257"/>
            <a:ext cx="10612210" cy="1725239"/>
            <a:chOff x="114300" y="-38100"/>
            <a:chExt cx="4169547" cy="904675"/>
          </a:xfrm>
        </p:grpSpPr>
        <p:sp>
          <p:nvSpPr>
            <p:cNvPr id="41" name="Freeform 7">
              <a:extLst>
                <a:ext uri="{FF2B5EF4-FFF2-40B4-BE49-F238E27FC236}">
                  <a16:creationId xmlns:a16="http://schemas.microsoft.com/office/drawing/2014/main" id="{7A4627AC-C0EF-8D0D-6A0E-277C87B1E375}"/>
                </a:ext>
              </a:extLst>
            </p:cNvPr>
            <p:cNvSpPr/>
            <p:nvPr/>
          </p:nvSpPr>
          <p:spPr>
            <a:xfrm>
              <a:off x="114300" y="152997"/>
              <a:ext cx="4169547" cy="713578"/>
            </a:xfrm>
            <a:custGeom>
              <a:avLst/>
              <a:gdLst/>
              <a:ahLst/>
              <a:cxnLst/>
              <a:rect l="l" t="t" r="r" b="b"/>
              <a:pathLst>
                <a:path w="4051749" h="698500">
                  <a:moveTo>
                    <a:pt x="4051749" y="349250"/>
                  </a:moveTo>
                  <a:lnTo>
                    <a:pt x="3848549" y="698500"/>
                  </a:lnTo>
                  <a:lnTo>
                    <a:pt x="203200" y="698500"/>
                  </a:lnTo>
                  <a:lnTo>
                    <a:pt x="0" y="349250"/>
                  </a:lnTo>
                  <a:lnTo>
                    <a:pt x="203200" y="0"/>
                  </a:lnTo>
                  <a:lnTo>
                    <a:pt x="3848549" y="0"/>
                  </a:lnTo>
                  <a:lnTo>
                    <a:pt x="4051749" y="349250"/>
                  </a:lnTo>
                  <a:close/>
                </a:path>
              </a:pathLst>
            </a:custGeom>
            <a:solidFill>
              <a:srgbClr val="10347A"/>
            </a:solidFill>
          </p:spPr>
          <p:txBody>
            <a:bodyPr/>
            <a:lstStyle/>
            <a:p>
              <a:pPr algn="ctr">
                <a:lnSpc>
                  <a:spcPct val="150000"/>
                </a:lnSpc>
              </a:pPr>
              <a:r>
                <a:rPr lang="en-US" sz="4400" b="1" dirty="0">
                  <a:solidFill>
                    <a:schemeClr val="bg1"/>
                  </a:solidFill>
                </a:rPr>
                <a:t>Sales analysis – </a:t>
              </a:r>
              <a:r>
                <a:rPr lang="en-US" sz="5400" b="1" dirty="0">
                  <a:solidFill>
                    <a:schemeClr val="tx2">
                      <a:lumMod val="60000"/>
                      <a:lumOff val="40000"/>
                    </a:schemeClr>
                  </a:solidFill>
                </a:rPr>
                <a:t>Sales</a:t>
              </a:r>
              <a:r>
                <a:rPr lang="en-US" sz="4400" b="1" dirty="0">
                  <a:solidFill>
                    <a:schemeClr val="bg1"/>
                  </a:solidFill>
                </a:rPr>
                <a:t> insights</a:t>
              </a:r>
            </a:p>
          </p:txBody>
        </p:sp>
        <p:sp>
          <p:nvSpPr>
            <p:cNvPr id="42" name="TextBox 8">
              <a:extLst>
                <a:ext uri="{FF2B5EF4-FFF2-40B4-BE49-F238E27FC236}">
                  <a16:creationId xmlns:a16="http://schemas.microsoft.com/office/drawing/2014/main" id="{84368D1A-2539-A6DA-01D1-45557650884D}"/>
                </a:ext>
              </a:extLst>
            </p:cNvPr>
            <p:cNvSpPr txBox="1"/>
            <p:nvPr/>
          </p:nvSpPr>
          <p:spPr>
            <a:xfrm>
              <a:off x="114300" y="-38100"/>
              <a:ext cx="3823149" cy="7366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44" name="Freeform 10">
            <a:extLst>
              <a:ext uri="{FF2B5EF4-FFF2-40B4-BE49-F238E27FC236}">
                <a16:creationId xmlns:a16="http://schemas.microsoft.com/office/drawing/2014/main" id="{9E97C61E-9CC4-C9D7-F327-74971EBD9273}"/>
              </a:ext>
            </a:extLst>
          </p:cNvPr>
          <p:cNvSpPr/>
          <p:nvPr/>
        </p:nvSpPr>
        <p:spPr>
          <a:xfrm>
            <a:off x="9646173" y="6075821"/>
            <a:ext cx="6926505" cy="647715"/>
          </a:xfrm>
          <a:custGeom>
            <a:avLst/>
            <a:gdLst/>
            <a:ahLst/>
            <a:cxnLst/>
            <a:rect l="l" t="t" r="r" b="b"/>
            <a:pathLst>
              <a:path w="7469591" h="698500">
                <a:moveTo>
                  <a:pt x="7469591" y="349250"/>
                </a:moveTo>
                <a:lnTo>
                  <a:pt x="7266391" y="698500"/>
                </a:lnTo>
                <a:lnTo>
                  <a:pt x="203200" y="698500"/>
                </a:lnTo>
                <a:lnTo>
                  <a:pt x="0" y="349250"/>
                </a:lnTo>
                <a:lnTo>
                  <a:pt x="203200" y="0"/>
                </a:lnTo>
                <a:lnTo>
                  <a:pt x="7266391" y="0"/>
                </a:lnTo>
                <a:lnTo>
                  <a:pt x="7469591" y="349250"/>
                </a:lnTo>
                <a:close/>
              </a:path>
            </a:pathLst>
          </a:custGeom>
          <a:solidFill>
            <a:srgbClr val="10347A"/>
          </a:solidFill>
        </p:spPr>
        <p:txBody>
          <a:bodyPr/>
          <a:lstStyle/>
          <a:p>
            <a:endParaRPr lang="en-US"/>
          </a:p>
        </p:txBody>
      </p:sp>
      <p:grpSp>
        <p:nvGrpSpPr>
          <p:cNvPr id="45" name="Group 6">
            <a:extLst>
              <a:ext uri="{FF2B5EF4-FFF2-40B4-BE49-F238E27FC236}">
                <a16:creationId xmlns:a16="http://schemas.microsoft.com/office/drawing/2014/main" id="{BD82AD70-252F-F9E4-E497-DD68DD534D30}"/>
              </a:ext>
            </a:extLst>
          </p:cNvPr>
          <p:cNvGrpSpPr/>
          <p:nvPr/>
        </p:nvGrpSpPr>
        <p:grpSpPr>
          <a:xfrm>
            <a:off x="9567812" y="4939873"/>
            <a:ext cx="6926505" cy="647715"/>
            <a:chOff x="0" y="0"/>
            <a:chExt cx="7469591" cy="698500"/>
          </a:xfrm>
        </p:grpSpPr>
        <p:sp>
          <p:nvSpPr>
            <p:cNvPr id="46" name="Freeform 7">
              <a:extLst>
                <a:ext uri="{FF2B5EF4-FFF2-40B4-BE49-F238E27FC236}">
                  <a16:creationId xmlns:a16="http://schemas.microsoft.com/office/drawing/2014/main" id="{7ADE3415-A108-A547-C988-E6A3C68AE57D}"/>
                </a:ext>
              </a:extLst>
            </p:cNvPr>
            <p:cNvSpPr/>
            <p:nvPr/>
          </p:nvSpPr>
          <p:spPr>
            <a:xfrm>
              <a:off x="0" y="0"/>
              <a:ext cx="7469591" cy="698500"/>
            </a:xfrm>
            <a:custGeom>
              <a:avLst/>
              <a:gdLst/>
              <a:ahLst/>
              <a:cxnLst/>
              <a:rect l="l" t="t" r="r" b="b"/>
              <a:pathLst>
                <a:path w="7469591" h="698500">
                  <a:moveTo>
                    <a:pt x="7469591" y="349250"/>
                  </a:moveTo>
                  <a:lnTo>
                    <a:pt x="7266391" y="698500"/>
                  </a:lnTo>
                  <a:lnTo>
                    <a:pt x="203200" y="698500"/>
                  </a:lnTo>
                  <a:lnTo>
                    <a:pt x="0" y="349250"/>
                  </a:lnTo>
                  <a:lnTo>
                    <a:pt x="203200" y="0"/>
                  </a:lnTo>
                  <a:lnTo>
                    <a:pt x="7266391" y="0"/>
                  </a:lnTo>
                  <a:lnTo>
                    <a:pt x="7469591" y="349250"/>
                  </a:lnTo>
                  <a:close/>
                </a:path>
              </a:pathLst>
            </a:custGeom>
            <a:solidFill>
              <a:srgbClr val="10347A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7" name="TextBox 8">
              <a:extLst>
                <a:ext uri="{FF2B5EF4-FFF2-40B4-BE49-F238E27FC236}">
                  <a16:creationId xmlns:a16="http://schemas.microsoft.com/office/drawing/2014/main" id="{EE3E13A5-A996-4AD6-524F-FC182D065B15}"/>
                </a:ext>
              </a:extLst>
            </p:cNvPr>
            <p:cNvSpPr txBox="1"/>
            <p:nvPr/>
          </p:nvSpPr>
          <p:spPr>
            <a:xfrm>
              <a:off x="114300" y="-38100"/>
              <a:ext cx="7240991" cy="7366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48" name="TextBox 39">
            <a:extLst>
              <a:ext uri="{FF2B5EF4-FFF2-40B4-BE49-F238E27FC236}">
                <a16:creationId xmlns:a16="http://schemas.microsoft.com/office/drawing/2014/main" id="{47EBFEC7-7243-64CF-E2CB-E482ECDDA7DC}"/>
              </a:ext>
            </a:extLst>
          </p:cNvPr>
          <p:cNvSpPr txBox="1"/>
          <p:nvPr/>
        </p:nvSpPr>
        <p:spPr>
          <a:xfrm>
            <a:off x="10158024" y="5058513"/>
            <a:ext cx="6915184" cy="3751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20"/>
              </a:lnSpc>
            </a:pPr>
            <a:r>
              <a:rPr lang="en-US" sz="2400" b="1" dirty="0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Sales &amp; order numbers per week days</a:t>
            </a:r>
          </a:p>
        </p:txBody>
      </p:sp>
      <p:sp>
        <p:nvSpPr>
          <p:cNvPr id="49" name="TextBox 39">
            <a:extLst>
              <a:ext uri="{FF2B5EF4-FFF2-40B4-BE49-F238E27FC236}">
                <a16:creationId xmlns:a16="http://schemas.microsoft.com/office/drawing/2014/main" id="{F24A6BE9-36FB-4AF1-C11C-93B2E33819DF}"/>
              </a:ext>
            </a:extLst>
          </p:cNvPr>
          <p:cNvSpPr txBox="1"/>
          <p:nvPr/>
        </p:nvSpPr>
        <p:spPr>
          <a:xfrm>
            <a:off x="10338455" y="6208277"/>
            <a:ext cx="6915184" cy="3751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3120"/>
              </a:lnSpc>
            </a:pPr>
            <a:r>
              <a:rPr lang="en-US" sz="2400" b="1" dirty="0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Sales &amp; order numbers per sales range</a:t>
            </a:r>
          </a:p>
        </p:txBody>
      </p:sp>
      <p:sp>
        <p:nvSpPr>
          <p:cNvPr id="52" name="Freeform 10">
            <a:extLst>
              <a:ext uri="{FF2B5EF4-FFF2-40B4-BE49-F238E27FC236}">
                <a16:creationId xmlns:a16="http://schemas.microsoft.com/office/drawing/2014/main" id="{65E29642-64F6-7DA8-5EEA-22AAA9E1FD98}"/>
              </a:ext>
            </a:extLst>
          </p:cNvPr>
          <p:cNvSpPr/>
          <p:nvPr/>
        </p:nvSpPr>
        <p:spPr>
          <a:xfrm>
            <a:off x="9567812" y="7144326"/>
            <a:ext cx="7052781" cy="647715"/>
          </a:xfrm>
          <a:custGeom>
            <a:avLst/>
            <a:gdLst/>
            <a:ahLst/>
            <a:cxnLst/>
            <a:rect l="l" t="t" r="r" b="b"/>
            <a:pathLst>
              <a:path w="7469591" h="698500">
                <a:moveTo>
                  <a:pt x="7469591" y="349250"/>
                </a:moveTo>
                <a:lnTo>
                  <a:pt x="7266391" y="698500"/>
                </a:lnTo>
                <a:lnTo>
                  <a:pt x="203200" y="698500"/>
                </a:lnTo>
                <a:lnTo>
                  <a:pt x="0" y="349250"/>
                </a:lnTo>
                <a:lnTo>
                  <a:pt x="203200" y="0"/>
                </a:lnTo>
                <a:lnTo>
                  <a:pt x="7266391" y="0"/>
                </a:lnTo>
                <a:lnTo>
                  <a:pt x="7469591" y="349250"/>
                </a:lnTo>
                <a:close/>
              </a:path>
            </a:pathLst>
          </a:custGeom>
          <a:solidFill>
            <a:srgbClr val="10347A"/>
          </a:solidFill>
        </p:spPr>
        <p:txBody>
          <a:bodyPr/>
          <a:lstStyle/>
          <a:p>
            <a:endParaRPr lang="en-US" dirty="0"/>
          </a:p>
        </p:txBody>
      </p:sp>
      <p:sp>
        <p:nvSpPr>
          <p:cNvPr id="53" name="Freeform 10">
            <a:extLst>
              <a:ext uri="{FF2B5EF4-FFF2-40B4-BE49-F238E27FC236}">
                <a16:creationId xmlns:a16="http://schemas.microsoft.com/office/drawing/2014/main" id="{FB43238D-B7DB-A158-8A07-93153CBBF327}"/>
              </a:ext>
            </a:extLst>
          </p:cNvPr>
          <p:cNvSpPr/>
          <p:nvPr/>
        </p:nvSpPr>
        <p:spPr>
          <a:xfrm>
            <a:off x="9543925" y="8091706"/>
            <a:ext cx="6926505" cy="647715"/>
          </a:xfrm>
          <a:custGeom>
            <a:avLst/>
            <a:gdLst/>
            <a:ahLst/>
            <a:cxnLst/>
            <a:rect l="l" t="t" r="r" b="b"/>
            <a:pathLst>
              <a:path w="7469591" h="698500">
                <a:moveTo>
                  <a:pt x="7469591" y="349250"/>
                </a:moveTo>
                <a:lnTo>
                  <a:pt x="7266391" y="698500"/>
                </a:lnTo>
                <a:lnTo>
                  <a:pt x="203200" y="698500"/>
                </a:lnTo>
                <a:lnTo>
                  <a:pt x="0" y="349250"/>
                </a:lnTo>
                <a:lnTo>
                  <a:pt x="203200" y="0"/>
                </a:lnTo>
                <a:lnTo>
                  <a:pt x="7266391" y="0"/>
                </a:lnTo>
                <a:lnTo>
                  <a:pt x="7469591" y="349250"/>
                </a:lnTo>
                <a:close/>
              </a:path>
            </a:pathLst>
          </a:custGeom>
          <a:solidFill>
            <a:srgbClr val="10347A"/>
          </a:solidFill>
        </p:spPr>
        <p:txBody>
          <a:bodyPr/>
          <a:lstStyle/>
          <a:p>
            <a:endParaRPr lang="en-US"/>
          </a:p>
        </p:txBody>
      </p:sp>
      <p:sp>
        <p:nvSpPr>
          <p:cNvPr id="54" name="TextBox 39">
            <a:extLst>
              <a:ext uri="{FF2B5EF4-FFF2-40B4-BE49-F238E27FC236}">
                <a16:creationId xmlns:a16="http://schemas.microsoft.com/office/drawing/2014/main" id="{BE073B32-9AF2-84DC-5F6A-631200F5E09E}"/>
              </a:ext>
            </a:extLst>
          </p:cNvPr>
          <p:cNvSpPr txBox="1"/>
          <p:nvPr/>
        </p:nvSpPr>
        <p:spPr>
          <a:xfrm>
            <a:off x="10238126" y="7243637"/>
            <a:ext cx="6915184" cy="3751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3120"/>
              </a:lnSpc>
            </a:pPr>
            <a:r>
              <a:rPr lang="en-US" sz="2400" b="1" dirty="0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Sales &amp; order numbers per sales region</a:t>
            </a:r>
          </a:p>
        </p:txBody>
      </p:sp>
      <p:sp>
        <p:nvSpPr>
          <p:cNvPr id="55" name="TextBox 39">
            <a:extLst>
              <a:ext uri="{FF2B5EF4-FFF2-40B4-BE49-F238E27FC236}">
                <a16:creationId xmlns:a16="http://schemas.microsoft.com/office/drawing/2014/main" id="{92B5133D-8402-D2BE-AC5D-7C2A42715618}"/>
              </a:ext>
            </a:extLst>
          </p:cNvPr>
          <p:cNvSpPr txBox="1"/>
          <p:nvPr/>
        </p:nvSpPr>
        <p:spPr>
          <a:xfrm>
            <a:off x="10238126" y="8273063"/>
            <a:ext cx="6915184" cy="3751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3120"/>
              </a:lnSpc>
            </a:pPr>
            <a:r>
              <a:rPr lang="en-US" sz="2400" b="1" dirty="0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High sales zone</a:t>
            </a:r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56F0F33A-5F05-790D-517A-FB001A04E08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912798" y="876633"/>
            <a:ext cx="7642149" cy="76421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1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1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1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" grpId="0" animBg="1"/>
      <p:bldP spid="52" grpId="0" animBg="1"/>
      <p:bldP spid="53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0AB71B-1105-72F0-182D-247C153A49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3F2D7BEE-B623-3E1B-8C26-A186A34027A3}"/>
              </a:ext>
            </a:extLst>
          </p:cNvPr>
          <p:cNvSpPr/>
          <p:nvPr/>
        </p:nvSpPr>
        <p:spPr>
          <a:xfrm>
            <a:off x="185763" y="-4072416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2813" t="-22813"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A23EF63C-DA3D-AABE-A1B0-ECB1C7E7DC08}"/>
              </a:ext>
            </a:extLst>
          </p:cNvPr>
          <p:cNvGrpSpPr/>
          <p:nvPr/>
        </p:nvGrpSpPr>
        <p:grpSpPr>
          <a:xfrm>
            <a:off x="9639404" y="2013937"/>
            <a:ext cx="7236148" cy="888819"/>
            <a:chOff x="0" y="0"/>
            <a:chExt cx="7469591" cy="698500"/>
          </a:xfrm>
        </p:grpSpPr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66AE2A6F-4C07-08B2-325A-B6C24E294293}"/>
                </a:ext>
              </a:extLst>
            </p:cNvPr>
            <p:cNvSpPr/>
            <p:nvPr/>
          </p:nvSpPr>
          <p:spPr>
            <a:xfrm>
              <a:off x="0" y="0"/>
              <a:ext cx="7469591" cy="698500"/>
            </a:xfrm>
            <a:custGeom>
              <a:avLst/>
              <a:gdLst/>
              <a:ahLst/>
              <a:cxnLst/>
              <a:rect l="l" t="t" r="r" b="b"/>
              <a:pathLst>
                <a:path w="7469591" h="698500">
                  <a:moveTo>
                    <a:pt x="7469591" y="349250"/>
                  </a:moveTo>
                  <a:lnTo>
                    <a:pt x="7266391" y="698500"/>
                  </a:lnTo>
                  <a:lnTo>
                    <a:pt x="203200" y="698500"/>
                  </a:lnTo>
                  <a:lnTo>
                    <a:pt x="0" y="349250"/>
                  </a:lnTo>
                  <a:lnTo>
                    <a:pt x="203200" y="0"/>
                  </a:lnTo>
                  <a:lnTo>
                    <a:pt x="7266391" y="0"/>
                  </a:lnTo>
                  <a:lnTo>
                    <a:pt x="7469591" y="349250"/>
                  </a:lnTo>
                  <a:close/>
                </a:path>
              </a:pathLst>
            </a:custGeom>
            <a:solidFill>
              <a:srgbClr val="10347A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C3724DD7-A908-F1EC-DB8B-11DE6432D39D}"/>
                </a:ext>
              </a:extLst>
            </p:cNvPr>
            <p:cNvSpPr txBox="1"/>
            <p:nvPr/>
          </p:nvSpPr>
          <p:spPr>
            <a:xfrm>
              <a:off x="114300" y="-38100"/>
              <a:ext cx="7240991" cy="7366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6" name="Group 6">
            <a:extLst>
              <a:ext uri="{FF2B5EF4-FFF2-40B4-BE49-F238E27FC236}">
                <a16:creationId xmlns:a16="http://schemas.microsoft.com/office/drawing/2014/main" id="{4F15A605-4B9A-9FBC-2C55-76A228F28DEA}"/>
              </a:ext>
            </a:extLst>
          </p:cNvPr>
          <p:cNvGrpSpPr/>
          <p:nvPr/>
        </p:nvGrpSpPr>
        <p:grpSpPr>
          <a:xfrm>
            <a:off x="9571246" y="3076057"/>
            <a:ext cx="7304306" cy="647715"/>
            <a:chOff x="0" y="0"/>
            <a:chExt cx="7469591" cy="698500"/>
          </a:xfrm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9CF7A885-A997-CE2B-FF8B-C0C4139E430A}"/>
                </a:ext>
              </a:extLst>
            </p:cNvPr>
            <p:cNvSpPr/>
            <p:nvPr/>
          </p:nvSpPr>
          <p:spPr>
            <a:xfrm>
              <a:off x="0" y="0"/>
              <a:ext cx="7469591" cy="698500"/>
            </a:xfrm>
            <a:custGeom>
              <a:avLst/>
              <a:gdLst/>
              <a:ahLst/>
              <a:cxnLst/>
              <a:rect l="l" t="t" r="r" b="b"/>
              <a:pathLst>
                <a:path w="7469591" h="698500">
                  <a:moveTo>
                    <a:pt x="7469591" y="349250"/>
                  </a:moveTo>
                  <a:lnTo>
                    <a:pt x="7266391" y="698500"/>
                  </a:lnTo>
                  <a:lnTo>
                    <a:pt x="203200" y="698500"/>
                  </a:lnTo>
                  <a:lnTo>
                    <a:pt x="0" y="349250"/>
                  </a:lnTo>
                  <a:lnTo>
                    <a:pt x="203200" y="0"/>
                  </a:lnTo>
                  <a:lnTo>
                    <a:pt x="7266391" y="0"/>
                  </a:lnTo>
                  <a:lnTo>
                    <a:pt x="7469591" y="349250"/>
                  </a:lnTo>
                  <a:close/>
                </a:path>
              </a:pathLst>
            </a:custGeom>
            <a:solidFill>
              <a:srgbClr val="10347A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TextBox 8">
              <a:extLst>
                <a:ext uri="{FF2B5EF4-FFF2-40B4-BE49-F238E27FC236}">
                  <a16:creationId xmlns:a16="http://schemas.microsoft.com/office/drawing/2014/main" id="{66F473FD-3F29-2F3E-E6B6-79A562FA881C}"/>
                </a:ext>
              </a:extLst>
            </p:cNvPr>
            <p:cNvSpPr txBox="1"/>
            <p:nvPr/>
          </p:nvSpPr>
          <p:spPr>
            <a:xfrm>
              <a:off x="114300" y="-38100"/>
              <a:ext cx="7240991" cy="7366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9" name="Group 9">
            <a:extLst>
              <a:ext uri="{FF2B5EF4-FFF2-40B4-BE49-F238E27FC236}">
                <a16:creationId xmlns:a16="http://schemas.microsoft.com/office/drawing/2014/main" id="{C73212AC-AAB5-1BDA-1B4E-EC2198EF4AD1}"/>
              </a:ext>
            </a:extLst>
          </p:cNvPr>
          <p:cNvGrpSpPr/>
          <p:nvPr/>
        </p:nvGrpSpPr>
        <p:grpSpPr>
          <a:xfrm>
            <a:off x="9595521" y="3938159"/>
            <a:ext cx="7930478" cy="5216337"/>
            <a:chOff x="-795081" y="-4926831"/>
            <a:chExt cx="8150372" cy="5625331"/>
          </a:xfrm>
        </p:grpSpPr>
        <p:sp>
          <p:nvSpPr>
            <p:cNvPr id="10" name="Freeform 10">
              <a:extLst>
                <a:ext uri="{FF2B5EF4-FFF2-40B4-BE49-F238E27FC236}">
                  <a16:creationId xmlns:a16="http://schemas.microsoft.com/office/drawing/2014/main" id="{10E8C8DD-45DD-D579-1FA3-97C92F22BCBB}"/>
                </a:ext>
              </a:extLst>
            </p:cNvPr>
            <p:cNvSpPr/>
            <p:nvPr/>
          </p:nvSpPr>
          <p:spPr>
            <a:xfrm>
              <a:off x="-795081" y="-4926831"/>
              <a:ext cx="7469591" cy="698500"/>
            </a:xfrm>
            <a:custGeom>
              <a:avLst/>
              <a:gdLst/>
              <a:ahLst/>
              <a:cxnLst/>
              <a:rect l="l" t="t" r="r" b="b"/>
              <a:pathLst>
                <a:path w="7469591" h="698500">
                  <a:moveTo>
                    <a:pt x="7469591" y="349250"/>
                  </a:moveTo>
                  <a:lnTo>
                    <a:pt x="7266391" y="698500"/>
                  </a:lnTo>
                  <a:lnTo>
                    <a:pt x="203200" y="698500"/>
                  </a:lnTo>
                  <a:lnTo>
                    <a:pt x="0" y="349250"/>
                  </a:lnTo>
                  <a:lnTo>
                    <a:pt x="203200" y="0"/>
                  </a:lnTo>
                  <a:lnTo>
                    <a:pt x="7266391" y="0"/>
                  </a:lnTo>
                  <a:lnTo>
                    <a:pt x="7469591" y="349250"/>
                  </a:lnTo>
                  <a:close/>
                </a:path>
              </a:pathLst>
            </a:custGeom>
            <a:solidFill>
              <a:srgbClr val="10347A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TextBox 11">
              <a:extLst>
                <a:ext uri="{FF2B5EF4-FFF2-40B4-BE49-F238E27FC236}">
                  <a16:creationId xmlns:a16="http://schemas.microsoft.com/office/drawing/2014/main" id="{D9A83922-4A51-F4B8-2704-68356AADEA6E}"/>
                </a:ext>
              </a:extLst>
            </p:cNvPr>
            <p:cNvSpPr txBox="1"/>
            <p:nvPr/>
          </p:nvSpPr>
          <p:spPr>
            <a:xfrm>
              <a:off x="114300" y="-38100"/>
              <a:ext cx="7240991" cy="7366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5" name="Group 15">
            <a:extLst>
              <a:ext uri="{FF2B5EF4-FFF2-40B4-BE49-F238E27FC236}">
                <a16:creationId xmlns:a16="http://schemas.microsoft.com/office/drawing/2014/main" id="{2437BB95-D2E2-3B73-E6F5-B314BE230B99}"/>
              </a:ext>
            </a:extLst>
          </p:cNvPr>
          <p:cNvGrpSpPr/>
          <p:nvPr/>
        </p:nvGrpSpPr>
        <p:grpSpPr>
          <a:xfrm rot="1816035">
            <a:off x="-666771" y="7129837"/>
            <a:ext cx="4871721" cy="4116685"/>
            <a:chOff x="0" y="0"/>
            <a:chExt cx="1283087" cy="1084230"/>
          </a:xfrm>
        </p:grpSpPr>
        <p:sp>
          <p:nvSpPr>
            <p:cNvPr id="16" name="Freeform 16">
              <a:extLst>
                <a:ext uri="{FF2B5EF4-FFF2-40B4-BE49-F238E27FC236}">
                  <a16:creationId xmlns:a16="http://schemas.microsoft.com/office/drawing/2014/main" id="{95BE71F3-D17F-81F6-5766-06016DF6C184}"/>
                </a:ext>
              </a:extLst>
            </p:cNvPr>
            <p:cNvSpPr/>
            <p:nvPr/>
          </p:nvSpPr>
          <p:spPr>
            <a:xfrm>
              <a:off x="0" y="0"/>
              <a:ext cx="1283087" cy="1084230"/>
            </a:xfrm>
            <a:custGeom>
              <a:avLst/>
              <a:gdLst/>
              <a:ahLst/>
              <a:cxnLst/>
              <a:rect l="l" t="t" r="r" b="b"/>
              <a:pathLst>
                <a:path w="1283087" h="1084230">
                  <a:moveTo>
                    <a:pt x="0" y="0"/>
                  </a:moveTo>
                  <a:lnTo>
                    <a:pt x="1283087" y="0"/>
                  </a:lnTo>
                  <a:lnTo>
                    <a:pt x="1283087" y="1084230"/>
                  </a:lnTo>
                  <a:lnTo>
                    <a:pt x="0" y="1084230"/>
                  </a:lnTo>
                  <a:close/>
                </a:path>
              </a:pathLst>
            </a:custGeom>
            <a:gradFill rotWithShape="1">
              <a:gsLst>
                <a:gs pos="0">
                  <a:srgbClr val="002264">
                    <a:alpha val="100000"/>
                  </a:srgbClr>
                </a:gs>
                <a:gs pos="100000">
                  <a:srgbClr val="2D56A5">
                    <a:alpha val="100000"/>
                  </a:srgbClr>
                </a:gs>
              </a:gsLst>
              <a:lin ang="5400000"/>
            </a:gradFill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TextBox 17">
              <a:extLst>
                <a:ext uri="{FF2B5EF4-FFF2-40B4-BE49-F238E27FC236}">
                  <a16:creationId xmlns:a16="http://schemas.microsoft.com/office/drawing/2014/main" id="{9F34F433-AD8C-3E54-9AA8-9EDD732DE426}"/>
                </a:ext>
              </a:extLst>
            </p:cNvPr>
            <p:cNvSpPr txBox="1"/>
            <p:nvPr/>
          </p:nvSpPr>
          <p:spPr>
            <a:xfrm>
              <a:off x="0" y="-38100"/>
              <a:ext cx="1283087" cy="112233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8" name="Group 18">
            <a:extLst>
              <a:ext uri="{FF2B5EF4-FFF2-40B4-BE49-F238E27FC236}">
                <a16:creationId xmlns:a16="http://schemas.microsoft.com/office/drawing/2014/main" id="{62989C75-860B-4002-1914-131D275CC16B}"/>
              </a:ext>
            </a:extLst>
          </p:cNvPr>
          <p:cNvGrpSpPr/>
          <p:nvPr/>
        </p:nvGrpSpPr>
        <p:grpSpPr>
          <a:xfrm rot="1816035">
            <a:off x="4298912" y="8233619"/>
            <a:ext cx="1370504" cy="4326908"/>
            <a:chOff x="0" y="0"/>
            <a:chExt cx="360956" cy="1139597"/>
          </a:xfrm>
        </p:grpSpPr>
        <p:sp>
          <p:nvSpPr>
            <p:cNvPr id="19" name="Freeform 19">
              <a:extLst>
                <a:ext uri="{FF2B5EF4-FFF2-40B4-BE49-F238E27FC236}">
                  <a16:creationId xmlns:a16="http://schemas.microsoft.com/office/drawing/2014/main" id="{F610AA61-A26E-B5A0-FF47-9EEBC911724D}"/>
                </a:ext>
              </a:extLst>
            </p:cNvPr>
            <p:cNvSpPr/>
            <p:nvPr/>
          </p:nvSpPr>
          <p:spPr>
            <a:xfrm>
              <a:off x="0" y="0"/>
              <a:ext cx="360956" cy="1139597"/>
            </a:xfrm>
            <a:custGeom>
              <a:avLst/>
              <a:gdLst/>
              <a:ahLst/>
              <a:cxnLst/>
              <a:rect l="l" t="t" r="r" b="b"/>
              <a:pathLst>
                <a:path w="360956" h="1139597">
                  <a:moveTo>
                    <a:pt x="0" y="0"/>
                  </a:moveTo>
                  <a:lnTo>
                    <a:pt x="360956" y="0"/>
                  </a:lnTo>
                  <a:lnTo>
                    <a:pt x="360956" y="1139597"/>
                  </a:lnTo>
                  <a:lnTo>
                    <a:pt x="0" y="1139597"/>
                  </a:lnTo>
                  <a:close/>
                </a:path>
              </a:pathLst>
            </a:custGeom>
            <a:gradFill rotWithShape="1">
              <a:gsLst>
                <a:gs pos="0">
                  <a:srgbClr val="002264">
                    <a:alpha val="100000"/>
                  </a:srgbClr>
                </a:gs>
                <a:gs pos="100000">
                  <a:srgbClr val="2D56A5">
                    <a:alpha val="100000"/>
                  </a:srgbClr>
                </a:gs>
              </a:gsLst>
              <a:lin ang="5400000"/>
            </a:gradFill>
          </p:spPr>
          <p:txBody>
            <a:bodyPr/>
            <a:lstStyle/>
            <a:p>
              <a:endParaRPr lang="en-US"/>
            </a:p>
          </p:txBody>
        </p:sp>
        <p:sp>
          <p:nvSpPr>
            <p:cNvPr id="20" name="TextBox 20">
              <a:extLst>
                <a:ext uri="{FF2B5EF4-FFF2-40B4-BE49-F238E27FC236}">
                  <a16:creationId xmlns:a16="http://schemas.microsoft.com/office/drawing/2014/main" id="{33FCFF34-2AAB-248F-BC30-426D6AED315F}"/>
                </a:ext>
              </a:extLst>
            </p:cNvPr>
            <p:cNvSpPr txBox="1"/>
            <p:nvPr/>
          </p:nvSpPr>
          <p:spPr>
            <a:xfrm>
              <a:off x="0" y="-38100"/>
              <a:ext cx="360956" cy="117769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21" name="Group 21">
            <a:extLst>
              <a:ext uri="{FF2B5EF4-FFF2-40B4-BE49-F238E27FC236}">
                <a16:creationId xmlns:a16="http://schemas.microsoft.com/office/drawing/2014/main" id="{6593D926-E374-C6A0-D93E-3ECC99863D3B}"/>
              </a:ext>
            </a:extLst>
          </p:cNvPr>
          <p:cNvGrpSpPr/>
          <p:nvPr/>
        </p:nvGrpSpPr>
        <p:grpSpPr>
          <a:xfrm>
            <a:off x="-2988244" y="9523389"/>
            <a:ext cx="6794577" cy="5839090"/>
            <a:chOff x="0" y="0"/>
            <a:chExt cx="812800" cy="698500"/>
          </a:xfrm>
        </p:grpSpPr>
        <p:sp>
          <p:nvSpPr>
            <p:cNvPr id="22" name="Freeform 22">
              <a:extLst>
                <a:ext uri="{FF2B5EF4-FFF2-40B4-BE49-F238E27FC236}">
                  <a16:creationId xmlns:a16="http://schemas.microsoft.com/office/drawing/2014/main" id="{07B37670-6955-5A29-669D-49E55182A24D}"/>
                </a:ext>
              </a:extLst>
            </p:cNvPr>
            <p:cNvSpPr/>
            <p:nvPr/>
          </p:nvSpPr>
          <p:spPr>
            <a:xfrm>
              <a:off x="0" y="0"/>
              <a:ext cx="812800" cy="698500"/>
            </a:xfrm>
            <a:custGeom>
              <a:avLst/>
              <a:gdLst/>
              <a:ahLst/>
              <a:cxnLst/>
              <a:rect l="l" t="t" r="r" b="b"/>
              <a:pathLst>
                <a:path w="812800" h="698500">
                  <a:moveTo>
                    <a:pt x="812800" y="349250"/>
                  </a:moveTo>
                  <a:lnTo>
                    <a:pt x="609600" y="698500"/>
                  </a:lnTo>
                  <a:lnTo>
                    <a:pt x="203200" y="698500"/>
                  </a:lnTo>
                  <a:lnTo>
                    <a:pt x="0" y="349250"/>
                  </a:lnTo>
                  <a:lnTo>
                    <a:pt x="203200" y="0"/>
                  </a:lnTo>
                  <a:lnTo>
                    <a:pt x="609600" y="0"/>
                  </a:lnTo>
                  <a:lnTo>
                    <a:pt x="812800" y="34925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0" cap="sq">
              <a:solidFill>
                <a:srgbClr val="FFFFFF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3" name="TextBox 23">
              <a:extLst>
                <a:ext uri="{FF2B5EF4-FFF2-40B4-BE49-F238E27FC236}">
                  <a16:creationId xmlns:a16="http://schemas.microsoft.com/office/drawing/2014/main" id="{EC6C57AB-32CF-CA7F-2EC4-F5BF9C7E8DC9}"/>
                </a:ext>
              </a:extLst>
            </p:cNvPr>
            <p:cNvSpPr txBox="1"/>
            <p:nvPr/>
          </p:nvSpPr>
          <p:spPr>
            <a:xfrm>
              <a:off x="114300" y="-38100"/>
              <a:ext cx="584200" cy="7366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24" name="Group 24">
            <a:extLst>
              <a:ext uri="{FF2B5EF4-FFF2-40B4-BE49-F238E27FC236}">
                <a16:creationId xmlns:a16="http://schemas.microsoft.com/office/drawing/2014/main" id="{BDDD9BCE-C269-803B-787B-1CAB3E89C828}"/>
              </a:ext>
            </a:extLst>
          </p:cNvPr>
          <p:cNvGrpSpPr/>
          <p:nvPr/>
        </p:nvGrpSpPr>
        <p:grpSpPr>
          <a:xfrm>
            <a:off x="0" y="0"/>
            <a:ext cx="18288000" cy="254577"/>
            <a:chOff x="0" y="0"/>
            <a:chExt cx="4816593" cy="67049"/>
          </a:xfrm>
        </p:grpSpPr>
        <p:sp>
          <p:nvSpPr>
            <p:cNvPr id="25" name="Freeform 25">
              <a:extLst>
                <a:ext uri="{FF2B5EF4-FFF2-40B4-BE49-F238E27FC236}">
                  <a16:creationId xmlns:a16="http://schemas.microsoft.com/office/drawing/2014/main" id="{6870A38A-09DA-474F-B228-909A885A4613}"/>
                </a:ext>
              </a:extLst>
            </p:cNvPr>
            <p:cNvSpPr/>
            <p:nvPr/>
          </p:nvSpPr>
          <p:spPr>
            <a:xfrm>
              <a:off x="0" y="0"/>
              <a:ext cx="4816592" cy="67049"/>
            </a:xfrm>
            <a:custGeom>
              <a:avLst/>
              <a:gdLst/>
              <a:ahLst/>
              <a:cxnLst/>
              <a:rect l="l" t="t" r="r" b="b"/>
              <a:pathLst>
                <a:path w="4816592" h="67049">
                  <a:moveTo>
                    <a:pt x="0" y="0"/>
                  </a:moveTo>
                  <a:lnTo>
                    <a:pt x="4816592" y="0"/>
                  </a:lnTo>
                  <a:lnTo>
                    <a:pt x="4816592" y="67049"/>
                  </a:lnTo>
                  <a:lnTo>
                    <a:pt x="0" y="67049"/>
                  </a:lnTo>
                  <a:close/>
                </a:path>
              </a:pathLst>
            </a:custGeom>
            <a:gradFill rotWithShape="1">
              <a:gsLst>
                <a:gs pos="0">
                  <a:srgbClr val="002264">
                    <a:alpha val="100000"/>
                  </a:srgbClr>
                </a:gs>
                <a:gs pos="100000">
                  <a:srgbClr val="2D56A5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US"/>
            </a:p>
          </p:txBody>
        </p:sp>
        <p:sp>
          <p:nvSpPr>
            <p:cNvPr id="26" name="TextBox 26">
              <a:extLst>
                <a:ext uri="{FF2B5EF4-FFF2-40B4-BE49-F238E27FC236}">
                  <a16:creationId xmlns:a16="http://schemas.microsoft.com/office/drawing/2014/main" id="{9C3A5819-A170-5D1E-3F0F-D08BC5B59DB5}"/>
                </a:ext>
              </a:extLst>
            </p:cNvPr>
            <p:cNvSpPr txBox="1"/>
            <p:nvPr/>
          </p:nvSpPr>
          <p:spPr>
            <a:xfrm>
              <a:off x="0" y="-38100"/>
              <a:ext cx="4816593" cy="10514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27" name="Group 27">
            <a:extLst>
              <a:ext uri="{FF2B5EF4-FFF2-40B4-BE49-F238E27FC236}">
                <a16:creationId xmlns:a16="http://schemas.microsoft.com/office/drawing/2014/main" id="{2B6607A1-E009-8970-0D6A-E775D4788626}"/>
              </a:ext>
            </a:extLst>
          </p:cNvPr>
          <p:cNvGrpSpPr/>
          <p:nvPr/>
        </p:nvGrpSpPr>
        <p:grpSpPr>
          <a:xfrm>
            <a:off x="-3321198" y="-529605"/>
            <a:ext cx="12650959" cy="9684100"/>
            <a:chOff x="0" y="0"/>
            <a:chExt cx="912495" cy="698500"/>
          </a:xfrm>
        </p:grpSpPr>
        <p:sp>
          <p:nvSpPr>
            <p:cNvPr id="28" name="Freeform 28">
              <a:extLst>
                <a:ext uri="{FF2B5EF4-FFF2-40B4-BE49-F238E27FC236}">
                  <a16:creationId xmlns:a16="http://schemas.microsoft.com/office/drawing/2014/main" id="{37B7FF7F-2FFC-0AF2-CF57-0719A1E427E3}"/>
                </a:ext>
              </a:extLst>
            </p:cNvPr>
            <p:cNvSpPr/>
            <p:nvPr/>
          </p:nvSpPr>
          <p:spPr>
            <a:xfrm>
              <a:off x="0" y="0"/>
              <a:ext cx="912495" cy="698500"/>
            </a:xfrm>
            <a:custGeom>
              <a:avLst/>
              <a:gdLst/>
              <a:ahLst/>
              <a:cxnLst/>
              <a:rect l="l" t="t" r="r" b="b"/>
              <a:pathLst>
                <a:path w="912495" h="698500">
                  <a:moveTo>
                    <a:pt x="912495" y="349250"/>
                  </a:moveTo>
                  <a:lnTo>
                    <a:pt x="709295" y="698500"/>
                  </a:lnTo>
                  <a:lnTo>
                    <a:pt x="203200" y="698500"/>
                  </a:lnTo>
                  <a:lnTo>
                    <a:pt x="0" y="349250"/>
                  </a:lnTo>
                  <a:lnTo>
                    <a:pt x="203200" y="0"/>
                  </a:lnTo>
                  <a:lnTo>
                    <a:pt x="709295" y="0"/>
                  </a:lnTo>
                  <a:lnTo>
                    <a:pt x="912495" y="349250"/>
                  </a:lnTo>
                  <a:close/>
                </a:path>
              </a:pathLst>
            </a:custGeom>
            <a:gradFill rotWithShape="1">
              <a:gsLst>
                <a:gs pos="0">
                  <a:srgbClr val="002264">
                    <a:alpha val="100000"/>
                  </a:srgbClr>
                </a:gs>
                <a:gs pos="100000">
                  <a:srgbClr val="2D56A5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US"/>
            </a:p>
          </p:txBody>
        </p:sp>
        <p:sp>
          <p:nvSpPr>
            <p:cNvPr id="29" name="TextBox 29">
              <a:extLst>
                <a:ext uri="{FF2B5EF4-FFF2-40B4-BE49-F238E27FC236}">
                  <a16:creationId xmlns:a16="http://schemas.microsoft.com/office/drawing/2014/main" id="{51960514-9385-2A9A-CD45-B34FA717E3B8}"/>
                </a:ext>
              </a:extLst>
            </p:cNvPr>
            <p:cNvSpPr txBox="1"/>
            <p:nvPr/>
          </p:nvSpPr>
          <p:spPr>
            <a:xfrm>
              <a:off x="114300" y="-38100"/>
              <a:ext cx="683895" cy="7366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32" name="Freeform 32">
            <a:extLst>
              <a:ext uri="{FF2B5EF4-FFF2-40B4-BE49-F238E27FC236}">
                <a16:creationId xmlns:a16="http://schemas.microsoft.com/office/drawing/2014/main" id="{27AF87E6-4296-AD19-94C1-BB9A872935C6}"/>
              </a:ext>
            </a:extLst>
          </p:cNvPr>
          <p:cNvSpPr/>
          <p:nvPr/>
        </p:nvSpPr>
        <p:spPr>
          <a:xfrm>
            <a:off x="16494396" y="1028700"/>
            <a:ext cx="764904" cy="406407"/>
          </a:xfrm>
          <a:custGeom>
            <a:avLst/>
            <a:gdLst/>
            <a:ahLst/>
            <a:cxnLst/>
            <a:rect l="l" t="t" r="r" b="b"/>
            <a:pathLst>
              <a:path w="764904" h="406407">
                <a:moveTo>
                  <a:pt x="0" y="0"/>
                </a:moveTo>
                <a:lnTo>
                  <a:pt x="764904" y="0"/>
                </a:lnTo>
                <a:lnTo>
                  <a:pt x="764904" y="406407"/>
                </a:lnTo>
                <a:lnTo>
                  <a:pt x="0" y="40640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r="-111469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3" name="Freeform 33">
            <a:extLst>
              <a:ext uri="{FF2B5EF4-FFF2-40B4-BE49-F238E27FC236}">
                <a16:creationId xmlns:a16="http://schemas.microsoft.com/office/drawing/2014/main" id="{2C1136FE-E654-E713-8231-89BD7850EF6E}"/>
              </a:ext>
            </a:extLst>
          </p:cNvPr>
          <p:cNvSpPr/>
          <p:nvPr/>
        </p:nvSpPr>
        <p:spPr>
          <a:xfrm>
            <a:off x="8564857" y="8748089"/>
            <a:ext cx="764904" cy="406407"/>
          </a:xfrm>
          <a:custGeom>
            <a:avLst/>
            <a:gdLst/>
            <a:ahLst/>
            <a:cxnLst/>
            <a:rect l="l" t="t" r="r" b="b"/>
            <a:pathLst>
              <a:path w="764904" h="406407">
                <a:moveTo>
                  <a:pt x="0" y="0"/>
                </a:moveTo>
                <a:lnTo>
                  <a:pt x="764904" y="0"/>
                </a:lnTo>
                <a:lnTo>
                  <a:pt x="764904" y="406406"/>
                </a:lnTo>
                <a:lnTo>
                  <a:pt x="0" y="40640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r="-111469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7" name="TextBox 37">
            <a:extLst>
              <a:ext uri="{FF2B5EF4-FFF2-40B4-BE49-F238E27FC236}">
                <a16:creationId xmlns:a16="http://schemas.microsoft.com/office/drawing/2014/main" id="{859355E2-0722-D78A-EA3A-F1F4728FCDB3}"/>
              </a:ext>
            </a:extLst>
          </p:cNvPr>
          <p:cNvSpPr txBox="1"/>
          <p:nvPr/>
        </p:nvSpPr>
        <p:spPr>
          <a:xfrm>
            <a:off x="10177070" y="2080171"/>
            <a:ext cx="7348929" cy="77264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120"/>
              </a:lnSpc>
            </a:pPr>
            <a:r>
              <a:rPr lang="en-US" sz="2400" b="1" dirty="0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Total number of categories, subcategories and products</a:t>
            </a:r>
          </a:p>
        </p:txBody>
      </p:sp>
      <p:sp>
        <p:nvSpPr>
          <p:cNvPr id="38" name="TextBox 38">
            <a:extLst>
              <a:ext uri="{FF2B5EF4-FFF2-40B4-BE49-F238E27FC236}">
                <a16:creationId xmlns:a16="http://schemas.microsoft.com/office/drawing/2014/main" id="{80BD2AC6-6A5B-E072-4E0B-4CEF5E0BCD96}"/>
              </a:ext>
            </a:extLst>
          </p:cNvPr>
          <p:cNvSpPr txBox="1"/>
          <p:nvPr/>
        </p:nvSpPr>
        <p:spPr>
          <a:xfrm>
            <a:off x="10177071" y="3192868"/>
            <a:ext cx="6915184" cy="3751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20"/>
              </a:lnSpc>
            </a:pPr>
            <a:r>
              <a:rPr lang="en-US" sz="2400" b="1" dirty="0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Top 5 subcategory per sales</a:t>
            </a:r>
          </a:p>
        </p:txBody>
      </p:sp>
      <p:sp>
        <p:nvSpPr>
          <p:cNvPr id="39" name="TextBox 39">
            <a:extLst>
              <a:ext uri="{FF2B5EF4-FFF2-40B4-BE49-F238E27FC236}">
                <a16:creationId xmlns:a16="http://schemas.microsoft.com/office/drawing/2014/main" id="{0AFEE93A-F192-69AF-9396-7603444C79A4}"/>
              </a:ext>
            </a:extLst>
          </p:cNvPr>
          <p:cNvSpPr txBox="1"/>
          <p:nvPr/>
        </p:nvSpPr>
        <p:spPr>
          <a:xfrm>
            <a:off x="10092785" y="4102847"/>
            <a:ext cx="6915184" cy="3751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3120"/>
              </a:lnSpc>
            </a:pPr>
            <a:r>
              <a:rPr lang="en-US" sz="2400" b="1" dirty="0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Less 5 subcategory per sales</a:t>
            </a:r>
          </a:p>
        </p:txBody>
      </p:sp>
      <p:grpSp>
        <p:nvGrpSpPr>
          <p:cNvPr id="40" name="Group 6">
            <a:extLst>
              <a:ext uri="{FF2B5EF4-FFF2-40B4-BE49-F238E27FC236}">
                <a16:creationId xmlns:a16="http://schemas.microsoft.com/office/drawing/2014/main" id="{3DBB7067-DFFC-5380-985D-CC671CE2DDDB}"/>
              </a:ext>
            </a:extLst>
          </p:cNvPr>
          <p:cNvGrpSpPr/>
          <p:nvPr/>
        </p:nvGrpSpPr>
        <p:grpSpPr>
          <a:xfrm>
            <a:off x="7144984" y="-15257"/>
            <a:ext cx="10975645" cy="1814806"/>
            <a:chOff x="114300" y="-38100"/>
            <a:chExt cx="4312341" cy="951642"/>
          </a:xfrm>
        </p:grpSpPr>
        <p:sp>
          <p:nvSpPr>
            <p:cNvPr id="41" name="Freeform 7">
              <a:extLst>
                <a:ext uri="{FF2B5EF4-FFF2-40B4-BE49-F238E27FC236}">
                  <a16:creationId xmlns:a16="http://schemas.microsoft.com/office/drawing/2014/main" id="{EAD3518F-9A45-D8EA-7636-501073AA56E9}"/>
                </a:ext>
              </a:extLst>
            </p:cNvPr>
            <p:cNvSpPr/>
            <p:nvPr/>
          </p:nvSpPr>
          <p:spPr>
            <a:xfrm>
              <a:off x="257094" y="208737"/>
              <a:ext cx="4169547" cy="704805"/>
            </a:xfrm>
            <a:custGeom>
              <a:avLst/>
              <a:gdLst/>
              <a:ahLst/>
              <a:cxnLst/>
              <a:rect l="l" t="t" r="r" b="b"/>
              <a:pathLst>
                <a:path w="4051749" h="698500">
                  <a:moveTo>
                    <a:pt x="4051749" y="349250"/>
                  </a:moveTo>
                  <a:lnTo>
                    <a:pt x="3848549" y="698500"/>
                  </a:lnTo>
                  <a:lnTo>
                    <a:pt x="203200" y="698500"/>
                  </a:lnTo>
                  <a:lnTo>
                    <a:pt x="0" y="349250"/>
                  </a:lnTo>
                  <a:lnTo>
                    <a:pt x="203200" y="0"/>
                  </a:lnTo>
                  <a:lnTo>
                    <a:pt x="3848549" y="0"/>
                  </a:lnTo>
                  <a:lnTo>
                    <a:pt x="4051749" y="349250"/>
                  </a:lnTo>
                  <a:close/>
                </a:path>
              </a:pathLst>
            </a:custGeom>
            <a:solidFill>
              <a:srgbClr val="10347A"/>
            </a:solidFill>
          </p:spPr>
          <p:txBody>
            <a:bodyPr/>
            <a:lstStyle/>
            <a:p>
              <a:pPr algn="ctr">
                <a:lnSpc>
                  <a:spcPct val="150000"/>
                </a:lnSpc>
              </a:pPr>
              <a:r>
                <a:rPr lang="en-US" sz="4400" b="1" dirty="0">
                  <a:solidFill>
                    <a:schemeClr val="bg1"/>
                  </a:solidFill>
                </a:rPr>
                <a:t>Sales analysis – </a:t>
              </a:r>
              <a:r>
                <a:rPr lang="en-US" sz="6000" b="1" dirty="0">
                  <a:solidFill>
                    <a:schemeClr val="tx2">
                      <a:lumMod val="60000"/>
                      <a:lumOff val="40000"/>
                    </a:schemeClr>
                  </a:solidFill>
                </a:rPr>
                <a:t>Products</a:t>
              </a:r>
              <a:r>
                <a:rPr lang="en-US" sz="4400" b="1" dirty="0">
                  <a:solidFill>
                    <a:schemeClr val="bg1"/>
                  </a:solidFill>
                </a:rPr>
                <a:t> insights</a:t>
              </a:r>
            </a:p>
          </p:txBody>
        </p:sp>
        <p:sp>
          <p:nvSpPr>
            <p:cNvPr id="42" name="TextBox 8">
              <a:extLst>
                <a:ext uri="{FF2B5EF4-FFF2-40B4-BE49-F238E27FC236}">
                  <a16:creationId xmlns:a16="http://schemas.microsoft.com/office/drawing/2014/main" id="{108342C1-2F68-454B-6149-E47AAF138462}"/>
                </a:ext>
              </a:extLst>
            </p:cNvPr>
            <p:cNvSpPr txBox="1"/>
            <p:nvPr/>
          </p:nvSpPr>
          <p:spPr>
            <a:xfrm>
              <a:off x="114300" y="-38100"/>
              <a:ext cx="3823149" cy="7366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44" name="Freeform 10">
            <a:extLst>
              <a:ext uri="{FF2B5EF4-FFF2-40B4-BE49-F238E27FC236}">
                <a16:creationId xmlns:a16="http://schemas.microsoft.com/office/drawing/2014/main" id="{0E329784-B751-C138-CF8B-7C1A9AB96011}"/>
              </a:ext>
            </a:extLst>
          </p:cNvPr>
          <p:cNvSpPr/>
          <p:nvPr/>
        </p:nvSpPr>
        <p:spPr>
          <a:xfrm>
            <a:off x="9646173" y="6060763"/>
            <a:ext cx="7078487" cy="647715"/>
          </a:xfrm>
          <a:custGeom>
            <a:avLst/>
            <a:gdLst/>
            <a:ahLst/>
            <a:cxnLst/>
            <a:rect l="l" t="t" r="r" b="b"/>
            <a:pathLst>
              <a:path w="7469591" h="698500">
                <a:moveTo>
                  <a:pt x="7469591" y="349250"/>
                </a:moveTo>
                <a:lnTo>
                  <a:pt x="7266391" y="698500"/>
                </a:lnTo>
                <a:lnTo>
                  <a:pt x="203200" y="698500"/>
                </a:lnTo>
                <a:lnTo>
                  <a:pt x="0" y="349250"/>
                </a:lnTo>
                <a:lnTo>
                  <a:pt x="203200" y="0"/>
                </a:lnTo>
                <a:lnTo>
                  <a:pt x="7266391" y="0"/>
                </a:lnTo>
                <a:lnTo>
                  <a:pt x="7469591" y="349250"/>
                </a:lnTo>
                <a:close/>
              </a:path>
            </a:pathLst>
          </a:custGeom>
          <a:solidFill>
            <a:srgbClr val="10347A"/>
          </a:solidFill>
        </p:spPr>
        <p:txBody>
          <a:bodyPr/>
          <a:lstStyle/>
          <a:p>
            <a:endParaRPr lang="en-US"/>
          </a:p>
        </p:txBody>
      </p:sp>
      <p:grpSp>
        <p:nvGrpSpPr>
          <p:cNvPr id="45" name="Group 6">
            <a:extLst>
              <a:ext uri="{FF2B5EF4-FFF2-40B4-BE49-F238E27FC236}">
                <a16:creationId xmlns:a16="http://schemas.microsoft.com/office/drawing/2014/main" id="{7616283A-7A48-3656-F75F-681489E15489}"/>
              </a:ext>
            </a:extLst>
          </p:cNvPr>
          <p:cNvGrpSpPr/>
          <p:nvPr/>
        </p:nvGrpSpPr>
        <p:grpSpPr>
          <a:xfrm>
            <a:off x="9567812" y="4939873"/>
            <a:ext cx="7268064" cy="647715"/>
            <a:chOff x="0" y="0"/>
            <a:chExt cx="7469591" cy="698500"/>
          </a:xfrm>
        </p:grpSpPr>
        <p:sp>
          <p:nvSpPr>
            <p:cNvPr id="46" name="Freeform 7">
              <a:extLst>
                <a:ext uri="{FF2B5EF4-FFF2-40B4-BE49-F238E27FC236}">
                  <a16:creationId xmlns:a16="http://schemas.microsoft.com/office/drawing/2014/main" id="{D1561391-0A4A-71FB-9F00-2A1F951E880B}"/>
                </a:ext>
              </a:extLst>
            </p:cNvPr>
            <p:cNvSpPr/>
            <p:nvPr/>
          </p:nvSpPr>
          <p:spPr>
            <a:xfrm>
              <a:off x="0" y="0"/>
              <a:ext cx="7469591" cy="698500"/>
            </a:xfrm>
            <a:custGeom>
              <a:avLst/>
              <a:gdLst/>
              <a:ahLst/>
              <a:cxnLst/>
              <a:rect l="l" t="t" r="r" b="b"/>
              <a:pathLst>
                <a:path w="7469591" h="698500">
                  <a:moveTo>
                    <a:pt x="7469591" y="349250"/>
                  </a:moveTo>
                  <a:lnTo>
                    <a:pt x="7266391" y="698500"/>
                  </a:lnTo>
                  <a:lnTo>
                    <a:pt x="203200" y="698500"/>
                  </a:lnTo>
                  <a:lnTo>
                    <a:pt x="0" y="349250"/>
                  </a:lnTo>
                  <a:lnTo>
                    <a:pt x="203200" y="0"/>
                  </a:lnTo>
                  <a:lnTo>
                    <a:pt x="7266391" y="0"/>
                  </a:lnTo>
                  <a:lnTo>
                    <a:pt x="7469591" y="349250"/>
                  </a:lnTo>
                  <a:close/>
                </a:path>
              </a:pathLst>
            </a:custGeom>
            <a:solidFill>
              <a:srgbClr val="10347A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7" name="TextBox 8">
              <a:extLst>
                <a:ext uri="{FF2B5EF4-FFF2-40B4-BE49-F238E27FC236}">
                  <a16:creationId xmlns:a16="http://schemas.microsoft.com/office/drawing/2014/main" id="{F16FD877-DE26-C35F-2EBB-D74812A6695C}"/>
                </a:ext>
              </a:extLst>
            </p:cNvPr>
            <p:cNvSpPr txBox="1"/>
            <p:nvPr/>
          </p:nvSpPr>
          <p:spPr>
            <a:xfrm>
              <a:off x="114300" y="-38100"/>
              <a:ext cx="7240991" cy="7366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48" name="TextBox 39">
            <a:extLst>
              <a:ext uri="{FF2B5EF4-FFF2-40B4-BE49-F238E27FC236}">
                <a16:creationId xmlns:a16="http://schemas.microsoft.com/office/drawing/2014/main" id="{D2A206F7-5FC1-EC09-876C-7847D5BFC2F3}"/>
              </a:ext>
            </a:extLst>
          </p:cNvPr>
          <p:cNvSpPr txBox="1"/>
          <p:nvPr/>
        </p:nvSpPr>
        <p:spPr>
          <a:xfrm>
            <a:off x="10158024" y="5058513"/>
            <a:ext cx="6915184" cy="3751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20"/>
              </a:lnSpc>
            </a:pPr>
            <a:r>
              <a:rPr lang="en-US" sz="2400" b="1" dirty="0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Top 5 products per sales</a:t>
            </a:r>
          </a:p>
        </p:txBody>
      </p:sp>
      <p:sp>
        <p:nvSpPr>
          <p:cNvPr id="49" name="TextBox 39">
            <a:extLst>
              <a:ext uri="{FF2B5EF4-FFF2-40B4-BE49-F238E27FC236}">
                <a16:creationId xmlns:a16="http://schemas.microsoft.com/office/drawing/2014/main" id="{3368FCFE-A764-5BC3-C08D-533413ECB6F4}"/>
              </a:ext>
            </a:extLst>
          </p:cNvPr>
          <p:cNvSpPr txBox="1"/>
          <p:nvPr/>
        </p:nvSpPr>
        <p:spPr>
          <a:xfrm>
            <a:off x="10158024" y="6191720"/>
            <a:ext cx="6915184" cy="3751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3120"/>
              </a:lnSpc>
            </a:pPr>
            <a:r>
              <a:rPr lang="en-US" sz="2400" b="1" dirty="0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less 5 products per sales</a:t>
            </a:r>
          </a:p>
        </p:txBody>
      </p:sp>
      <p:sp>
        <p:nvSpPr>
          <p:cNvPr id="52" name="Freeform 10">
            <a:extLst>
              <a:ext uri="{FF2B5EF4-FFF2-40B4-BE49-F238E27FC236}">
                <a16:creationId xmlns:a16="http://schemas.microsoft.com/office/drawing/2014/main" id="{F87DE6F8-DDDE-3431-A2C2-2F130D1FFF41}"/>
              </a:ext>
            </a:extLst>
          </p:cNvPr>
          <p:cNvSpPr/>
          <p:nvPr/>
        </p:nvSpPr>
        <p:spPr>
          <a:xfrm>
            <a:off x="9567812" y="7144326"/>
            <a:ext cx="7156848" cy="647715"/>
          </a:xfrm>
          <a:custGeom>
            <a:avLst/>
            <a:gdLst/>
            <a:ahLst/>
            <a:cxnLst/>
            <a:rect l="l" t="t" r="r" b="b"/>
            <a:pathLst>
              <a:path w="7469591" h="698500">
                <a:moveTo>
                  <a:pt x="7469591" y="349250"/>
                </a:moveTo>
                <a:lnTo>
                  <a:pt x="7266391" y="698500"/>
                </a:lnTo>
                <a:lnTo>
                  <a:pt x="203200" y="698500"/>
                </a:lnTo>
                <a:lnTo>
                  <a:pt x="0" y="349250"/>
                </a:lnTo>
                <a:lnTo>
                  <a:pt x="203200" y="0"/>
                </a:lnTo>
                <a:lnTo>
                  <a:pt x="7266391" y="0"/>
                </a:lnTo>
                <a:lnTo>
                  <a:pt x="7469591" y="349250"/>
                </a:lnTo>
                <a:close/>
              </a:path>
            </a:pathLst>
          </a:custGeom>
          <a:solidFill>
            <a:srgbClr val="10347A"/>
          </a:solidFill>
        </p:spPr>
        <p:txBody>
          <a:bodyPr/>
          <a:lstStyle/>
          <a:p>
            <a:endParaRPr lang="en-US" dirty="0"/>
          </a:p>
        </p:txBody>
      </p:sp>
      <p:sp>
        <p:nvSpPr>
          <p:cNvPr id="54" name="TextBox 39">
            <a:extLst>
              <a:ext uri="{FF2B5EF4-FFF2-40B4-BE49-F238E27FC236}">
                <a16:creationId xmlns:a16="http://schemas.microsoft.com/office/drawing/2014/main" id="{7B7289E9-1371-B19F-4312-717C3AF61B6C}"/>
              </a:ext>
            </a:extLst>
          </p:cNvPr>
          <p:cNvSpPr txBox="1"/>
          <p:nvPr/>
        </p:nvSpPr>
        <p:spPr>
          <a:xfrm>
            <a:off x="10238126" y="7243637"/>
            <a:ext cx="6915184" cy="3751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3120"/>
              </a:lnSpc>
            </a:pPr>
            <a:r>
              <a:rPr lang="en-US" sz="2400" b="1" dirty="0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% of each category &amp; subcategory per sales </a:t>
            </a: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45048551-EEE6-628E-CF57-E70D7921FBE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876599" y="833199"/>
            <a:ext cx="8668984" cy="7225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720255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1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1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1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" grpId="0" animBg="1"/>
      <p:bldP spid="52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E244B2-156C-0702-FA84-45C22C7583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4386F255-B660-DD39-4CB9-5ADBC00E0869}"/>
              </a:ext>
            </a:extLst>
          </p:cNvPr>
          <p:cNvSpPr/>
          <p:nvPr/>
        </p:nvSpPr>
        <p:spPr>
          <a:xfrm>
            <a:off x="185763" y="-4072416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2813" t="-22813"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29974CFF-4964-CC6F-6006-DF2A18A991BF}"/>
              </a:ext>
            </a:extLst>
          </p:cNvPr>
          <p:cNvGrpSpPr/>
          <p:nvPr/>
        </p:nvGrpSpPr>
        <p:grpSpPr>
          <a:xfrm>
            <a:off x="9639404" y="2013937"/>
            <a:ext cx="7236148" cy="888819"/>
            <a:chOff x="0" y="0"/>
            <a:chExt cx="7469591" cy="698500"/>
          </a:xfrm>
        </p:grpSpPr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1AF6470B-0597-F97D-D5F3-7B5F13A91BBE}"/>
                </a:ext>
              </a:extLst>
            </p:cNvPr>
            <p:cNvSpPr/>
            <p:nvPr/>
          </p:nvSpPr>
          <p:spPr>
            <a:xfrm>
              <a:off x="0" y="0"/>
              <a:ext cx="7469591" cy="698500"/>
            </a:xfrm>
            <a:custGeom>
              <a:avLst/>
              <a:gdLst/>
              <a:ahLst/>
              <a:cxnLst/>
              <a:rect l="l" t="t" r="r" b="b"/>
              <a:pathLst>
                <a:path w="7469591" h="698500">
                  <a:moveTo>
                    <a:pt x="7469591" y="349250"/>
                  </a:moveTo>
                  <a:lnTo>
                    <a:pt x="7266391" y="698500"/>
                  </a:lnTo>
                  <a:lnTo>
                    <a:pt x="203200" y="698500"/>
                  </a:lnTo>
                  <a:lnTo>
                    <a:pt x="0" y="349250"/>
                  </a:lnTo>
                  <a:lnTo>
                    <a:pt x="203200" y="0"/>
                  </a:lnTo>
                  <a:lnTo>
                    <a:pt x="7266391" y="0"/>
                  </a:lnTo>
                  <a:lnTo>
                    <a:pt x="7469591" y="349250"/>
                  </a:lnTo>
                  <a:close/>
                </a:path>
              </a:pathLst>
            </a:custGeom>
            <a:solidFill>
              <a:srgbClr val="10347A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DB7FEAF5-2257-2385-8597-0D4225DF0FA8}"/>
                </a:ext>
              </a:extLst>
            </p:cNvPr>
            <p:cNvSpPr txBox="1"/>
            <p:nvPr/>
          </p:nvSpPr>
          <p:spPr>
            <a:xfrm>
              <a:off x="114300" y="-38100"/>
              <a:ext cx="7240991" cy="7366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6" name="Group 6">
            <a:extLst>
              <a:ext uri="{FF2B5EF4-FFF2-40B4-BE49-F238E27FC236}">
                <a16:creationId xmlns:a16="http://schemas.microsoft.com/office/drawing/2014/main" id="{D188AAB4-B259-8FDF-7FEA-411516322397}"/>
              </a:ext>
            </a:extLst>
          </p:cNvPr>
          <p:cNvGrpSpPr/>
          <p:nvPr/>
        </p:nvGrpSpPr>
        <p:grpSpPr>
          <a:xfrm>
            <a:off x="9571246" y="3076057"/>
            <a:ext cx="7304306" cy="647715"/>
            <a:chOff x="0" y="0"/>
            <a:chExt cx="7469591" cy="698500"/>
          </a:xfrm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0B8C8C27-1E5A-7BDD-22CA-587C65BB2624}"/>
                </a:ext>
              </a:extLst>
            </p:cNvPr>
            <p:cNvSpPr/>
            <p:nvPr/>
          </p:nvSpPr>
          <p:spPr>
            <a:xfrm>
              <a:off x="0" y="0"/>
              <a:ext cx="7469591" cy="698500"/>
            </a:xfrm>
            <a:custGeom>
              <a:avLst/>
              <a:gdLst/>
              <a:ahLst/>
              <a:cxnLst/>
              <a:rect l="l" t="t" r="r" b="b"/>
              <a:pathLst>
                <a:path w="7469591" h="698500">
                  <a:moveTo>
                    <a:pt x="7469591" y="349250"/>
                  </a:moveTo>
                  <a:lnTo>
                    <a:pt x="7266391" y="698500"/>
                  </a:lnTo>
                  <a:lnTo>
                    <a:pt x="203200" y="698500"/>
                  </a:lnTo>
                  <a:lnTo>
                    <a:pt x="0" y="349250"/>
                  </a:lnTo>
                  <a:lnTo>
                    <a:pt x="203200" y="0"/>
                  </a:lnTo>
                  <a:lnTo>
                    <a:pt x="7266391" y="0"/>
                  </a:lnTo>
                  <a:lnTo>
                    <a:pt x="7469591" y="349250"/>
                  </a:lnTo>
                  <a:close/>
                </a:path>
              </a:pathLst>
            </a:custGeom>
            <a:solidFill>
              <a:srgbClr val="10347A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TextBox 8">
              <a:extLst>
                <a:ext uri="{FF2B5EF4-FFF2-40B4-BE49-F238E27FC236}">
                  <a16:creationId xmlns:a16="http://schemas.microsoft.com/office/drawing/2014/main" id="{6893CFE4-6CB0-755B-70EA-C2CCDED708E9}"/>
                </a:ext>
              </a:extLst>
            </p:cNvPr>
            <p:cNvSpPr txBox="1"/>
            <p:nvPr/>
          </p:nvSpPr>
          <p:spPr>
            <a:xfrm>
              <a:off x="114300" y="-38100"/>
              <a:ext cx="7240991" cy="7366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9" name="Group 9">
            <a:extLst>
              <a:ext uri="{FF2B5EF4-FFF2-40B4-BE49-F238E27FC236}">
                <a16:creationId xmlns:a16="http://schemas.microsoft.com/office/drawing/2014/main" id="{183C7B68-DD59-8843-B5BE-9890021DA1C9}"/>
              </a:ext>
            </a:extLst>
          </p:cNvPr>
          <p:cNvGrpSpPr/>
          <p:nvPr/>
        </p:nvGrpSpPr>
        <p:grpSpPr>
          <a:xfrm>
            <a:off x="9595521" y="3938159"/>
            <a:ext cx="7930478" cy="5216337"/>
            <a:chOff x="-795081" y="-4926831"/>
            <a:chExt cx="8150372" cy="5625331"/>
          </a:xfrm>
        </p:grpSpPr>
        <p:sp>
          <p:nvSpPr>
            <p:cNvPr id="10" name="Freeform 10">
              <a:extLst>
                <a:ext uri="{FF2B5EF4-FFF2-40B4-BE49-F238E27FC236}">
                  <a16:creationId xmlns:a16="http://schemas.microsoft.com/office/drawing/2014/main" id="{6406C1CE-A222-BAAC-3E36-E79C532896A7}"/>
                </a:ext>
              </a:extLst>
            </p:cNvPr>
            <p:cNvSpPr/>
            <p:nvPr/>
          </p:nvSpPr>
          <p:spPr>
            <a:xfrm>
              <a:off x="-795081" y="-4926831"/>
              <a:ext cx="7469591" cy="698500"/>
            </a:xfrm>
            <a:custGeom>
              <a:avLst/>
              <a:gdLst/>
              <a:ahLst/>
              <a:cxnLst/>
              <a:rect l="l" t="t" r="r" b="b"/>
              <a:pathLst>
                <a:path w="7469591" h="698500">
                  <a:moveTo>
                    <a:pt x="7469591" y="349250"/>
                  </a:moveTo>
                  <a:lnTo>
                    <a:pt x="7266391" y="698500"/>
                  </a:lnTo>
                  <a:lnTo>
                    <a:pt x="203200" y="698500"/>
                  </a:lnTo>
                  <a:lnTo>
                    <a:pt x="0" y="349250"/>
                  </a:lnTo>
                  <a:lnTo>
                    <a:pt x="203200" y="0"/>
                  </a:lnTo>
                  <a:lnTo>
                    <a:pt x="7266391" y="0"/>
                  </a:lnTo>
                  <a:lnTo>
                    <a:pt x="7469591" y="349250"/>
                  </a:lnTo>
                  <a:close/>
                </a:path>
              </a:pathLst>
            </a:custGeom>
            <a:solidFill>
              <a:srgbClr val="10347A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TextBox 11">
              <a:extLst>
                <a:ext uri="{FF2B5EF4-FFF2-40B4-BE49-F238E27FC236}">
                  <a16:creationId xmlns:a16="http://schemas.microsoft.com/office/drawing/2014/main" id="{AFCE8264-1453-F8DD-DB19-9C509AE612E4}"/>
                </a:ext>
              </a:extLst>
            </p:cNvPr>
            <p:cNvSpPr txBox="1"/>
            <p:nvPr/>
          </p:nvSpPr>
          <p:spPr>
            <a:xfrm>
              <a:off x="114300" y="-38100"/>
              <a:ext cx="7240991" cy="7366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5" name="Group 15">
            <a:extLst>
              <a:ext uri="{FF2B5EF4-FFF2-40B4-BE49-F238E27FC236}">
                <a16:creationId xmlns:a16="http://schemas.microsoft.com/office/drawing/2014/main" id="{9E72D817-8312-0857-4313-D401E552286E}"/>
              </a:ext>
            </a:extLst>
          </p:cNvPr>
          <p:cNvGrpSpPr/>
          <p:nvPr/>
        </p:nvGrpSpPr>
        <p:grpSpPr>
          <a:xfrm rot="1816035">
            <a:off x="-666771" y="7129837"/>
            <a:ext cx="4871721" cy="4116685"/>
            <a:chOff x="0" y="0"/>
            <a:chExt cx="1283087" cy="1084230"/>
          </a:xfrm>
        </p:grpSpPr>
        <p:sp>
          <p:nvSpPr>
            <p:cNvPr id="16" name="Freeform 16">
              <a:extLst>
                <a:ext uri="{FF2B5EF4-FFF2-40B4-BE49-F238E27FC236}">
                  <a16:creationId xmlns:a16="http://schemas.microsoft.com/office/drawing/2014/main" id="{1F9CF76E-E880-ADDC-216F-E0B13C7C3215}"/>
                </a:ext>
              </a:extLst>
            </p:cNvPr>
            <p:cNvSpPr/>
            <p:nvPr/>
          </p:nvSpPr>
          <p:spPr>
            <a:xfrm>
              <a:off x="0" y="0"/>
              <a:ext cx="1283087" cy="1084230"/>
            </a:xfrm>
            <a:custGeom>
              <a:avLst/>
              <a:gdLst/>
              <a:ahLst/>
              <a:cxnLst/>
              <a:rect l="l" t="t" r="r" b="b"/>
              <a:pathLst>
                <a:path w="1283087" h="1084230">
                  <a:moveTo>
                    <a:pt x="0" y="0"/>
                  </a:moveTo>
                  <a:lnTo>
                    <a:pt x="1283087" y="0"/>
                  </a:lnTo>
                  <a:lnTo>
                    <a:pt x="1283087" y="1084230"/>
                  </a:lnTo>
                  <a:lnTo>
                    <a:pt x="0" y="1084230"/>
                  </a:lnTo>
                  <a:close/>
                </a:path>
              </a:pathLst>
            </a:custGeom>
            <a:gradFill rotWithShape="1">
              <a:gsLst>
                <a:gs pos="0">
                  <a:srgbClr val="002264">
                    <a:alpha val="100000"/>
                  </a:srgbClr>
                </a:gs>
                <a:gs pos="100000">
                  <a:srgbClr val="2D56A5">
                    <a:alpha val="100000"/>
                  </a:srgbClr>
                </a:gs>
              </a:gsLst>
              <a:lin ang="5400000"/>
            </a:gradFill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TextBox 17">
              <a:extLst>
                <a:ext uri="{FF2B5EF4-FFF2-40B4-BE49-F238E27FC236}">
                  <a16:creationId xmlns:a16="http://schemas.microsoft.com/office/drawing/2014/main" id="{A50CF2E0-968F-DD26-2B56-900980BAD5E4}"/>
                </a:ext>
              </a:extLst>
            </p:cNvPr>
            <p:cNvSpPr txBox="1"/>
            <p:nvPr/>
          </p:nvSpPr>
          <p:spPr>
            <a:xfrm>
              <a:off x="0" y="-38100"/>
              <a:ext cx="1283087" cy="112233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8" name="Group 18">
            <a:extLst>
              <a:ext uri="{FF2B5EF4-FFF2-40B4-BE49-F238E27FC236}">
                <a16:creationId xmlns:a16="http://schemas.microsoft.com/office/drawing/2014/main" id="{15E6C0AE-0008-EC5D-E651-83FC09C72C80}"/>
              </a:ext>
            </a:extLst>
          </p:cNvPr>
          <p:cNvGrpSpPr/>
          <p:nvPr/>
        </p:nvGrpSpPr>
        <p:grpSpPr>
          <a:xfrm rot="1816035">
            <a:off x="4298912" y="8233619"/>
            <a:ext cx="1370504" cy="4326908"/>
            <a:chOff x="0" y="0"/>
            <a:chExt cx="360956" cy="1139597"/>
          </a:xfrm>
        </p:grpSpPr>
        <p:sp>
          <p:nvSpPr>
            <p:cNvPr id="19" name="Freeform 19">
              <a:extLst>
                <a:ext uri="{FF2B5EF4-FFF2-40B4-BE49-F238E27FC236}">
                  <a16:creationId xmlns:a16="http://schemas.microsoft.com/office/drawing/2014/main" id="{4E29FB5C-BD01-357B-7CB6-3FC8DC6EFCC6}"/>
                </a:ext>
              </a:extLst>
            </p:cNvPr>
            <p:cNvSpPr/>
            <p:nvPr/>
          </p:nvSpPr>
          <p:spPr>
            <a:xfrm>
              <a:off x="0" y="0"/>
              <a:ext cx="360956" cy="1139597"/>
            </a:xfrm>
            <a:custGeom>
              <a:avLst/>
              <a:gdLst/>
              <a:ahLst/>
              <a:cxnLst/>
              <a:rect l="l" t="t" r="r" b="b"/>
              <a:pathLst>
                <a:path w="360956" h="1139597">
                  <a:moveTo>
                    <a:pt x="0" y="0"/>
                  </a:moveTo>
                  <a:lnTo>
                    <a:pt x="360956" y="0"/>
                  </a:lnTo>
                  <a:lnTo>
                    <a:pt x="360956" y="1139597"/>
                  </a:lnTo>
                  <a:lnTo>
                    <a:pt x="0" y="1139597"/>
                  </a:lnTo>
                  <a:close/>
                </a:path>
              </a:pathLst>
            </a:custGeom>
            <a:gradFill rotWithShape="1">
              <a:gsLst>
                <a:gs pos="0">
                  <a:srgbClr val="002264">
                    <a:alpha val="100000"/>
                  </a:srgbClr>
                </a:gs>
                <a:gs pos="100000">
                  <a:srgbClr val="2D56A5">
                    <a:alpha val="100000"/>
                  </a:srgbClr>
                </a:gs>
              </a:gsLst>
              <a:lin ang="5400000"/>
            </a:gradFill>
          </p:spPr>
          <p:txBody>
            <a:bodyPr/>
            <a:lstStyle/>
            <a:p>
              <a:endParaRPr lang="en-US"/>
            </a:p>
          </p:txBody>
        </p:sp>
        <p:sp>
          <p:nvSpPr>
            <p:cNvPr id="20" name="TextBox 20">
              <a:extLst>
                <a:ext uri="{FF2B5EF4-FFF2-40B4-BE49-F238E27FC236}">
                  <a16:creationId xmlns:a16="http://schemas.microsoft.com/office/drawing/2014/main" id="{750B7DFB-F2D0-EB64-D0C0-BC6671EB43F1}"/>
                </a:ext>
              </a:extLst>
            </p:cNvPr>
            <p:cNvSpPr txBox="1"/>
            <p:nvPr/>
          </p:nvSpPr>
          <p:spPr>
            <a:xfrm>
              <a:off x="0" y="-38100"/>
              <a:ext cx="360956" cy="117769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21" name="Group 21">
            <a:extLst>
              <a:ext uri="{FF2B5EF4-FFF2-40B4-BE49-F238E27FC236}">
                <a16:creationId xmlns:a16="http://schemas.microsoft.com/office/drawing/2014/main" id="{7AF5B160-679D-70E4-0434-6C217FC5565D}"/>
              </a:ext>
            </a:extLst>
          </p:cNvPr>
          <p:cNvGrpSpPr/>
          <p:nvPr/>
        </p:nvGrpSpPr>
        <p:grpSpPr>
          <a:xfrm>
            <a:off x="-3223958" y="5551906"/>
            <a:ext cx="6794577" cy="5839090"/>
            <a:chOff x="0" y="0"/>
            <a:chExt cx="812800" cy="698500"/>
          </a:xfrm>
        </p:grpSpPr>
        <p:sp>
          <p:nvSpPr>
            <p:cNvPr id="22" name="Freeform 22">
              <a:extLst>
                <a:ext uri="{FF2B5EF4-FFF2-40B4-BE49-F238E27FC236}">
                  <a16:creationId xmlns:a16="http://schemas.microsoft.com/office/drawing/2014/main" id="{5F2B14EA-2E7C-808D-E630-E5E908B9FA00}"/>
                </a:ext>
              </a:extLst>
            </p:cNvPr>
            <p:cNvSpPr/>
            <p:nvPr/>
          </p:nvSpPr>
          <p:spPr>
            <a:xfrm>
              <a:off x="0" y="0"/>
              <a:ext cx="812800" cy="698500"/>
            </a:xfrm>
            <a:custGeom>
              <a:avLst/>
              <a:gdLst/>
              <a:ahLst/>
              <a:cxnLst/>
              <a:rect l="l" t="t" r="r" b="b"/>
              <a:pathLst>
                <a:path w="812800" h="698500">
                  <a:moveTo>
                    <a:pt x="812800" y="349250"/>
                  </a:moveTo>
                  <a:lnTo>
                    <a:pt x="609600" y="698500"/>
                  </a:lnTo>
                  <a:lnTo>
                    <a:pt x="203200" y="698500"/>
                  </a:lnTo>
                  <a:lnTo>
                    <a:pt x="0" y="349250"/>
                  </a:lnTo>
                  <a:lnTo>
                    <a:pt x="203200" y="0"/>
                  </a:lnTo>
                  <a:lnTo>
                    <a:pt x="609600" y="0"/>
                  </a:lnTo>
                  <a:lnTo>
                    <a:pt x="812800" y="34925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0" cap="sq">
              <a:solidFill>
                <a:srgbClr val="FFFFFF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3" name="TextBox 23">
              <a:extLst>
                <a:ext uri="{FF2B5EF4-FFF2-40B4-BE49-F238E27FC236}">
                  <a16:creationId xmlns:a16="http://schemas.microsoft.com/office/drawing/2014/main" id="{DA2DC36F-9C09-B768-42A8-FD4228547264}"/>
                </a:ext>
              </a:extLst>
            </p:cNvPr>
            <p:cNvSpPr txBox="1"/>
            <p:nvPr/>
          </p:nvSpPr>
          <p:spPr>
            <a:xfrm>
              <a:off x="114300" y="-38100"/>
              <a:ext cx="584200" cy="7366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24" name="Group 24">
            <a:extLst>
              <a:ext uri="{FF2B5EF4-FFF2-40B4-BE49-F238E27FC236}">
                <a16:creationId xmlns:a16="http://schemas.microsoft.com/office/drawing/2014/main" id="{FE5644F1-AA68-5907-21E3-9B15F2D7726A}"/>
              </a:ext>
            </a:extLst>
          </p:cNvPr>
          <p:cNvGrpSpPr/>
          <p:nvPr/>
        </p:nvGrpSpPr>
        <p:grpSpPr>
          <a:xfrm>
            <a:off x="0" y="0"/>
            <a:ext cx="18288000" cy="254577"/>
            <a:chOff x="0" y="0"/>
            <a:chExt cx="4816593" cy="67049"/>
          </a:xfrm>
        </p:grpSpPr>
        <p:sp>
          <p:nvSpPr>
            <p:cNvPr id="25" name="Freeform 25">
              <a:extLst>
                <a:ext uri="{FF2B5EF4-FFF2-40B4-BE49-F238E27FC236}">
                  <a16:creationId xmlns:a16="http://schemas.microsoft.com/office/drawing/2014/main" id="{3EE50BF3-62CF-1CA8-F0B1-9B1D43428E7A}"/>
                </a:ext>
              </a:extLst>
            </p:cNvPr>
            <p:cNvSpPr/>
            <p:nvPr/>
          </p:nvSpPr>
          <p:spPr>
            <a:xfrm>
              <a:off x="0" y="0"/>
              <a:ext cx="4816592" cy="67049"/>
            </a:xfrm>
            <a:custGeom>
              <a:avLst/>
              <a:gdLst/>
              <a:ahLst/>
              <a:cxnLst/>
              <a:rect l="l" t="t" r="r" b="b"/>
              <a:pathLst>
                <a:path w="4816592" h="67049">
                  <a:moveTo>
                    <a:pt x="0" y="0"/>
                  </a:moveTo>
                  <a:lnTo>
                    <a:pt x="4816592" y="0"/>
                  </a:lnTo>
                  <a:lnTo>
                    <a:pt x="4816592" y="67049"/>
                  </a:lnTo>
                  <a:lnTo>
                    <a:pt x="0" y="67049"/>
                  </a:lnTo>
                  <a:close/>
                </a:path>
              </a:pathLst>
            </a:custGeom>
            <a:gradFill rotWithShape="1">
              <a:gsLst>
                <a:gs pos="0">
                  <a:srgbClr val="002264">
                    <a:alpha val="100000"/>
                  </a:srgbClr>
                </a:gs>
                <a:gs pos="100000">
                  <a:srgbClr val="2D56A5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US"/>
            </a:p>
          </p:txBody>
        </p:sp>
        <p:sp>
          <p:nvSpPr>
            <p:cNvPr id="26" name="TextBox 26">
              <a:extLst>
                <a:ext uri="{FF2B5EF4-FFF2-40B4-BE49-F238E27FC236}">
                  <a16:creationId xmlns:a16="http://schemas.microsoft.com/office/drawing/2014/main" id="{65F2A574-96CC-7A84-93C4-6750BB99ADF9}"/>
                </a:ext>
              </a:extLst>
            </p:cNvPr>
            <p:cNvSpPr txBox="1"/>
            <p:nvPr/>
          </p:nvSpPr>
          <p:spPr>
            <a:xfrm>
              <a:off x="0" y="-38100"/>
              <a:ext cx="4816593" cy="10514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27" name="Group 27">
            <a:extLst>
              <a:ext uri="{FF2B5EF4-FFF2-40B4-BE49-F238E27FC236}">
                <a16:creationId xmlns:a16="http://schemas.microsoft.com/office/drawing/2014/main" id="{3BB11A3D-C095-EFD2-F82E-E6C46C4177BB}"/>
              </a:ext>
            </a:extLst>
          </p:cNvPr>
          <p:cNvGrpSpPr/>
          <p:nvPr/>
        </p:nvGrpSpPr>
        <p:grpSpPr>
          <a:xfrm>
            <a:off x="-3321198" y="-529605"/>
            <a:ext cx="11412757" cy="9684100"/>
            <a:chOff x="0" y="0"/>
            <a:chExt cx="912495" cy="698500"/>
          </a:xfrm>
        </p:grpSpPr>
        <p:sp>
          <p:nvSpPr>
            <p:cNvPr id="28" name="Freeform 28">
              <a:extLst>
                <a:ext uri="{FF2B5EF4-FFF2-40B4-BE49-F238E27FC236}">
                  <a16:creationId xmlns:a16="http://schemas.microsoft.com/office/drawing/2014/main" id="{494CD0D7-0EAF-4D10-14F5-3E558F13124B}"/>
                </a:ext>
              </a:extLst>
            </p:cNvPr>
            <p:cNvSpPr/>
            <p:nvPr/>
          </p:nvSpPr>
          <p:spPr>
            <a:xfrm>
              <a:off x="0" y="0"/>
              <a:ext cx="912495" cy="698500"/>
            </a:xfrm>
            <a:custGeom>
              <a:avLst/>
              <a:gdLst/>
              <a:ahLst/>
              <a:cxnLst/>
              <a:rect l="l" t="t" r="r" b="b"/>
              <a:pathLst>
                <a:path w="912495" h="698500">
                  <a:moveTo>
                    <a:pt x="912495" y="349250"/>
                  </a:moveTo>
                  <a:lnTo>
                    <a:pt x="709295" y="698500"/>
                  </a:lnTo>
                  <a:lnTo>
                    <a:pt x="203200" y="698500"/>
                  </a:lnTo>
                  <a:lnTo>
                    <a:pt x="0" y="349250"/>
                  </a:lnTo>
                  <a:lnTo>
                    <a:pt x="203200" y="0"/>
                  </a:lnTo>
                  <a:lnTo>
                    <a:pt x="709295" y="0"/>
                  </a:lnTo>
                  <a:lnTo>
                    <a:pt x="912495" y="349250"/>
                  </a:lnTo>
                  <a:close/>
                </a:path>
              </a:pathLst>
            </a:custGeom>
            <a:gradFill rotWithShape="1">
              <a:gsLst>
                <a:gs pos="0">
                  <a:srgbClr val="002264">
                    <a:alpha val="100000"/>
                  </a:srgbClr>
                </a:gs>
                <a:gs pos="100000">
                  <a:srgbClr val="2D56A5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US"/>
            </a:p>
          </p:txBody>
        </p:sp>
        <p:sp>
          <p:nvSpPr>
            <p:cNvPr id="29" name="TextBox 29">
              <a:extLst>
                <a:ext uri="{FF2B5EF4-FFF2-40B4-BE49-F238E27FC236}">
                  <a16:creationId xmlns:a16="http://schemas.microsoft.com/office/drawing/2014/main" id="{7DFE13DB-7C18-FFC4-53C6-BDFBF554A3D1}"/>
                </a:ext>
              </a:extLst>
            </p:cNvPr>
            <p:cNvSpPr txBox="1"/>
            <p:nvPr/>
          </p:nvSpPr>
          <p:spPr>
            <a:xfrm>
              <a:off x="114300" y="-38100"/>
              <a:ext cx="683895" cy="7366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32" name="Freeform 32">
            <a:extLst>
              <a:ext uri="{FF2B5EF4-FFF2-40B4-BE49-F238E27FC236}">
                <a16:creationId xmlns:a16="http://schemas.microsoft.com/office/drawing/2014/main" id="{4440A1D5-E052-59ED-71DC-6FB0A494A5FC}"/>
              </a:ext>
            </a:extLst>
          </p:cNvPr>
          <p:cNvSpPr/>
          <p:nvPr/>
        </p:nvSpPr>
        <p:spPr>
          <a:xfrm>
            <a:off x="16494396" y="1028700"/>
            <a:ext cx="764904" cy="406407"/>
          </a:xfrm>
          <a:custGeom>
            <a:avLst/>
            <a:gdLst/>
            <a:ahLst/>
            <a:cxnLst/>
            <a:rect l="l" t="t" r="r" b="b"/>
            <a:pathLst>
              <a:path w="764904" h="406407">
                <a:moveTo>
                  <a:pt x="0" y="0"/>
                </a:moveTo>
                <a:lnTo>
                  <a:pt x="764904" y="0"/>
                </a:lnTo>
                <a:lnTo>
                  <a:pt x="764904" y="406407"/>
                </a:lnTo>
                <a:lnTo>
                  <a:pt x="0" y="40640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r="-111469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3" name="Freeform 33">
            <a:extLst>
              <a:ext uri="{FF2B5EF4-FFF2-40B4-BE49-F238E27FC236}">
                <a16:creationId xmlns:a16="http://schemas.microsoft.com/office/drawing/2014/main" id="{21F77259-AA31-F7CA-7F1D-8852064AD8CD}"/>
              </a:ext>
            </a:extLst>
          </p:cNvPr>
          <p:cNvSpPr/>
          <p:nvPr/>
        </p:nvSpPr>
        <p:spPr>
          <a:xfrm>
            <a:off x="8564857" y="8748089"/>
            <a:ext cx="764904" cy="406407"/>
          </a:xfrm>
          <a:custGeom>
            <a:avLst/>
            <a:gdLst/>
            <a:ahLst/>
            <a:cxnLst/>
            <a:rect l="l" t="t" r="r" b="b"/>
            <a:pathLst>
              <a:path w="764904" h="406407">
                <a:moveTo>
                  <a:pt x="0" y="0"/>
                </a:moveTo>
                <a:lnTo>
                  <a:pt x="764904" y="0"/>
                </a:lnTo>
                <a:lnTo>
                  <a:pt x="764904" y="406406"/>
                </a:lnTo>
                <a:lnTo>
                  <a:pt x="0" y="40640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r="-111469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7" name="TextBox 37">
            <a:extLst>
              <a:ext uri="{FF2B5EF4-FFF2-40B4-BE49-F238E27FC236}">
                <a16:creationId xmlns:a16="http://schemas.microsoft.com/office/drawing/2014/main" id="{2EA90C40-D703-3F93-260F-158EA09C252E}"/>
              </a:ext>
            </a:extLst>
          </p:cNvPr>
          <p:cNvSpPr txBox="1"/>
          <p:nvPr/>
        </p:nvSpPr>
        <p:spPr>
          <a:xfrm>
            <a:off x="10177070" y="2080171"/>
            <a:ext cx="7348929" cy="37510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120"/>
              </a:lnSpc>
            </a:pPr>
            <a:r>
              <a:rPr lang="en-US" sz="2400" b="1" dirty="0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Average shipping time</a:t>
            </a:r>
          </a:p>
        </p:txBody>
      </p:sp>
      <p:sp>
        <p:nvSpPr>
          <p:cNvPr id="38" name="TextBox 38">
            <a:extLst>
              <a:ext uri="{FF2B5EF4-FFF2-40B4-BE49-F238E27FC236}">
                <a16:creationId xmlns:a16="http://schemas.microsoft.com/office/drawing/2014/main" id="{5C2234EB-632C-9483-EA04-BB6A59C5D965}"/>
              </a:ext>
            </a:extLst>
          </p:cNvPr>
          <p:cNvSpPr txBox="1"/>
          <p:nvPr/>
        </p:nvSpPr>
        <p:spPr>
          <a:xfrm>
            <a:off x="10177071" y="3192868"/>
            <a:ext cx="6915184" cy="3751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20"/>
              </a:lnSpc>
            </a:pPr>
            <a:r>
              <a:rPr lang="en-US" sz="2400" b="1" dirty="0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Total delay &amp; on time percentage</a:t>
            </a:r>
          </a:p>
        </p:txBody>
      </p:sp>
      <p:sp>
        <p:nvSpPr>
          <p:cNvPr id="39" name="TextBox 39">
            <a:extLst>
              <a:ext uri="{FF2B5EF4-FFF2-40B4-BE49-F238E27FC236}">
                <a16:creationId xmlns:a16="http://schemas.microsoft.com/office/drawing/2014/main" id="{19AE613E-9DBF-107F-B9EE-4455943B4ED5}"/>
              </a:ext>
            </a:extLst>
          </p:cNvPr>
          <p:cNvSpPr txBox="1"/>
          <p:nvPr/>
        </p:nvSpPr>
        <p:spPr>
          <a:xfrm>
            <a:off x="10092785" y="4102847"/>
            <a:ext cx="6915184" cy="3751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3120"/>
              </a:lnSpc>
            </a:pPr>
            <a:r>
              <a:rPr lang="en-US" sz="2400" b="1" dirty="0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Shipping days delay per region</a:t>
            </a:r>
          </a:p>
        </p:txBody>
      </p:sp>
      <p:grpSp>
        <p:nvGrpSpPr>
          <p:cNvPr id="40" name="Group 6">
            <a:extLst>
              <a:ext uri="{FF2B5EF4-FFF2-40B4-BE49-F238E27FC236}">
                <a16:creationId xmlns:a16="http://schemas.microsoft.com/office/drawing/2014/main" id="{CA2DFD1D-53F1-05B8-5C60-ADA8648B0CC4}"/>
              </a:ext>
            </a:extLst>
          </p:cNvPr>
          <p:cNvGrpSpPr/>
          <p:nvPr/>
        </p:nvGrpSpPr>
        <p:grpSpPr>
          <a:xfrm>
            <a:off x="5791200" y="-15257"/>
            <a:ext cx="12588314" cy="1783791"/>
            <a:chOff x="-417603" y="-38100"/>
            <a:chExt cx="4945960" cy="935378"/>
          </a:xfrm>
        </p:grpSpPr>
        <p:sp>
          <p:nvSpPr>
            <p:cNvPr id="41" name="Freeform 7">
              <a:extLst>
                <a:ext uri="{FF2B5EF4-FFF2-40B4-BE49-F238E27FC236}">
                  <a16:creationId xmlns:a16="http://schemas.microsoft.com/office/drawing/2014/main" id="{965D63B3-2822-2C04-A38D-687137A053CF}"/>
                </a:ext>
              </a:extLst>
            </p:cNvPr>
            <p:cNvSpPr/>
            <p:nvPr/>
          </p:nvSpPr>
          <p:spPr>
            <a:xfrm>
              <a:off x="-417603" y="152997"/>
              <a:ext cx="4945960" cy="744281"/>
            </a:xfrm>
            <a:custGeom>
              <a:avLst/>
              <a:gdLst/>
              <a:ahLst/>
              <a:cxnLst/>
              <a:rect l="l" t="t" r="r" b="b"/>
              <a:pathLst>
                <a:path w="4051749" h="698500">
                  <a:moveTo>
                    <a:pt x="4051749" y="349250"/>
                  </a:moveTo>
                  <a:lnTo>
                    <a:pt x="3848549" y="698500"/>
                  </a:lnTo>
                  <a:lnTo>
                    <a:pt x="203200" y="698500"/>
                  </a:lnTo>
                  <a:lnTo>
                    <a:pt x="0" y="349250"/>
                  </a:lnTo>
                  <a:lnTo>
                    <a:pt x="203200" y="0"/>
                  </a:lnTo>
                  <a:lnTo>
                    <a:pt x="3848549" y="0"/>
                  </a:lnTo>
                  <a:lnTo>
                    <a:pt x="4051749" y="349250"/>
                  </a:lnTo>
                  <a:close/>
                </a:path>
              </a:pathLst>
            </a:custGeom>
            <a:solidFill>
              <a:srgbClr val="10347A"/>
            </a:solidFill>
          </p:spPr>
          <p:txBody>
            <a:bodyPr/>
            <a:lstStyle/>
            <a:p>
              <a:pPr algn="ctr">
                <a:lnSpc>
                  <a:spcPct val="150000"/>
                </a:lnSpc>
              </a:pPr>
              <a:r>
                <a:rPr lang="en-US" sz="3200" b="1" dirty="0">
                  <a:solidFill>
                    <a:schemeClr val="bg1"/>
                  </a:solidFill>
                </a:rPr>
                <a:t>Sales analysis – </a:t>
              </a:r>
              <a:r>
                <a:rPr lang="en-US" sz="4000" b="1" dirty="0">
                  <a:solidFill>
                    <a:schemeClr val="tx2">
                      <a:lumMod val="60000"/>
                      <a:lumOff val="40000"/>
                    </a:schemeClr>
                  </a:solidFill>
                </a:rPr>
                <a:t>Shipping time &amp; delivery performance </a:t>
              </a:r>
              <a:r>
                <a:rPr lang="en-US" sz="3200" b="1" dirty="0">
                  <a:solidFill>
                    <a:schemeClr val="bg1"/>
                  </a:solidFill>
                </a:rPr>
                <a:t>insights</a:t>
              </a:r>
            </a:p>
          </p:txBody>
        </p:sp>
        <p:sp>
          <p:nvSpPr>
            <p:cNvPr id="42" name="TextBox 8">
              <a:extLst>
                <a:ext uri="{FF2B5EF4-FFF2-40B4-BE49-F238E27FC236}">
                  <a16:creationId xmlns:a16="http://schemas.microsoft.com/office/drawing/2014/main" id="{19564872-C942-5F4B-E10F-F2A50D6B787F}"/>
                </a:ext>
              </a:extLst>
            </p:cNvPr>
            <p:cNvSpPr txBox="1"/>
            <p:nvPr/>
          </p:nvSpPr>
          <p:spPr>
            <a:xfrm>
              <a:off x="114300" y="-38100"/>
              <a:ext cx="3823149" cy="7366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44" name="Freeform 10">
            <a:extLst>
              <a:ext uri="{FF2B5EF4-FFF2-40B4-BE49-F238E27FC236}">
                <a16:creationId xmlns:a16="http://schemas.microsoft.com/office/drawing/2014/main" id="{F442AB1A-9FF9-018D-707B-A2B0A35C2934}"/>
              </a:ext>
            </a:extLst>
          </p:cNvPr>
          <p:cNvSpPr/>
          <p:nvPr/>
        </p:nvSpPr>
        <p:spPr>
          <a:xfrm>
            <a:off x="9646173" y="6060763"/>
            <a:ext cx="7078487" cy="647715"/>
          </a:xfrm>
          <a:custGeom>
            <a:avLst/>
            <a:gdLst/>
            <a:ahLst/>
            <a:cxnLst/>
            <a:rect l="l" t="t" r="r" b="b"/>
            <a:pathLst>
              <a:path w="7469591" h="698500">
                <a:moveTo>
                  <a:pt x="7469591" y="349250"/>
                </a:moveTo>
                <a:lnTo>
                  <a:pt x="7266391" y="698500"/>
                </a:lnTo>
                <a:lnTo>
                  <a:pt x="203200" y="698500"/>
                </a:lnTo>
                <a:lnTo>
                  <a:pt x="0" y="349250"/>
                </a:lnTo>
                <a:lnTo>
                  <a:pt x="203200" y="0"/>
                </a:lnTo>
                <a:lnTo>
                  <a:pt x="7266391" y="0"/>
                </a:lnTo>
                <a:lnTo>
                  <a:pt x="7469591" y="349250"/>
                </a:lnTo>
                <a:close/>
              </a:path>
            </a:pathLst>
          </a:custGeom>
          <a:solidFill>
            <a:srgbClr val="10347A"/>
          </a:solidFill>
        </p:spPr>
        <p:txBody>
          <a:bodyPr/>
          <a:lstStyle/>
          <a:p>
            <a:endParaRPr lang="en-US"/>
          </a:p>
        </p:txBody>
      </p:sp>
      <p:grpSp>
        <p:nvGrpSpPr>
          <p:cNvPr id="45" name="Group 6">
            <a:extLst>
              <a:ext uri="{FF2B5EF4-FFF2-40B4-BE49-F238E27FC236}">
                <a16:creationId xmlns:a16="http://schemas.microsoft.com/office/drawing/2014/main" id="{E3158751-A10C-8E69-D087-3ADFAB5EF237}"/>
              </a:ext>
            </a:extLst>
          </p:cNvPr>
          <p:cNvGrpSpPr/>
          <p:nvPr/>
        </p:nvGrpSpPr>
        <p:grpSpPr>
          <a:xfrm>
            <a:off x="9567812" y="4939873"/>
            <a:ext cx="7268064" cy="647715"/>
            <a:chOff x="0" y="0"/>
            <a:chExt cx="7469591" cy="698500"/>
          </a:xfrm>
        </p:grpSpPr>
        <p:sp>
          <p:nvSpPr>
            <p:cNvPr id="46" name="Freeform 7">
              <a:extLst>
                <a:ext uri="{FF2B5EF4-FFF2-40B4-BE49-F238E27FC236}">
                  <a16:creationId xmlns:a16="http://schemas.microsoft.com/office/drawing/2014/main" id="{5BA993D0-985D-D620-248D-BE051C880215}"/>
                </a:ext>
              </a:extLst>
            </p:cNvPr>
            <p:cNvSpPr/>
            <p:nvPr/>
          </p:nvSpPr>
          <p:spPr>
            <a:xfrm>
              <a:off x="0" y="0"/>
              <a:ext cx="7469591" cy="698500"/>
            </a:xfrm>
            <a:custGeom>
              <a:avLst/>
              <a:gdLst/>
              <a:ahLst/>
              <a:cxnLst/>
              <a:rect l="l" t="t" r="r" b="b"/>
              <a:pathLst>
                <a:path w="7469591" h="698500">
                  <a:moveTo>
                    <a:pt x="7469591" y="349250"/>
                  </a:moveTo>
                  <a:lnTo>
                    <a:pt x="7266391" y="698500"/>
                  </a:lnTo>
                  <a:lnTo>
                    <a:pt x="203200" y="698500"/>
                  </a:lnTo>
                  <a:lnTo>
                    <a:pt x="0" y="349250"/>
                  </a:lnTo>
                  <a:lnTo>
                    <a:pt x="203200" y="0"/>
                  </a:lnTo>
                  <a:lnTo>
                    <a:pt x="7266391" y="0"/>
                  </a:lnTo>
                  <a:lnTo>
                    <a:pt x="7469591" y="349250"/>
                  </a:lnTo>
                  <a:close/>
                </a:path>
              </a:pathLst>
            </a:custGeom>
            <a:solidFill>
              <a:srgbClr val="10347A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7" name="TextBox 8">
              <a:extLst>
                <a:ext uri="{FF2B5EF4-FFF2-40B4-BE49-F238E27FC236}">
                  <a16:creationId xmlns:a16="http://schemas.microsoft.com/office/drawing/2014/main" id="{7FAFF755-85E0-2D62-ADE9-302497969C48}"/>
                </a:ext>
              </a:extLst>
            </p:cNvPr>
            <p:cNvSpPr txBox="1"/>
            <p:nvPr/>
          </p:nvSpPr>
          <p:spPr>
            <a:xfrm>
              <a:off x="114300" y="-38100"/>
              <a:ext cx="7240991" cy="7366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48" name="TextBox 39">
            <a:extLst>
              <a:ext uri="{FF2B5EF4-FFF2-40B4-BE49-F238E27FC236}">
                <a16:creationId xmlns:a16="http://schemas.microsoft.com/office/drawing/2014/main" id="{66E3A8EB-5DD2-D593-19C1-03F2463E002E}"/>
              </a:ext>
            </a:extLst>
          </p:cNvPr>
          <p:cNvSpPr txBox="1"/>
          <p:nvPr/>
        </p:nvSpPr>
        <p:spPr>
          <a:xfrm>
            <a:off x="10158024" y="5058513"/>
            <a:ext cx="6915184" cy="3751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20"/>
              </a:lnSpc>
            </a:pPr>
            <a:r>
              <a:rPr lang="en-US" sz="2400" b="1" dirty="0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Delays per ship mode</a:t>
            </a:r>
          </a:p>
        </p:txBody>
      </p:sp>
      <p:sp>
        <p:nvSpPr>
          <p:cNvPr id="49" name="TextBox 39">
            <a:extLst>
              <a:ext uri="{FF2B5EF4-FFF2-40B4-BE49-F238E27FC236}">
                <a16:creationId xmlns:a16="http://schemas.microsoft.com/office/drawing/2014/main" id="{578335A7-9CE8-9BFF-BD53-A34795ADFF3A}"/>
              </a:ext>
            </a:extLst>
          </p:cNvPr>
          <p:cNvSpPr txBox="1"/>
          <p:nvPr/>
        </p:nvSpPr>
        <p:spPr>
          <a:xfrm>
            <a:off x="10338455" y="6208277"/>
            <a:ext cx="6915184" cy="3751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3120"/>
              </a:lnSpc>
            </a:pPr>
            <a:r>
              <a:rPr lang="en-US" sz="2400" b="1" dirty="0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Average shipping time per shape mode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AEECD7F7-F3C4-219B-06D5-C0697B84F78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633806" y="1766148"/>
            <a:ext cx="8037972" cy="5361406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</p:pic>
    </p:spTree>
    <p:extLst>
      <p:ext uri="{BB962C8B-B14F-4D97-AF65-F5344CB8AC3E}">
        <p14:creationId xmlns:p14="http://schemas.microsoft.com/office/powerpoint/2010/main" val="28600043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1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1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5D4FFA-28EA-96D7-71DD-1761D34A2B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96F6D806-8F3F-865F-6834-7162E5FEE115}"/>
              </a:ext>
            </a:extLst>
          </p:cNvPr>
          <p:cNvSpPr/>
          <p:nvPr/>
        </p:nvSpPr>
        <p:spPr>
          <a:xfrm>
            <a:off x="185763" y="-4072416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2813" t="-22813"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91FE00CE-EB50-1C5B-52B9-DB5ED7E74FF7}"/>
              </a:ext>
            </a:extLst>
          </p:cNvPr>
          <p:cNvGrpSpPr/>
          <p:nvPr/>
        </p:nvGrpSpPr>
        <p:grpSpPr>
          <a:xfrm>
            <a:off x="9639404" y="2013937"/>
            <a:ext cx="7236148" cy="888819"/>
            <a:chOff x="0" y="0"/>
            <a:chExt cx="7469591" cy="698500"/>
          </a:xfrm>
        </p:grpSpPr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BC7A93D7-DC19-B8F2-2D95-D49327526E2A}"/>
                </a:ext>
              </a:extLst>
            </p:cNvPr>
            <p:cNvSpPr/>
            <p:nvPr/>
          </p:nvSpPr>
          <p:spPr>
            <a:xfrm>
              <a:off x="0" y="0"/>
              <a:ext cx="7469591" cy="698500"/>
            </a:xfrm>
            <a:custGeom>
              <a:avLst/>
              <a:gdLst/>
              <a:ahLst/>
              <a:cxnLst/>
              <a:rect l="l" t="t" r="r" b="b"/>
              <a:pathLst>
                <a:path w="7469591" h="698500">
                  <a:moveTo>
                    <a:pt x="7469591" y="349250"/>
                  </a:moveTo>
                  <a:lnTo>
                    <a:pt x="7266391" y="698500"/>
                  </a:lnTo>
                  <a:lnTo>
                    <a:pt x="203200" y="698500"/>
                  </a:lnTo>
                  <a:lnTo>
                    <a:pt x="0" y="349250"/>
                  </a:lnTo>
                  <a:lnTo>
                    <a:pt x="203200" y="0"/>
                  </a:lnTo>
                  <a:lnTo>
                    <a:pt x="7266391" y="0"/>
                  </a:lnTo>
                  <a:lnTo>
                    <a:pt x="7469591" y="349250"/>
                  </a:lnTo>
                  <a:close/>
                </a:path>
              </a:pathLst>
            </a:custGeom>
            <a:solidFill>
              <a:srgbClr val="10347A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474AB875-8466-735F-94C7-037A8AC02696}"/>
                </a:ext>
              </a:extLst>
            </p:cNvPr>
            <p:cNvSpPr txBox="1"/>
            <p:nvPr/>
          </p:nvSpPr>
          <p:spPr>
            <a:xfrm>
              <a:off x="114300" y="-38100"/>
              <a:ext cx="7240991" cy="7366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6" name="Group 6">
            <a:extLst>
              <a:ext uri="{FF2B5EF4-FFF2-40B4-BE49-F238E27FC236}">
                <a16:creationId xmlns:a16="http://schemas.microsoft.com/office/drawing/2014/main" id="{A01CB681-EDA9-5C9D-5B55-1284B809603F}"/>
              </a:ext>
            </a:extLst>
          </p:cNvPr>
          <p:cNvGrpSpPr/>
          <p:nvPr/>
        </p:nvGrpSpPr>
        <p:grpSpPr>
          <a:xfrm>
            <a:off x="9605325" y="3374385"/>
            <a:ext cx="7304306" cy="647715"/>
            <a:chOff x="0" y="0"/>
            <a:chExt cx="7469591" cy="698500"/>
          </a:xfrm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9900405B-D5F0-EB31-6E84-2A6C766F8F5B}"/>
                </a:ext>
              </a:extLst>
            </p:cNvPr>
            <p:cNvSpPr/>
            <p:nvPr/>
          </p:nvSpPr>
          <p:spPr>
            <a:xfrm>
              <a:off x="0" y="0"/>
              <a:ext cx="7469591" cy="698500"/>
            </a:xfrm>
            <a:custGeom>
              <a:avLst/>
              <a:gdLst/>
              <a:ahLst/>
              <a:cxnLst/>
              <a:rect l="l" t="t" r="r" b="b"/>
              <a:pathLst>
                <a:path w="7469591" h="698500">
                  <a:moveTo>
                    <a:pt x="7469591" y="349250"/>
                  </a:moveTo>
                  <a:lnTo>
                    <a:pt x="7266391" y="698500"/>
                  </a:lnTo>
                  <a:lnTo>
                    <a:pt x="203200" y="698500"/>
                  </a:lnTo>
                  <a:lnTo>
                    <a:pt x="0" y="349250"/>
                  </a:lnTo>
                  <a:lnTo>
                    <a:pt x="203200" y="0"/>
                  </a:lnTo>
                  <a:lnTo>
                    <a:pt x="7266391" y="0"/>
                  </a:lnTo>
                  <a:lnTo>
                    <a:pt x="7469591" y="349250"/>
                  </a:lnTo>
                  <a:close/>
                </a:path>
              </a:pathLst>
            </a:custGeom>
            <a:solidFill>
              <a:srgbClr val="10347A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TextBox 8">
              <a:extLst>
                <a:ext uri="{FF2B5EF4-FFF2-40B4-BE49-F238E27FC236}">
                  <a16:creationId xmlns:a16="http://schemas.microsoft.com/office/drawing/2014/main" id="{BDB1A60A-D09F-9C9D-0449-F9BBCD10D1CA}"/>
                </a:ext>
              </a:extLst>
            </p:cNvPr>
            <p:cNvSpPr txBox="1"/>
            <p:nvPr/>
          </p:nvSpPr>
          <p:spPr>
            <a:xfrm>
              <a:off x="114300" y="-38100"/>
              <a:ext cx="7240991" cy="7366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9" name="Group 9">
            <a:extLst>
              <a:ext uri="{FF2B5EF4-FFF2-40B4-BE49-F238E27FC236}">
                <a16:creationId xmlns:a16="http://schemas.microsoft.com/office/drawing/2014/main" id="{62FCD10E-B7C4-C439-00C1-FB059BB133C2}"/>
              </a:ext>
            </a:extLst>
          </p:cNvPr>
          <p:cNvGrpSpPr/>
          <p:nvPr/>
        </p:nvGrpSpPr>
        <p:grpSpPr>
          <a:xfrm>
            <a:off x="9512444" y="4285945"/>
            <a:ext cx="7930478" cy="5216337"/>
            <a:chOff x="-795081" y="-4926831"/>
            <a:chExt cx="8150372" cy="5625331"/>
          </a:xfrm>
        </p:grpSpPr>
        <p:sp>
          <p:nvSpPr>
            <p:cNvPr id="10" name="Freeform 10">
              <a:extLst>
                <a:ext uri="{FF2B5EF4-FFF2-40B4-BE49-F238E27FC236}">
                  <a16:creationId xmlns:a16="http://schemas.microsoft.com/office/drawing/2014/main" id="{B605E8D5-3244-B69C-5E80-7EBD08BBEC59}"/>
                </a:ext>
              </a:extLst>
            </p:cNvPr>
            <p:cNvSpPr/>
            <p:nvPr/>
          </p:nvSpPr>
          <p:spPr>
            <a:xfrm>
              <a:off x="-795081" y="-4926831"/>
              <a:ext cx="7469591" cy="698500"/>
            </a:xfrm>
            <a:custGeom>
              <a:avLst/>
              <a:gdLst/>
              <a:ahLst/>
              <a:cxnLst/>
              <a:rect l="l" t="t" r="r" b="b"/>
              <a:pathLst>
                <a:path w="7469591" h="698500">
                  <a:moveTo>
                    <a:pt x="7469591" y="349250"/>
                  </a:moveTo>
                  <a:lnTo>
                    <a:pt x="7266391" y="698500"/>
                  </a:lnTo>
                  <a:lnTo>
                    <a:pt x="203200" y="698500"/>
                  </a:lnTo>
                  <a:lnTo>
                    <a:pt x="0" y="349250"/>
                  </a:lnTo>
                  <a:lnTo>
                    <a:pt x="203200" y="0"/>
                  </a:lnTo>
                  <a:lnTo>
                    <a:pt x="7266391" y="0"/>
                  </a:lnTo>
                  <a:lnTo>
                    <a:pt x="7469591" y="349250"/>
                  </a:lnTo>
                  <a:close/>
                </a:path>
              </a:pathLst>
            </a:custGeom>
            <a:solidFill>
              <a:srgbClr val="10347A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TextBox 11">
              <a:extLst>
                <a:ext uri="{FF2B5EF4-FFF2-40B4-BE49-F238E27FC236}">
                  <a16:creationId xmlns:a16="http://schemas.microsoft.com/office/drawing/2014/main" id="{96E5F35D-329F-D227-3FB0-E2A23844C6C2}"/>
                </a:ext>
              </a:extLst>
            </p:cNvPr>
            <p:cNvSpPr txBox="1"/>
            <p:nvPr/>
          </p:nvSpPr>
          <p:spPr>
            <a:xfrm>
              <a:off x="114300" y="-38100"/>
              <a:ext cx="7240991" cy="7366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5" name="Group 15">
            <a:extLst>
              <a:ext uri="{FF2B5EF4-FFF2-40B4-BE49-F238E27FC236}">
                <a16:creationId xmlns:a16="http://schemas.microsoft.com/office/drawing/2014/main" id="{BC07FE23-30E1-23B8-F2D9-EDA10A0D8EE9}"/>
              </a:ext>
            </a:extLst>
          </p:cNvPr>
          <p:cNvGrpSpPr/>
          <p:nvPr/>
        </p:nvGrpSpPr>
        <p:grpSpPr>
          <a:xfrm rot="1816035">
            <a:off x="-666771" y="7129837"/>
            <a:ext cx="4871721" cy="4116685"/>
            <a:chOff x="0" y="0"/>
            <a:chExt cx="1283087" cy="1084230"/>
          </a:xfrm>
        </p:grpSpPr>
        <p:sp>
          <p:nvSpPr>
            <p:cNvPr id="16" name="Freeform 16">
              <a:extLst>
                <a:ext uri="{FF2B5EF4-FFF2-40B4-BE49-F238E27FC236}">
                  <a16:creationId xmlns:a16="http://schemas.microsoft.com/office/drawing/2014/main" id="{AA802F89-F3A8-0732-62CB-EC24DED8E413}"/>
                </a:ext>
              </a:extLst>
            </p:cNvPr>
            <p:cNvSpPr/>
            <p:nvPr/>
          </p:nvSpPr>
          <p:spPr>
            <a:xfrm>
              <a:off x="0" y="0"/>
              <a:ext cx="1283087" cy="1084230"/>
            </a:xfrm>
            <a:custGeom>
              <a:avLst/>
              <a:gdLst/>
              <a:ahLst/>
              <a:cxnLst/>
              <a:rect l="l" t="t" r="r" b="b"/>
              <a:pathLst>
                <a:path w="1283087" h="1084230">
                  <a:moveTo>
                    <a:pt x="0" y="0"/>
                  </a:moveTo>
                  <a:lnTo>
                    <a:pt x="1283087" y="0"/>
                  </a:lnTo>
                  <a:lnTo>
                    <a:pt x="1283087" y="1084230"/>
                  </a:lnTo>
                  <a:lnTo>
                    <a:pt x="0" y="1084230"/>
                  </a:lnTo>
                  <a:close/>
                </a:path>
              </a:pathLst>
            </a:custGeom>
            <a:gradFill rotWithShape="1">
              <a:gsLst>
                <a:gs pos="0">
                  <a:srgbClr val="002264">
                    <a:alpha val="100000"/>
                  </a:srgbClr>
                </a:gs>
                <a:gs pos="100000">
                  <a:srgbClr val="2D56A5">
                    <a:alpha val="100000"/>
                  </a:srgbClr>
                </a:gs>
              </a:gsLst>
              <a:lin ang="5400000"/>
            </a:gradFill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TextBox 17">
              <a:extLst>
                <a:ext uri="{FF2B5EF4-FFF2-40B4-BE49-F238E27FC236}">
                  <a16:creationId xmlns:a16="http://schemas.microsoft.com/office/drawing/2014/main" id="{F46E42A6-9E13-429E-5B66-BC0BFFE8FF5F}"/>
                </a:ext>
              </a:extLst>
            </p:cNvPr>
            <p:cNvSpPr txBox="1"/>
            <p:nvPr/>
          </p:nvSpPr>
          <p:spPr>
            <a:xfrm>
              <a:off x="0" y="-38100"/>
              <a:ext cx="1283087" cy="112233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8" name="Group 18">
            <a:extLst>
              <a:ext uri="{FF2B5EF4-FFF2-40B4-BE49-F238E27FC236}">
                <a16:creationId xmlns:a16="http://schemas.microsoft.com/office/drawing/2014/main" id="{4D6E56FE-C4F7-012F-BEBD-BBC50A915EF6}"/>
              </a:ext>
            </a:extLst>
          </p:cNvPr>
          <p:cNvGrpSpPr/>
          <p:nvPr/>
        </p:nvGrpSpPr>
        <p:grpSpPr>
          <a:xfrm rot="1816035">
            <a:off x="4298912" y="8233619"/>
            <a:ext cx="1370504" cy="4326908"/>
            <a:chOff x="0" y="0"/>
            <a:chExt cx="360956" cy="1139597"/>
          </a:xfrm>
        </p:grpSpPr>
        <p:sp>
          <p:nvSpPr>
            <p:cNvPr id="19" name="Freeform 19">
              <a:extLst>
                <a:ext uri="{FF2B5EF4-FFF2-40B4-BE49-F238E27FC236}">
                  <a16:creationId xmlns:a16="http://schemas.microsoft.com/office/drawing/2014/main" id="{9B6DC11B-0B73-88CF-B5B6-77E5E90C60EC}"/>
                </a:ext>
              </a:extLst>
            </p:cNvPr>
            <p:cNvSpPr/>
            <p:nvPr/>
          </p:nvSpPr>
          <p:spPr>
            <a:xfrm>
              <a:off x="0" y="0"/>
              <a:ext cx="360956" cy="1139597"/>
            </a:xfrm>
            <a:custGeom>
              <a:avLst/>
              <a:gdLst/>
              <a:ahLst/>
              <a:cxnLst/>
              <a:rect l="l" t="t" r="r" b="b"/>
              <a:pathLst>
                <a:path w="360956" h="1139597">
                  <a:moveTo>
                    <a:pt x="0" y="0"/>
                  </a:moveTo>
                  <a:lnTo>
                    <a:pt x="360956" y="0"/>
                  </a:lnTo>
                  <a:lnTo>
                    <a:pt x="360956" y="1139597"/>
                  </a:lnTo>
                  <a:lnTo>
                    <a:pt x="0" y="1139597"/>
                  </a:lnTo>
                  <a:close/>
                </a:path>
              </a:pathLst>
            </a:custGeom>
            <a:gradFill rotWithShape="1">
              <a:gsLst>
                <a:gs pos="0">
                  <a:srgbClr val="002264">
                    <a:alpha val="100000"/>
                  </a:srgbClr>
                </a:gs>
                <a:gs pos="100000">
                  <a:srgbClr val="2D56A5">
                    <a:alpha val="100000"/>
                  </a:srgbClr>
                </a:gs>
              </a:gsLst>
              <a:lin ang="5400000"/>
            </a:gradFill>
          </p:spPr>
          <p:txBody>
            <a:bodyPr/>
            <a:lstStyle/>
            <a:p>
              <a:endParaRPr lang="en-US"/>
            </a:p>
          </p:txBody>
        </p:sp>
        <p:sp>
          <p:nvSpPr>
            <p:cNvPr id="20" name="TextBox 20">
              <a:extLst>
                <a:ext uri="{FF2B5EF4-FFF2-40B4-BE49-F238E27FC236}">
                  <a16:creationId xmlns:a16="http://schemas.microsoft.com/office/drawing/2014/main" id="{B02B4786-E438-5B15-8FDF-1E82EAC3F949}"/>
                </a:ext>
              </a:extLst>
            </p:cNvPr>
            <p:cNvSpPr txBox="1"/>
            <p:nvPr/>
          </p:nvSpPr>
          <p:spPr>
            <a:xfrm>
              <a:off x="0" y="-38100"/>
              <a:ext cx="360956" cy="117769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21" name="Group 21">
            <a:extLst>
              <a:ext uri="{FF2B5EF4-FFF2-40B4-BE49-F238E27FC236}">
                <a16:creationId xmlns:a16="http://schemas.microsoft.com/office/drawing/2014/main" id="{C9DEBD68-B37F-8877-1D93-189A2CC8C068}"/>
              </a:ext>
            </a:extLst>
          </p:cNvPr>
          <p:cNvGrpSpPr/>
          <p:nvPr/>
        </p:nvGrpSpPr>
        <p:grpSpPr>
          <a:xfrm>
            <a:off x="-3223958" y="5551906"/>
            <a:ext cx="6794577" cy="5839090"/>
            <a:chOff x="0" y="0"/>
            <a:chExt cx="812800" cy="698500"/>
          </a:xfrm>
        </p:grpSpPr>
        <p:sp>
          <p:nvSpPr>
            <p:cNvPr id="22" name="Freeform 22">
              <a:extLst>
                <a:ext uri="{FF2B5EF4-FFF2-40B4-BE49-F238E27FC236}">
                  <a16:creationId xmlns:a16="http://schemas.microsoft.com/office/drawing/2014/main" id="{E91BD150-E939-FB2E-B31D-02A96D2B1772}"/>
                </a:ext>
              </a:extLst>
            </p:cNvPr>
            <p:cNvSpPr/>
            <p:nvPr/>
          </p:nvSpPr>
          <p:spPr>
            <a:xfrm>
              <a:off x="0" y="0"/>
              <a:ext cx="812800" cy="698500"/>
            </a:xfrm>
            <a:custGeom>
              <a:avLst/>
              <a:gdLst/>
              <a:ahLst/>
              <a:cxnLst/>
              <a:rect l="l" t="t" r="r" b="b"/>
              <a:pathLst>
                <a:path w="812800" h="698500">
                  <a:moveTo>
                    <a:pt x="812800" y="349250"/>
                  </a:moveTo>
                  <a:lnTo>
                    <a:pt x="609600" y="698500"/>
                  </a:lnTo>
                  <a:lnTo>
                    <a:pt x="203200" y="698500"/>
                  </a:lnTo>
                  <a:lnTo>
                    <a:pt x="0" y="349250"/>
                  </a:lnTo>
                  <a:lnTo>
                    <a:pt x="203200" y="0"/>
                  </a:lnTo>
                  <a:lnTo>
                    <a:pt x="609600" y="0"/>
                  </a:lnTo>
                  <a:lnTo>
                    <a:pt x="812800" y="34925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0" cap="sq">
              <a:solidFill>
                <a:srgbClr val="FFFFFF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3" name="TextBox 23">
              <a:extLst>
                <a:ext uri="{FF2B5EF4-FFF2-40B4-BE49-F238E27FC236}">
                  <a16:creationId xmlns:a16="http://schemas.microsoft.com/office/drawing/2014/main" id="{D874C3CF-519B-439E-3DBD-349AABF89385}"/>
                </a:ext>
              </a:extLst>
            </p:cNvPr>
            <p:cNvSpPr txBox="1"/>
            <p:nvPr/>
          </p:nvSpPr>
          <p:spPr>
            <a:xfrm>
              <a:off x="114300" y="-38100"/>
              <a:ext cx="584200" cy="7366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24" name="Group 24">
            <a:extLst>
              <a:ext uri="{FF2B5EF4-FFF2-40B4-BE49-F238E27FC236}">
                <a16:creationId xmlns:a16="http://schemas.microsoft.com/office/drawing/2014/main" id="{E9291834-D0B4-EC2C-3FE8-4EC5CCC5BD5F}"/>
              </a:ext>
            </a:extLst>
          </p:cNvPr>
          <p:cNvGrpSpPr/>
          <p:nvPr/>
        </p:nvGrpSpPr>
        <p:grpSpPr>
          <a:xfrm>
            <a:off x="0" y="0"/>
            <a:ext cx="18288000" cy="254577"/>
            <a:chOff x="0" y="0"/>
            <a:chExt cx="4816593" cy="67049"/>
          </a:xfrm>
        </p:grpSpPr>
        <p:sp>
          <p:nvSpPr>
            <p:cNvPr id="25" name="Freeform 25">
              <a:extLst>
                <a:ext uri="{FF2B5EF4-FFF2-40B4-BE49-F238E27FC236}">
                  <a16:creationId xmlns:a16="http://schemas.microsoft.com/office/drawing/2014/main" id="{B90DF18C-A293-3E01-4B23-97C34EC96714}"/>
                </a:ext>
              </a:extLst>
            </p:cNvPr>
            <p:cNvSpPr/>
            <p:nvPr/>
          </p:nvSpPr>
          <p:spPr>
            <a:xfrm>
              <a:off x="0" y="0"/>
              <a:ext cx="4816592" cy="67049"/>
            </a:xfrm>
            <a:custGeom>
              <a:avLst/>
              <a:gdLst/>
              <a:ahLst/>
              <a:cxnLst/>
              <a:rect l="l" t="t" r="r" b="b"/>
              <a:pathLst>
                <a:path w="4816592" h="67049">
                  <a:moveTo>
                    <a:pt x="0" y="0"/>
                  </a:moveTo>
                  <a:lnTo>
                    <a:pt x="4816592" y="0"/>
                  </a:lnTo>
                  <a:lnTo>
                    <a:pt x="4816592" y="67049"/>
                  </a:lnTo>
                  <a:lnTo>
                    <a:pt x="0" y="67049"/>
                  </a:lnTo>
                  <a:close/>
                </a:path>
              </a:pathLst>
            </a:custGeom>
            <a:gradFill rotWithShape="1">
              <a:gsLst>
                <a:gs pos="0">
                  <a:srgbClr val="002264">
                    <a:alpha val="100000"/>
                  </a:srgbClr>
                </a:gs>
                <a:gs pos="100000">
                  <a:srgbClr val="2D56A5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US"/>
            </a:p>
          </p:txBody>
        </p:sp>
        <p:sp>
          <p:nvSpPr>
            <p:cNvPr id="26" name="TextBox 26">
              <a:extLst>
                <a:ext uri="{FF2B5EF4-FFF2-40B4-BE49-F238E27FC236}">
                  <a16:creationId xmlns:a16="http://schemas.microsoft.com/office/drawing/2014/main" id="{CA8D80CB-2725-9206-CDE2-F2BA15E9F7E2}"/>
                </a:ext>
              </a:extLst>
            </p:cNvPr>
            <p:cNvSpPr txBox="1"/>
            <p:nvPr/>
          </p:nvSpPr>
          <p:spPr>
            <a:xfrm>
              <a:off x="0" y="-38100"/>
              <a:ext cx="4816593" cy="10514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27" name="Group 27">
            <a:extLst>
              <a:ext uri="{FF2B5EF4-FFF2-40B4-BE49-F238E27FC236}">
                <a16:creationId xmlns:a16="http://schemas.microsoft.com/office/drawing/2014/main" id="{5B63E393-3781-D52B-EE33-45E21DB016D2}"/>
              </a:ext>
            </a:extLst>
          </p:cNvPr>
          <p:cNvGrpSpPr/>
          <p:nvPr/>
        </p:nvGrpSpPr>
        <p:grpSpPr>
          <a:xfrm>
            <a:off x="-3321198" y="-529605"/>
            <a:ext cx="11412757" cy="9684100"/>
            <a:chOff x="0" y="0"/>
            <a:chExt cx="912495" cy="698500"/>
          </a:xfrm>
        </p:grpSpPr>
        <p:sp>
          <p:nvSpPr>
            <p:cNvPr id="28" name="Freeform 28">
              <a:extLst>
                <a:ext uri="{FF2B5EF4-FFF2-40B4-BE49-F238E27FC236}">
                  <a16:creationId xmlns:a16="http://schemas.microsoft.com/office/drawing/2014/main" id="{DBE17AAC-3FEC-5A0B-CDC6-1A006B3A0412}"/>
                </a:ext>
              </a:extLst>
            </p:cNvPr>
            <p:cNvSpPr/>
            <p:nvPr/>
          </p:nvSpPr>
          <p:spPr>
            <a:xfrm>
              <a:off x="0" y="0"/>
              <a:ext cx="912495" cy="698500"/>
            </a:xfrm>
            <a:custGeom>
              <a:avLst/>
              <a:gdLst/>
              <a:ahLst/>
              <a:cxnLst/>
              <a:rect l="l" t="t" r="r" b="b"/>
              <a:pathLst>
                <a:path w="912495" h="698500">
                  <a:moveTo>
                    <a:pt x="912495" y="349250"/>
                  </a:moveTo>
                  <a:lnTo>
                    <a:pt x="709295" y="698500"/>
                  </a:lnTo>
                  <a:lnTo>
                    <a:pt x="203200" y="698500"/>
                  </a:lnTo>
                  <a:lnTo>
                    <a:pt x="0" y="349250"/>
                  </a:lnTo>
                  <a:lnTo>
                    <a:pt x="203200" y="0"/>
                  </a:lnTo>
                  <a:lnTo>
                    <a:pt x="709295" y="0"/>
                  </a:lnTo>
                  <a:lnTo>
                    <a:pt x="912495" y="349250"/>
                  </a:lnTo>
                  <a:close/>
                </a:path>
              </a:pathLst>
            </a:custGeom>
            <a:gradFill rotWithShape="1">
              <a:gsLst>
                <a:gs pos="0">
                  <a:srgbClr val="002264">
                    <a:alpha val="100000"/>
                  </a:srgbClr>
                </a:gs>
                <a:gs pos="100000">
                  <a:srgbClr val="2D56A5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US"/>
            </a:p>
          </p:txBody>
        </p:sp>
        <p:sp>
          <p:nvSpPr>
            <p:cNvPr id="29" name="TextBox 29">
              <a:extLst>
                <a:ext uri="{FF2B5EF4-FFF2-40B4-BE49-F238E27FC236}">
                  <a16:creationId xmlns:a16="http://schemas.microsoft.com/office/drawing/2014/main" id="{F9EB5C61-7F5C-DB9D-5684-DD3B8CA701FE}"/>
                </a:ext>
              </a:extLst>
            </p:cNvPr>
            <p:cNvSpPr txBox="1"/>
            <p:nvPr/>
          </p:nvSpPr>
          <p:spPr>
            <a:xfrm>
              <a:off x="114300" y="-38100"/>
              <a:ext cx="683895" cy="7366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32" name="Freeform 32">
            <a:extLst>
              <a:ext uri="{FF2B5EF4-FFF2-40B4-BE49-F238E27FC236}">
                <a16:creationId xmlns:a16="http://schemas.microsoft.com/office/drawing/2014/main" id="{52DB6C37-3425-D2EA-B49A-52840ACE17C4}"/>
              </a:ext>
            </a:extLst>
          </p:cNvPr>
          <p:cNvSpPr/>
          <p:nvPr/>
        </p:nvSpPr>
        <p:spPr>
          <a:xfrm>
            <a:off x="16494396" y="1028700"/>
            <a:ext cx="764904" cy="406407"/>
          </a:xfrm>
          <a:custGeom>
            <a:avLst/>
            <a:gdLst/>
            <a:ahLst/>
            <a:cxnLst/>
            <a:rect l="l" t="t" r="r" b="b"/>
            <a:pathLst>
              <a:path w="764904" h="406407">
                <a:moveTo>
                  <a:pt x="0" y="0"/>
                </a:moveTo>
                <a:lnTo>
                  <a:pt x="764904" y="0"/>
                </a:lnTo>
                <a:lnTo>
                  <a:pt x="764904" y="406407"/>
                </a:lnTo>
                <a:lnTo>
                  <a:pt x="0" y="40640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r="-111469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3" name="Freeform 33">
            <a:extLst>
              <a:ext uri="{FF2B5EF4-FFF2-40B4-BE49-F238E27FC236}">
                <a16:creationId xmlns:a16="http://schemas.microsoft.com/office/drawing/2014/main" id="{B1A1596D-68A5-60D9-166D-5FBB8DFD557B}"/>
              </a:ext>
            </a:extLst>
          </p:cNvPr>
          <p:cNvSpPr/>
          <p:nvPr/>
        </p:nvSpPr>
        <p:spPr>
          <a:xfrm>
            <a:off x="8564857" y="8748089"/>
            <a:ext cx="764904" cy="406407"/>
          </a:xfrm>
          <a:custGeom>
            <a:avLst/>
            <a:gdLst/>
            <a:ahLst/>
            <a:cxnLst/>
            <a:rect l="l" t="t" r="r" b="b"/>
            <a:pathLst>
              <a:path w="764904" h="406407">
                <a:moveTo>
                  <a:pt x="0" y="0"/>
                </a:moveTo>
                <a:lnTo>
                  <a:pt x="764904" y="0"/>
                </a:lnTo>
                <a:lnTo>
                  <a:pt x="764904" y="406406"/>
                </a:lnTo>
                <a:lnTo>
                  <a:pt x="0" y="40640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r="-111469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7" name="TextBox 37">
            <a:extLst>
              <a:ext uri="{FF2B5EF4-FFF2-40B4-BE49-F238E27FC236}">
                <a16:creationId xmlns:a16="http://schemas.microsoft.com/office/drawing/2014/main" id="{FFBD4CA6-3343-1391-CD7F-CE5A025CC1CC}"/>
              </a:ext>
            </a:extLst>
          </p:cNvPr>
          <p:cNvSpPr txBox="1"/>
          <p:nvPr/>
        </p:nvSpPr>
        <p:spPr>
          <a:xfrm>
            <a:off x="10177070" y="2080171"/>
            <a:ext cx="7348929" cy="37510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3120"/>
              </a:lnSpc>
            </a:pPr>
            <a:r>
              <a:rPr lang="en-US" sz="2400" b="1" dirty="0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Total number of customers</a:t>
            </a:r>
          </a:p>
        </p:txBody>
      </p:sp>
      <p:sp>
        <p:nvSpPr>
          <p:cNvPr id="38" name="TextBox 38">
            <a:extLst>
              <a:ext uri="{FF2B5EF4-FFF2-40B4-BE49-F238E27FC236}">
                <a16:creationId xmlns:a16="http://schemas.microsoft.com/office/drawing/2014/main" id="{CCA165CA-8046-D0EC-65D7-FE59FFB5C93A}"/>
              </a:ext>
            </a:extLst>
          </p:cNvPr>
          <p:cNvSpPr txBox="1"/>
          <p:nvPr/>
        </p:nvSpPr>
        <p:spPr>
          <a:xfrm>
            <a:off x="10050333" y="3444322"/>
            <a:ext cx="6915184" cy="3751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3120"/>
              </a:lnSpc>
            </a:pPr>
            <a:r>
              <a:rPr lang="en-US" sz="2400" b="1" dirty="0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Customer loyalty</a:t>
            </a:r>
          </a:p>
        </p:txBody>
      </p:sp>
      <p:sp>
        <p:nvSpPr>
          <p:cNvPr id="39" name="TextBox 39">
            <a:extLst>
              <a:ext uri="{FF2B5EF4-FFF2-40B4-BE49-F238E27FC236}">
                <a16:creationId xmlns:a16="http://schemas.microsoft.com/office/drawing/2014/main" id="{6FA7A059-6C2C-31C5-F445-F3BECE4E2AAA}"/>
              </a:ext>
            </a:extLst>
          </p:cNvPr>
          <p:cNvSpPr txBox="1"/>
          <p:nvPr/>
        </p:nvSpPr>
        <p:spPr>
          <a:xfrm>
            <a:off x="9939586" y="4403313"/>
            <a:ext cx="6915184" cy="3751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3120"/>
              </a:lnSpc>
            </a:pPr>
            <a:r>
              <a:rPr lang="en-US" sz="2400" b="1" dirty="0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Customer numbers per quarter</a:t>
            </a:r>
          </a:p>
        </p:txBody>
      </p:sp>
      <p:grpSp>
        <p:nvGrpSpPr>
          <p:cNvPr id="40" name="Group 6">
            <a:extLst>
              <a:ext uri="{FF2B5EF4-FFF2-40B4-BE49-F238E27FC236}">
                <a16:creationId xmlns:a16="http://schemas.microsoft.com/office/drawing/2014/main" id="{AE01DC7B-82B9-270B-B69C-B2608B545F32}"/>
              </a:ext>
            </a:extLst>
          </p:cNvPr>
          <p:cNvGrpSpPr/>
          <p:nvPr/>
        </p:nvGrpSpPr>
        <p:grpSpPr>
          <a:xfrm>
            <a:off x="6721363" y="-15257"/>
            <a:ext cx="11462440" cy="1800525"/>
            <a:chOff x="-52141" y="-38100"/>
            <a:chExt cx="4503603" cy="944153"/>
          </a:xfrm>
        </p:grpSpPr>
        <p:sp>
          <p:nvSpPr>
            <p:cNvPr id="41" name="Freeform 7">
              <a:extLst>
                <a:ext uri="{FF2B5EF4-FFF2-40B4-BE49-F238E27FC236}">
                  <a16:creationId xmlns:a16="http://schemas.microsoft.com/office/drawing/2014/main" id="{201E9842-804A-C64E-85BA-5F02F60B9B1F}"/>
                </a:ext>
              </a:extLst>
            </p:cNvPr>
            <p:cNvSpPr/>
            <p:nvPr/>
          </p:nvSpPr>
          <p:spPr>
            <a:xfrm>
              <a:off x="-52141" y="161772"/>
              <a:ext cx="4503603" cy="744281"/>
            </a:xfrm>
            <a:custGeom>
              <a:avLst/>
              <a:gdLst/>
              <a:ahLst/>
              <a:cxnLst/>
              <a:rect l="l" t="t" r="r" b="b"/>
              <a:pathLst>
                <a:path w="4051749" h="698500">
                  <a:moveTo>
                    <a:pt x="4051749" y="349250"/>
                  </a:moveTo>
                  <a:lnTo>
                    <a:pt x="3848549" y="698500"/>
                  </a:lnTo>
                  <a:lnTo>
                    <a:pt x="203200" y="698500"/>
                  </a:lnTo>
                  <a:lnTo>
                    <a:pt x="0" y="349250"/>
                  </a:lnTo>
                  <a:lnTo>
                    <a:pt x="203200" y="0"/>
                  </a:lnTo>
                  <a:lnTo>
                    <a:pt x="3848549" y="0"/>
                  </a:lnTo>
                  <a:lnTo>
                    <a:pt x="4051749" y="349250"/>
                  </a:lnTo>
                  <a:close/>
                </a:path>
              </a:pathLst>
            </a:custGeom>
            <a:solidFill>
              <a:srgbClr val="10347A"/>
            </a:solidFill>
          </p:spPr>
          <p:txBody>
            <a:bodyPr/>
            <a:lstStyle/>
            <a:p>
              <a:pPr>
                <a:lnSpc>
                  <a:spcPct val="150000"/>
                </a:lnSpc>
              </a:pPr>
              <a:r>
                <a:rPr lang="en-US" sz="3200" b="1" dirty="0">
                  <a:solidFill>
                    <a:schemeClr val="bg1"/>
                  </a:solidFill>
                </a:rPr>
                <a:t>        Sales analysis – </a:t>
              </a:r>
              <a:r>
                <a:rPr lang="en-US" sz="4000" b="1" dirty="0">
                  <a:solidFill>
                    <a:schemeClr val="tx2">
                      <a:lumMod val="60000"/>
                      <a:lumOff val="40000"/>
                    </a:schemeClr>
                  </a:solidFill>
                </a:rPr>
                <a:t>Customers</a:t>
              </a:r>
              <a:r>
                <a:rPr lang="en-US" sz="3200" b="1" dirty="0">
                  <a:solidFill>
                    <a:schemeClr val="bg1"/>
                  </a:solidFill>
                </a:rPr>
                <a:t> insights</a:t>
              </a:r>
            </a:p>
          </p:txBody>
        </p:sp>
        <p:sp>
          <p:nvSpPr>
            <p:cNvPr id="42" name="TextBox 8">
              <a:extLst>
                <a:ext uri="{FF2B5EF4-FFF2-40B4-BE49-F238E27FC236}">
                  <a16:creationId xmlns:a16="http://schemas.microsoft.com/office/drawing/2014/main" id="{07F9D8F7-49C2-60E2-DA08-31F54927D63F}"/>
                </a:ext>
              </a:extLst>
            </p:cNvPr>
            <p:cNvSpPr txBox="1"/>
            <p:nvPr/>
          </p:nvSpPr>
          <p:spPr>
            <a:xfrm>
              <a:off x="114300" y="-38100"/>
              <a:ext cx="3823149" cy="7366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45" name="Group 6">
            <a:extLst>
              <a:ext uri="{FF2B5EF4-FFF2-40B4-BE49-F238E27FC236}">
                <a16:creationId xmlns:a16="http://schemas.microsoft.com/office/drawing/2014/main" id="{85AFDAF2-DC91-A538-D701-C1D415259141}"/>
              </a:ext>
            </a:extLst>
          </p:cNvPr>
          <p:cNvGrpSpPr/>
          <p:nvPr/>
        </p:nvGrpSpPr>
        <p:grpSpPr>
          <a:xfrm>
            <a:off x="9635985" y="5564937"/>
            <a:ext cx="7268064" cy="647715"/>
            <a:chOff x="0" y="0"/>
            <a:chExt cx="7469591" cy="698500"/>
          </a:xfrm>
        </p:grpSpPr>
        <p:sp>
          <p:nvSpPr>
            <p:cNvPr id="46" name="Freeform 7">
              <a:extLst>
                <a:ext uri="{FF2B5EF4-FFF2-40B4-BE49-F238E27FC236}">
                  <a16:creationId xmlns:a16="http://schemas.microsoft.com/office/drawing/2014/main" id="{95923F92-5030-0B59-A3CF-CFF20CD36341}"/>
                </a:ext>
              </a:extLst>
            </p:cNvPr>
            <p:cNvSpPr/>
            <p:nvPr/>
          </p:nvSpPr>
          <p:spPr>
            <a:xfrm>
              <a:off x="0" y="0"/>
              <a:ext cx="7469591" cy="698500"/>
            </a:xfrm>
            <a:custGeom>
              <a:avLst/>
              <a:gdLst/>
              <a:ahLst/>
              <a:cxnLst/>
              <a:rect l="l" t="t" r="r" b="b"/>
              <a:pathLst>
                <a:path w="7469591" h="698500">
                  <a:moveTo>
                    <a:pt x="7469591" y="349250"/>
                  </a:moveTo>
                  <a:lnTo>
                    <a:pt x="7266391" y="698500"/>
                  </a:lnTo>
                  <a:lnTo>
                    <a:pt x="203200" y="698500"/>
                  </a:lnTo>
                  <a:lnTo>
                    <a:pt x="0" y="349250"/>
                  </a:lnTo>
                  <a:lnTo>
                    <a:pt x="203200" y="0"/>
                  </a:lnTo>
                  <a:lnTo>
                    <a:pt x="7266391" y="0"/>
                  </a:lnTo>
                  <a:lnTo>
                    <a:pt x="7469591" y="349250"/>
                  </a:lnTo>
                  <a:close/>
                </a:path>
              </a:pathLst>
            </a:custGeom>
            <a:solidFill>
              <a:srgbClr val="10347A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7" name="TextBox 8">
              <a:extLst>
                <a:ext uri="{FF2B5EF4-FFF2-40B4-BE49-F238E27FC236}">
                  <a16:creationId xmlns:a16="http://schemas.microsoft.com/office/drawing/2014/main" id="{EC87D735-F38C-9475-E3AC-2CC5D6B2AB83}"/>
                </a:ext>
              </a:extLst>
            </p:cNvPr>
            <p:cNvSpPr txBox="1"/>
            <p:nvPr/>
          </p:nvSpPr>
          <p:spPr>
            <a:xfrm>
              <a:off x="114300" y="-38100"/>
              <a:ext cx="7240991" cy="7366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48" name="TextBox 39">
            <a:extLst>
              <a:ext uri="{FF2B5EF4-FFF2-40B4-BE49-F238E27FC236}">
                <a16:creationId xmlns:a16="http://schemas.microsoft.com/office/drawing/2014/main" id="{24D642BA-9338-1A15-52D1-AFC9C1BF293E}"/>
              </a:ext>
            </a:extLst>
          </p:cNvPr>
          <p:cNvSpPr txBox="1"/>
          <p:nvPr/>
        </p:nvSpPr>
        <p:spPr>
          <a:xfrm>
            <a:off x="9812425" y="5738580"/>
            <a:ext cx="6915184" cy="3751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3120"/>
              </a:lnSpc>
            </a:pPr>
            <a:r>
              <a:rPr lang="en-US" sz="2400" b="1" dirty="0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Customer per segment</a:t>
            </a:r>
          </a:p>
        </p:txBody>
      </p:sp>
      <p:sp>
        <p:nvSpPr>
          <p:cNvPr id="49" name="TextBox 39">
            <a:extLst>
              <a:ext uri="{FF2B5EF4-FFF2-40B4-BE49-F238E27FC236}">
                <a16:creationId xmlns:a16="http://schemas.microsoft.com/office/drawing/2014/main" id="{65A9ADCB-78D2-D774-1159-63154E917652}"/>
              </a:ext>
            </a:extLst>
          </p:cNvPr>
          <p:cNvSpPr txBox="1"/>
          <p:nvPr/>
        </p:nvSpPr>
        <p:spPr>
          <a:xfrm>
            <a:off x="10338455" y="6208277"/>
            <a:ext cx="6915184" cy="3751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3120"/>
              </a:lnSpc>
            </a:pPr>
            <a:r>
              <a:rPr lang="en-US" sz="2400" b="1" dirty="0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Average shipping time per shape mode</a:t>
            </a:r>
          </a:p>
        </p:txBody>
      </p:sp>
      <p:grpSp>
        <p:nvGrpSpPr>
          <p:cNvPr id="12" name="Group 25">
            <a:extLst>
              <a:ext uri="{FF2B5EF4-FFF2-40B4-BE49-F238E27FC236}">
                <a16:creationId xmlns:a16="http://schemas.microsoft.com/office/drawing/2014/main" id="{9B9B50E0-32F1-EEC4-A911-A1FFD9A6057F}"/>
              </a:ext>
            </a:extLst>
          </p:cNvPr>
          <p:cNvGrpSpPr/>
          <p:nvPr/>
        </p:nvGrpSpPr>
        <p:grpSpPr>
          <a:xfrm>
            <a:off x="-2867122" y="-15258"/>
            <a:ext cx="10211855" cy="8802841"/>
            <a:chOff x="0" y="0"/>
            <a:chExt cx="812800" cy="698500"/>
          </a:xfrm>
        </p:grpSpPr>
        <p:sp>
          <p:nvSpPr>
            <p:cNvPr id="13" name="Freeform 26">
              <a:extLst>
                <a:ext uri="{FF2B5EF4-FFF2-40B4-BE49-F238E27FC236}">
                  <a16:creationId xmlns:a16="http://schemas.microsoft.com/office/drawing/2014/main" id="{81D8B61E-FBCE-4C6E-2676-2B6C1E0DAD79}"/>
                </a:ext>
              </a:extLst>
            </p:cNvPr>
            <p:cNvSpPr/>
            <p:nvPr/>
          </p:nvSpPr>
          <p:spPr>
            <a:xfrm>
              <a:off x="0" y="0"/>
              <a:ext cx="812800" cy="698500"/>
            </a:xfrm>
            <a:custGeom>
              <a:avLst/>
              <a:gdLst/>
              <a:ahLst/>
              <a:cxnLst/>
              <a:rect l="l" t="t" r="r" b="b"/>
              <a:pathLst>
                <a:path w="812800" h="698500">
                  <a:moveTo>
                    <a:pt x="812800" y="349250"/>
                  </a:moveTo>
                  <a:lnTo>
                    <a:pt x="609600" y="698500"/>
                  </a:lnTo>
                  <a:lnTo>
                    <a:pt x="203200" y="698500"/>
                  </a:lnTo>
                  <a:lnTo>
                    <a:pt x="0" y="349250"/>
                  </a:lnTo>
                  <a:lnTo>
                    <a:pt x="203200" y="0"/>
                  </a:lnTo>
                  <a:lnTo>
                    <a:pt x="609600" y="0"/>
                  </a:lnTo>
                  <a:lnTo>
                    <a:pt x="812800" y="349250"/>
                  </a:lnTo>
                  <a:close/>
                </a:path>
              </a:pathLst>
            </a:custGeom>
            <a:blipFill>
              <a:blip r:embed="rId5"/>
              <a:stretch>
                <a:fillRect l="-31202"/>
              </a:stretch>
            </a:blipFill>
            <a:ln w="123825" cap="sq">
              <a:gradFill>
                <a:gsLst>
                  <a:gs pos="0">
                    <a:srgbClr val="00060D">
                      <a:alpha val="100000"/>
                    </a:srgbClr>
                  </a:gs>
                  <a:gs pos="100000">
                    <a:srgbClr val="092C71">
                      <a:alpha val="0"/>
                    </a:srgbClr>
                  </a:gs>
                </a:gsLst>
                <a:lin ang="0"/>
              </a:gra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7807582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1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1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CB1662-4EC2-1E95-438B-85CA7D9827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4">
            <a:extLst>
              <a:ext uri="{FF2B5EF4-FFF2-40B4-BE49-F238E27FC236}">
                <a16:creationId xmlns:a16="http://schemas.microsoft.com/office/drawing/2014/main" id="{31BAE3C3-AC9F-0E09-44FB-BB62AAF420A5}"/>
              </a:ext>
            </a:extLst>
          </p:cNvPr>
          <p:cNvSpPr txBox="1"/>
          <p:nvPr/>
        </p:nvSpPr>
        <p:spPr>
          <a:xfrm>
            <a:off x="457200" y="1519033"/>
            <a:ext cx="6781800" cy="46166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spcBef>
                <a:spcPct val="0"/>
              </a:spcBef>
            </a:pPr>
            <a:r>
              <a:rPr lang="en-US" sz="3000" b="1" dirty="0">
                <a:solidFill>
                  <a:srgbClr val="10347A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SQL </a:t>
            </a:r>
          </a:p>
        </p:txBody>
      </p:sp>
      <p:grpSp>
        <p:nvGrpSpPr>
          <p:cNvPr id="6" name="Group 6">
            <a:extLst>
              <a:ext uri="{FF2B5EF4-FFF2-40B4-BE49-F238E27FC236}">
                <a16:creationId xmlns:a16="http://schemas.microsoft.com/office/drawing/2014/main" id="{A50C5859-59FF-E7E0-77A7-93FCE1910890}"/>
              </a:ext>
            </a:extLst>
          </p:cNvPr>
          <p:cNvGrpSpPr/>
          <p:nvPr/>
        </p:nvGrpSpPr>
        <p:grpSpPr>
          <a:xfrm>
            <a:off x="2133599" y="416194"/>
            <a:ext cx="12622245" cy="806030"/>
            <a:chOff x="0" y="0"/>
            <a:chExt cx="4051749" cy="698500"/>
          </a:xfrm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615008FC-3D1D-E064-47C0-67D5B038B8A7}"/>
                </a:ext>
              </a:extLst>
            </p:cNvPr>
            <p:cNvSpPr/>
            <p:nvPr/>
          </p:nvSpPr>
          <p:spPr>
            <a:xfrm>
              <a:off x="0" y="0"/>
              <a:ext cx="4051749" cy="698500"/>
            </a:xfrm>
            <a:custGeom>
              <a:avLst/>
              <a:gdLst/>
              <a:ahLst/>
              <a:cxnLst/>
              <a:rect l="l" t="t" r="r" b="b"/>
              <a:pathLst>
                <a:path w="4051749" h="698500">
                  <a:moveTo>
                    <a:pt x="4051749" y="349250"/>
                  </a:moveTo>
                  <a:lnTo>
                    <a:pt x="3848549" y="698500"/>
                  </a:lnTo>
                  <a:lnTo>
                    <a:pt x="203200" y="698500"/>
                  </a:lnTo>
                  <a:lnTo>
                    <a:pt x="0" y="349250"/>
                  </a:lnTo>
                  <a:lnTo>
                    <a:pt x="203200" y="0"/>
                  </a:lnTo>
                  <a:lnTo>
                    <a:pt x="3848549" y="0"/>
                  </a:lnTo>
                  <a:lnTo>
                    <a:pt x="4051749" y="349250"/>
                  </a:lnTo>
                  <a:close/>
                </a:path>
              </a:pathLst>
            </a:custGeom>
            <a:solidFill>
              <a:srgbClr val="10347A"/>
            </a:solidFill>
          </p:spPr>
          <p:txBody>
            <a:bodyPr/>
            <a:lstStyle/>
            <a:p>
              <a:pPr algn="ctr"/>
              <a:endParaRPr lang="en-US" dirty="0"/>
            </a:p>
          </p:txBody>
        </p:sp>
        <p:sp>
          <p:nvSpPr>
            <p:cNvPr id="8" name="TextBox 8">
              <a:extLst>
                <a:ext uri="{FF2B5EF4-FFF2-40B4-BE49-F238E27FC236}">
                  <a16:creationId xmlns:a16="http://schemas.microsoft.com/office/drawing/2014/main" id="{E1536207-5E0F-6352-219F-172D5C415D95}"/>
                </a:ext>
              </a:extLst>
            </p:cNvPr>
            <p:cNvSpPr txBox="1"/>
            <p:nvPr/>
          </p:nvSpPr>
          <p:spPr>
            <a:xfrm>
              <a:off x="114300" y="-38100"/>
              <a:ext cx="3823149" cy="7366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4" name="Freeform 14">
            <a:extLst>
              <a:ext uri="{FF2B5EF4-FFF2-40B4-BE49-F238E27FC236}">
                <a16:creationId xmlns:a16="http://schemas.microsoft.com/office/drawing/2014/main" id="{2BAAB97B-C878-0EEB-6CA1-3F3EBB648754}"/>
              </a:ext>
            </a:extLst>
          </p:cNvPr>
          <p:cNvSpPr/>
          <p:nvPr/>
        </p:nvSpPr>
        <p:spPr>
          <a:xfrm>
            <a:off x="3688260" y="706182"/>
            <a:ext cx="328079" cy="328079"/>
          </a:xfrm>
          <a:custGeom>
            <a:avLst/>
            <a:gdLst/>
            <a:ahLst/>
            <a:cxnLst/>
            <a:rect l="l" t="t" r="r" b="b"/>
            <a:pathLst>
              <a:path w="328079" h="328079">
                <a:moveTo>
                  <a:pt x="0" y="0"/>
                </a:moveTo>
                <a:lnTo>
                  <a:pt x="328079" y="0"/>
                </a:lnTo>
                <a:lnTo>
                  <a:pt x="328079" y="328079"/>
                </a:lnTo>
                <a:lnTo>
                  <a:pt x="0" y="32807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6" name="TextBox 16">
            <a:extLst>
              <a:ext uri="{FF2B5EF4-FFF2-40B4-BE49-F238E27FC236}">
                <a16:creationId xmlns:a16="http://schemas.microsoft.com/office/drawing/2014/main" id="{600E58B5-265E-6648-B148-434576C10F7E}"/>
              </a:ext>
            </a:extLst>
          </p:cNvPr>
          <p:cNvSpPr txBox="1"/>
          <p:nvPr/>
        </p:nvSpPr>
        <p:spPr>
          <a:xfrm>
            <a:off x="4307252" y="609674"/>
            <a:ext cx="6360753" cy="40075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120"/>
              </a:lnSpc>
            </a:pPr>
            <a:r>
              <a:rPr lang="en-US" sz="3200" b="1" dirty="0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Data analysis screenshots -  sales</a:t>
            </a:r>
          </a:p>
        </p:txBody>
      </p:sp>
      <p:sp>
        <p:nvSpPr>
          <p:cNvPr id="21" name="TextBox 21">
            <a:extLst>
              <a:ext uri="{FF2B5EF4-FFF2-40B4-BE49-F238E27FC236}">
                <a16:creationId xmlns:a16="http://schemas.microsoft.com/office/drawing/2014/main" id="{65D03369-6D24-B9A2-2D0A-354070F40BB4}"/>
              </a:ext>
            </a:extLst>
          </p:cNvPr>
          <p:cNvSpPr txBox="1"/>
          <p:nvPr/>
        </p:nvSpPr>
        <p:spPr>
          <a:xfrm>
            <a:off x="1067996" y="6049700"/>
            <a:ext cx="7445358" cy="711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800"/>
              </a:lnSpc>
            </a:pPr>
            <a:r>
              <a:rPr lang="en-US" sz="2000" dirty="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Sales processes are inefficient, causing delays and missed opportunities, especially during peak demand.</a:t>
            </a:r>
          </a:p>
        </p:txBody>
      </p:sp>
      <p:sp>
        <p:nvSpPr>
          <p:cNvPr id="29" name="TextBox 29">
            <a:extLst>
              <a:ext uri="{FF2B5EF4-FFF2-40B4-BE49-F238E27FC236}">
                <a16:creationId xmlns:a16="http://schemas.microsoft.com/office/drawing/2014/main" id="{BAA86F9D-3FE3-6E50-FFB3-F34C91263845}"/>
              </a:ext>
            </a:extLst>
          </p:cNvPr>
          <p:cNvSpPr txBox="1"/>
          <p:nvPr/>
        </p:nvSpPr>
        <p:spPr>
          <a:xfrm>
            <a:off x="1496183" y="7549666"/>
            <a:ext cx="5387920" cy="3981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20"/>
              </a:lnSpc>
            </a:pPr>
            <a:r>
              <a:rPr lang="en-US" sz="2400" b="1" dirty="0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SHIFTS IN CONSUMER BEHAVIOR</a:t>
            </a:r>
          </a:p>
        </p:txBody>
      </p:sp>
      <p:grpSp>
        <p:nvGrpSpPr>
          <p:cNvPr id="30" name="Group 30">
            <a:extLst>
              <a:ext uri="{FF2B5EF4-FFF2-40B4-BE49-F238E27FC236}">
                <a16:creationId xmlns:a16="http://schemas.microsoft.com/office/drawing/2014/main" id="{D504F721-DC33-588E-F930-E551221D324A}"/>
              </a:ext>
            </a:extLst>
          </p:cNvPr>
          <p:cNvGrpSpPr/>
          <p:nvPr/>
        </p:nvGrpSpPr>
        <p:grpSpPr>
          <a:xfrm>
            <a:off x="0" y="10032423"/>
            <a:ext cx="18288000" cy="254577"/>
            <a:chOff x="0" y="0"/>
            <a:chExt cx="4816593" cy="67049"/>
          </a:xfrm>
        </p:grpSpPr>
        <p:sp>
          <p:nvSpPr>
            <p:cNvPr id="31" name="Freeform 31">
              <a:extLst>
                <a:ext uri="{FF2B5EF4-FFF2-40B4-BE49-F238E27FC236}">
                  <a16:creationId xmlns:a16="http://schemas.microsoft.com/office/drawing/2014/main" id="{C1F2C645-8B31-4E31-6BE7-313F40C1189F}"/>
                </a:ext>
              </a:extLst>
            </p:cNvPr>
            <p:cNvSpPr/>
            <p:nvPr/>
          </p:nvSpPr>
          <p:spPr>
            <a:xfrm>
              <a:off x="0" y="0"/>
              <a:ext cx="4816592" cy="67049"/>
            </a:xfrm>
            <a:custGeom>
              <a:avLst/>
              <a:gdLst/>
              <a:ahLst/>
              <a:cxnLst/>
              <a:rect l="l" t="t" r="r" b="b"/>
              <a:pathLst>
                <a:path w="4816592" h="67049">
                  <a:moveTo>
                    <a:pt x="0" y="0"/>
                  </a:moveTo>
                  <a:lnTo>
                    <a:pt x="4816592" y="0"/>
                  </a:lnTo>
                  <a:lnTo>
                    <a:pt x="4816592" y="67049"/>
                  </a:lnTo>
                  <a:lnTo>
                    <a:pt x="0" y="67049"/>
                  </a:lnTo>
                  <a:close/>
                </a:path>
              </a:pathLst>
            </a:custGeom>
            <a:gradFill rotWithShape="1">
              <a:gsLst>
                <a:gs pos="0">
                  <a:srgbClr val="002264">
                    <a:alpha val="100000"/>
                  </a:srgbClr>
                </a:gs>
                <a:gs pos="100000">
                  <a:srgbClr val="2D56A5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US"/>
            </a:p>
          </p:txBody>
        </p:sp>
        <p:sp>
          <p:nvSpPr>
            <p:cNvPr id="32" name="TextBox 32">
              <a:extLst>
                <a:ext uri="{FF2B5EF4-FFF2-40B4-BE49-F238E27FC236}">
                  <a16:creationId xmlns:a16="http://schemas.microsoft.com/office/drawing/2014/main" id="{2ABC8BDF-F6F3-4E26-FC84-D988135345F6}"/>
                </a:ext>
              </a:extLst>
            </p:cNvPr>
            <p:cNvSpPr txBox="1"/>
            <p:nvPr/>
          </p:nvSpPr>
          <p:spPr>
            <a:xfrm>
              <a:off x="0" y="-38100"/>
              <a:ext cx="4816593" cy="10514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33" name="Group 33">
            <a:extLst>
              <a:ext uri="{FF2B5EF4-FFF2-40B4-BE49-F238E27FC236}">
                <a16:creationId xmlns:a16="http://schemas.microsoft.com/office/drawing/2014/main" id="{F468F0F4-B290-BD70-6FE9-872563FA1074}"/>
              </a:ext>
            </a:extLst>
          </p:cNvPr>
          <p:cNvGrpSpPr/>
          <p:nvPr/>
        </p:nvGrpSpPr>
        <p:grpSpPr>
          <a:xfrm>
            <a:off x="0" y="0"/>
            <a:ext cx="18288000" cy="254577"/>
            <a:chOff x="0" y="0"/>
            <a:chExt cx="4816593" cy="67049"/>
          </a:xfrm>
        </p:grpSpPr>
        <p:sp>
          <p:nvSpPr>
            <p:cNvPr id="34" name="Freeform 34">
              <a:extLst>
                <a:ext uri="{FF2B5EF4-FFF2-40B4-BE49-F238E27FC236}">
                  <a16:creationId xmlns:a16="http://schemas.microsoft.com/office/drawing/2014/main" id="{DF5E504F-3599-A6FE-D0BB-9D33B872AC9E}"/>
                </a:ext>
              </a:extLst>
            </p:cNvPr>
            <p:cNvSpPr/>
            <p:nvPr/>
          </p:nvSpPr>
          <p:spPr>
            <a:xfrm>
              <a:off x="0" y="0"/>
              <a:ext cx="4816592" cy="67049"/>
            </a:xfrm>
            <a:custGeom>
              <a:avLst/>
              <a:gdLst/>
              <a:ahLst/>
              <a:cxnLst/>
              <a:rect l="l" t="t" r="r" b="b"/>
              <a:pathLst>
                <a:path w="4816592" h="67049">
                  <a:moveTo>
                    <a:pt x="0" y="0"/>
                  </a:moveTo>
                  <a:lnTo>
                    <a:pt x="4816592" y="0"/>
                  </a:lnTo>
                  <a:lnTo>
                    <a:pt x="4816592" y="67049"/>
                  </a:lnTo>
                  <a:lnTo>
                    <a:pt x="0" y="67049"/>
                  </a:lnTo>
                  <a:close/>
                </a:path>
              </a:pathLst>
            </a:custGeom>
            <a:gradFill rotWithShape="1">
              <a:gsLst>
                <a:gs pos="0">
                  <a:srgbClr val="002264">
                    <a:alpha val="100000"/>
                  </a:srgbClr>
                </a:gs>
                <a:gs pos="100000">
                  <a:srgbClr val="2D56A5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US"/>
            </a:p>
          </p:txBody>
        </p:sp>
        <p:sp>
          <p:nvSpPr>
            <p:cNvPr id="35" name="TextBox 35">
              <a:extLst>
                <a:ext uri="{FF2B5EF4-FFF2-40B4-BE49-F238E27FC236}">
                  <a16:creationId xmlns:a16="http://schemas.microsoft.com/office/drawing/2014/main" id="{1B362B87-BD79-716D-E4C4-BA2E5DCFAD5E}"/>
                </a:ext>
              </a:extLst>
            </p:cNvPr>
            <p:cNvSpPr txBox="1"/>
            <p:nvPr/>
          </p:nvSpPr>
          <p:spPr>
            <a:xfrm>
              <a:off x="0" y="-38100"/>
              <a:ext cx="4816593" cy="10514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36" name="Group 36">
            <a:extLst>
              <a:ext uri="{FF2B5EF4-FFF2-40B4-BE49-F238E27FC236}">
                <a16:creationId xmlns:a16="http://schemas.microsoft.com/office/drawing/2014/main" id="{67081624-2139-61BB-C1AC-EB44D5214A6D}"/>
              </a:ext>
            </a:extLst>
          </p:cNvPr>
          <p:cNvGrpSpPr/>
          <p:nvPr/>
        </p:nvGrpSpPr>
        <p:grpSpPr>
          <a:xfrm>
            <a:off x="12805410" y="9437029"/>
            <a:ext cx="8200805" cy="1699941"/>
            <a:chOff x="0" y="0"/>
            <a:chExt cx="3369683" cy="698500"/>
          </a:xfrm>
        </p:grpSpPr>
        <p:sp>
          <p:nvSpPr>
            <p:cNvPr id="37" name="Freeform 37">
              <a:extLst>
                <a:ext uri="{FF2B5EF4-FFF2-40B4-BE49-F238E27FC236}">
                  <a16:creationId xmlns:a16="http://schemas.microsoft.com/office/drawing/2014/main" id="{8F8184B1-2387-0836-99AE-6382B109F382}"/>
                </a:ext>
              </a:extLst>
            </p:cNvPr>
            <p:cNvSpPr/>
            <p:nvPr/>
          </p:nvSpPr>
          <p:spPr>
            <a:xfrm>
              <a:off x="0" y="0"/>
              <a:ext cx="3369683" cy="698500"/>
            </a:xfrm>
            <a:custGeom>
              <a:avLst/>
              <a:gdLst/>
              <a:ahLst/>
              <a:cxnLst/>
              <a:rect l="l" t="t" r="r" b="b"/>
              <a:pathLst>
                <a:path w="3369683" h="698500">
                  <a:moveTo>
                    <a:pt x="3369683" y="349250"/>
                  </a:moveTo>
                  <a:lnTo>
                    <a:pt x="3166483" y="698500"/>
                  </a:lnTo>
                  <a:lnTo>
                    <a:pt x="203200" y="698500"/>
                  </a:lnTo>
                  <a:lnTo>
                    <a:pt x="0" y="349250"/>
                  </a:lnTo>
                  <a:lnTo>
                    <a:pt x="203200" y="0"/>
                  </a:lnTo>
                  <a:lnTo>
                    <a:pt x="3166483" y="0"/>
                  </a:lnTo>
                  <a:lnTo>
                    <a:pt x="3369683" y="349250"/>
                  </a:lnTo>
                  <a:close/>
                </a:path>
              </a:pathLst>
            </a:custGeom>
            <a:gradFill rotWithShape="1">
              <a:gsLst>
                <a:gs pos="0">
                  <a:srgbClr val="002264">
                    <a:alpha val="100000"/>
                  </a:srgbClr>
                </a:gs>
                <a:gs pos="100000">
                  <a:srgbClr val="2D56A5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US"/>
            </a:p>
          </p:txBody>
        </p:sp>
        <p:sp>
          <p:nvSpPr>
            <p:cNvPr id="38" name="TextBox 38">
              <a:extLst>
                <a:ext uri="{FF2B5EF4-FFF2-40B4-BE49-F238E27FC236}">
                  <a16:creationId xmlns:a16="http://schemas.microsoft.com/office/drawing/2014/main" id="{6BEAF91E-CFEA-E126-66F9-BBDD4621A2BA}"/>
                </a:ext>
              </a:extLst>
            </p:cNvPr>
            <p:cNvSpPr txBox="1"/>
            <p:nvPr/>
          </p:nvSpPr>
          <p:spPr>
            <a:xfrm>
              <a:off x="114300" y="-38100"/>
              <a:ext cx="3141083" cy="7366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39" name="Freeform 39">
            <a:extLst>
              <a:ext uri="{FF2B5EF4-FFF2-40B4-BE49-F238E27FC236}">
                <a16:creationId xmlns:a16="http://schemas.microsoft.com/office/drawing/2014/main" id="{09129366-55DB-8D79-2D9A-F54A2021880A}"/>
              </a:ext>
            </a:extLst>
          </p:cNvPr>
          <p:cNvSpPr/>
          <p:nvPr/>
        </p:nvSpPr>
        <p:spPr>
          <a:xfrm>
            <a:off x="10514468" y="9258300"/>
            <a:ext cx="764904" cy="406407"/>
          </a:xfrm>
          <a:custGeom>
            <a:avLst/>
            <a:gdLst/>
            <a:ahLst/>
            <a:cxnLst/>
            <a:rect l="l" t="t" r="r" b="b"/>
            <a:pathLst>
              <a:path w="764904" h="406407">
                <a:moveTo>
                  <a:pt x="0" y="0"/>
                </a:moveTo>
                <a:lnTo>
                  <a:pt x="764904" y="0"/>
                </a:lnTo>
                <a:lnTo>
                  <a:pt x="764904" y="406407"/>
                </a:lnTo>
                <a:lnTo>
                  <a:pt x="0" y="40640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r="-111469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0" name="Freeform 40">
            <a:extLst>
              <a:ext uri="{FF2B5EF4-FFF2-40B4-BE49-F238E27FC236}">
                <a16:creationId xmlns:a16="http://schemas.microsoft.com/office/drawing/2014/main" id="{B3218F70-A712-3F74-4C20-5D68D6A32E22}"/>
              </a:ext>
            </a:extLst>
          </p:cNvPr>
          <p:cNvSpPr/>
          <p:nvPr/>
        </p:nvSpPr>
        <p:spPr>
          <a:xfrm>
            <a:off x="16494396" y="788244"/>
            <a:ext cx="764904" cy="406407"/>
          </a:xfrm>
          <a:custGeom>
            <a:avLst/>
            <a:gdLst/>
            <a:ahLst/>
            <a:cxnLst/>
            <a:rect l="l" t="t" r="r" b="b"/>
            <a:pathLst>
              <a:path w="764904" h="406407">
                <a:moveTo>
                  <a:pt x="0" y="0"/>
                </a:moveTo>
                <a:lnTo>
                  <a:pt x="764904" y="0"/>
                </a:lnTo>
                <a:lnTo>
                  <a:pt x="764904" y="406406"/>
                </a:lnTo>
                <a:lnTo>
                  <a:pt x="0" y="40640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r="-111469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4" name="TextBox 4">
            <a:extLst>
              <a:ext uri="{FF2B5EF4-FFF2-40B4-BE49-F238E27FC236}">
                <a16:creationId xmlns:a16="http://schemas.microsoft.com/office/drawing/2014/main" id="{CFC10B26-BAA9-1EA5-6042-2FCE4D90AC9C}"/>
              </a:ext>
            </a:extLst>
          </p:cNvPr>
          <p:cNvSpPr txBox="1"/>
          <p:nvPr/>
        </p:nvSpPr>
        <p:spPr>
          <a:xfrm>
            <a:off x="7658102" y="1672957"/>
            <a:ext cx="6781800" cy="46166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spcBef>
                <a:spcPct val="0"/>
              </a:spcBef>
            </a:pPr>
            <a:r>
              <a:rPr lang="en-US" sz="3000" b="1" dirty="0">
                <a:solidFill>
                  <a:srgbClr val="10347A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Python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9E728E6-381B-DAF6-C723-70842557102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43158" y="2314269"/>
            <a:ext cx="3678555" cy="2511368"/>
          </a:xfrm>
          <a:prstGeom prst="rect">
            <a:avLst/>
          </a:prstGeom>
          <a:ln>
            <a:solidFill>
              <a:schemeClr val="tx2">
                <a:lumMod val="50000"/>
              </a:schemeClr>
            </a:solidFill>
          </a:ln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0A6B1501-009A-6AFF-1531-5EDEEF84346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246068" y="2357677"/>
            <a:ext cx="3967717" cy="2467960"/>
          </a:xfrm>
          <a:prstGeom prst="rect">
            <a:avLst/>
          </a:prstGeom>
          <a:ln>
            <a:solidFill>
              <a:schemeClr val="tx2">
                <a:lumMod val="50000"/>
              </a:schemeClr>
            </a:solidFill>
          </a:ln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056FF599-BE7F-D906-2CFA-226B84485032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765729" y="2426401"/>
            <a:ext cx="4645471" cy="2399236"/>
          </a:xfrm>
          <a:prstGeom prst="rect">
            <a:avLst/>
          </a:prstGeom>
          <a:ln>
            <a:solidFill>
              <a:schemeClr val="tx2">
                <a:lumMod val="50000"/>
              </a:schemeClr>
            </a:solidFill>
          </a:ln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EA58FACC-DB40-A945-99E9-216A52AC8B84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3905864" y="2442843"/>
            <a:ext cx="4057143" cy="2382794"/>
          </a:xfrm>
          <a:prstGeom prst="rect">
            <a:avLst/>
          </a:prstGeom>
          <a:ln>
            <a:solidFill>
              <a:schemeClr val="tx2">
                <a:lumMod val="50000"/>
              </a:schemeClr>
            </a:solidFill>
          </a:ln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D4435FB9-AEB4-6B77-BC91-00262804AD56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38815" y="5676900"/>
            <a:ext cx="3549445" cy="2791597"/>
          </a:xfrm>
          <a:prstGeom prst="rect">
            <a:avLst/>
          </a:prstGeom>
          <a:ln>
            <a:solidFill>
              <a:schemeClr val="tx2">
                <a:lumMod val="50000"/>
              </a:schemeClr>
            </a:solidFill>
          </a:ln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A3242173-E37B-BE83-8057-F63FB8697C3B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107890" y="5676900"/>
            <a:ext cx="4079571" cy="2732675"/>
          </a:xfrm>
          <a:prstGeom prst="rect">
            <a:avLst/>
          </a:prstGeom>
          <a:ln>
            <a:solidFill>
              <a:schemeClr val="tx2">
                <a:lumMod val="50000"/>
              </a:schemeClr>
            </a:solidFill>
          </a:ln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52C58E3B-99ED-DD86-B863-E19BD992CD48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699744" y="5676900"/>
            <a:ext cx="5456669" cy="2755007"/>
          </a:xfrm>
          <a:prstGeom prst="rect">
            <a:avLst/>
          </a:prstGeom>
          <a:ln>
            <a:solidFill>
              <a:schemeClr val="tx2"/>
            </a:solidFill>
          </a:ln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D650D8B8-71F2-65FD-B5C1-E462A2CC9289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4439902" y="5676900"/>
            <a:ext cx="3620204" cy="2791597"/>
          </a:xfrm>
          <a:prstGeom prst="rect">
            <a:avLst/>
          </a:prstGeom>
          <a:ln>
            <a:solidFill>
              <a:schemeClr val="tx2"/>
            </a:solidFill>
          </a:ln>
        </p:spPr>
      </p:pic>
    </p:spTree>
    <p:extLst>
      <p:ext uri="{BB962C8B-B14F-4D97-AF65-F5344CB8AC3E}">
        <p14:creationId xmlns:p14="http://schemas.microsoft.com/office/powerpoint/2010/main" val="319356426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970AC4-79CE-42B4-039D-4087862791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4">
            <a:extLst>
              <a:ext uri="{FF2B5EF4-FFF2-40B4-BE49-F238E27FC236}">
                <a16:creationId xmlns:a16="http://schemas.microsoft.com/office/drawing/2014/main" id="{221072C1-1EC8-00FE-C491-9910846DD4BA}"/>
              </a:ext>
            </a:extLst>
          </p:cNvPr>
          <p:cNvSpPr txBox="1"/>
          <p:nvPr/>
        </p:nvSpPr>
        <p:spPr>
          <a:xfrm>
            <a:off x="457200" y="1519033"/>
            <a:ext cx="6781800" cy="46166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spcBef>
                <a:spcPct val="0"/>
              </a:spcBef>
            </a:pPr>
            <a:r>
              <a:rPr lang="en-US" sz="3000" b="1" dirty="0">
                <a:solidFill>
                  <a:srgbClr val="10347A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SQL </a:t>
            </a:r>
          </a:p>
        </p:txBody>
      </p:sp>
      <p:grpSp>
        <p:nvGrpSpPr>
          <p:cNvPr id="6" name="Group 6">
            <a:extLst>
              <a:ext uri="{FF2B5EF4-FFF2-40B4-BE49-F238E27FC236}">
                <a16:creationId xmlns:a16="http://schemas.microsoft.com/office/drawing/2014/main" id="{9107DCF6-B3F5-8744-0C6B-D27096FF0E38}"/>
              </a:ext>
            </a:extLst>
          </p:cNvPr>
          <p:cNvGrpSpPr/>
          <p:nvPr/>
        </p:nvGrpSpPr>
        <p:grpSpPr>
          <a:xfrm>
            <a:off x="2133599" y="416194"/>
            <a:ext cx="12622245" cy="806030"/>
            <a:chOff x="0" y="0"/>
            <a:chExt cx="4051749" cy="698500"/>
          </a:xfrm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906F59A1-2D54-A092-A1DB-36D5733B3EEF}"/>
                </a:ext>
              </a:extLst>
            </p:cNvPr>
            <p:cNvSpPr/>
            <p:nvPr/>
          </p:nvSpPr>
          <p:spPr>
            <a:xfrm>
              <a:off x="0" y="0"/>
              <a:ext cx="4051749" cy="698500"/>
            </a:xfrm>
            <a:custGeom>
              <a:avLst/>
              <a:gdLst/>
              <a:ahLst/>
              <a:cxnLst/>
              <a:rect l="l" t="t" r="r" b="b"/>
              <a:pathLst>
                <a:path w="4051749" h="698500">
                  <a:moveTo>
                    <a:pt x="4051749" y="349250"/>
                  </a:moveTo>
                  <a:lnTo>
                    <a:pt x="3848549" y="698500"/>
                  </a:lnTo>
                  <a:lnTo>
                    <a:pt x="203200" y="698500"/>
                  </a:lnTo>
                  <a:lnTo>
                    <a:pt x="0" y="349250"/>
                  </a:lnTo>
                  <a:lnTo>
                    <a:pt x="203200" y="0"/>
                  </a:lnTo>
                  <a:lnTo>
                    <a:pt x="3848549" y="0"/>
                  </a:lnTo>
                  <a:lnTo>
                    <a:pt x="4051749" y="349250"/>
                  </a:lnTo>
                  <a:close/>
                </a:path>
              </a:pathLst>
            </a:custGeom>
            <a:solidFill>
              <a:srgbClr val="10347A"/>
            </a:solidFill>
          </p:spPr>
          <p:txBody>
            <a:bodyPr/>
            <a:lstStyle/>
            <a:p>
              <a:pPr algn="ctr"/>
              <a:endParaRPr lang="en-US" dirty="0"/>
            </a:p>
          </p:txBody>
        </p:sp>
        <p:sp>
          <p:nvSpPr>
            <p:cNvPr id="8" name="TextBox 8">
              <a:extLst>
                <a:ext uri="{FF2B5EF4-FFF2-40B4-BE49-F238E27FC236}">
                  <a16:creationId xmlns:a16="http://schemas.microsoft.com/office/drawing/2014/main" id="{4AF3623A-1A45-8C91-CB5D-40B68C4011D9}"/>
                </a:ext>
              </a:extLst>
            </p:cNvPr>
            <p:cNvSpPr txBox="1"/>
            <p:nvPr/>
          </p:nvSpPr>
          <p:spPr>
            <a:xfrm>
              <a:off x="114300" y="-38100"/>
              <a:ext cx="3823149" cy="7366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4" name="Freeform 14">
            <a:extLst>
              <a:ext uri="{FF2B5EF4-FFF2-40B4-BE49-F238E27FC236}">
                <a16:creationId xmlns:a16="http://schemas.microsoft.com/office/drawing/2014/main" id="{8D018388-557E-963F-5285-8758863C522D}"/>
              </a:ext>
            </a:extLst>
          </p:cNvPr>
          <p:cNvSpPr/>
          <p:nvPr/>
        </p:nvSpPr>
        <p:spPr>
          <a:xfrm>
            <a:off x="3688260" y="706182"/>
            <a:ext cx="328079" cy="328079"/>
          </a:xfrm>
          <a:custGeom>
            <a:avLst/>
            <a:gdLst/>
            <a:ahLst/>
            <a:cxnLst/>
            <a:rect l="l" t="t" r="r" b="b"/>
            <a:pathLst>
              <a:path w="328079" h="328079">
                <a:moveTo>
                  <a:pt x="0" y="0"/>
                </a:moveTo>
                <a:lnTo>
                  <a:pt x="328079" y="0"/>
                </a:lnTo>
                <a:lnTo>
                  <a:pt x="328079" y="328079"/>
                </a:lnTo>
                <a:lnTo>
                  <a:pt x="0" y="32807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6" name="TextBox 16">
            <a:extLst>
              <a:ext uri="{FF2B5EF4-FFF2-40B4-BE49-F238E27FC236}">
                <a16:creationId xmlns:a16="http://schemas.microsoft.com/office/drawing/2014/main" id="{3EBD525A-8F81-94F6-AEFC-F32E2B61FC30}"/>
              </a:ext>
            </a:extLst>
          </p:cNvPr>
          <p:cNvSpPr txBox="1"/>
          <p:nvPr/>
        </p:nvSpPr>
        <p:spPr>
          <a:xfrm>
            <a:off x="4307252" y="609674"/>
            <a:ext cx="8113348" cy="40075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120"/>
              </a:lnSpc>
            </a:pPr>
            <a:r>
              <a:rPr lang="en-US" sz="3200" b="1" dirty="0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Data analysis screenshots - Products</a:t>
            </a:r>
          </a:p>
        </p:txBody>
      </p:sp>
      <p:grpSp>
        <p:nvGrpSpPr>
          <p:cNvPr id="30" name="Group 30">
            <a:extLst>
              <a:ext uri="{FF2B5EF4-FFF2-40B4-BE49-F238E27FC236}">
                <a16:creationId xmlns:a16="http://schemas.microsoft.com/office/drawing/2014/main" id="{06E45293-C261-1704-4FFC-6F567DB1A674}"/>
              </a:ext>
            </a:extLst>
          </p:cNvPr>
          <p:cNvGrpSpPr/>
          <p:nvPr/>
        </p:nvGrpSpPr>
        <p:grpSpPr>
          <a:xfrm>
            <a:off x="0" y="10032423"/>
            <a:ext cx="18288000" cy="254577"/>
            <a:chOff x="0" y="0"/>
            <a:chExt cx="4816593" cy="67049"/>
          </a:xfrm>
        </p:grpSpPr>
        <p:sp>
          <p:nvSpPr>
            <p:cNvPr id="31" name="Freeform 31">
              <a:extLst>
                <a:ext uri="{FF2B5EF4-FFF2-40B4-BE49-F238E27FC236}">
                  <a16:creationId xmlns:a16="http://schemas.microsoft.com/office/drawing/2014/main" id="{751C314B-D760-5EE2-F48E-3F156E80D497}"/>
                </a:ext>
              </a:extLst>
            </p:cNvPr>
            <p:cNvSpPr/>
            <p:nvPr/>
          </p:nvSpPr>
          <p:spPr>
            <a:xfrm>
              <a:off x="0" y="0"/>
              <a:ext cx="4816592" cy="67049"/>
            </a:xfrm>
            <a:custGeom>
              <a:avLst/>
              <a:gdLst/>
              <a:ahLst/>
              <a:cxnLst/>
              <a:rect l="l" t="t" r="r" b="b"/>
              <a:pathLst>
                <a:path w="4816592" h="67049">
                  <a:moveTo>
                    <a:pt x="0" y="0"/>
                  </a:moveTo>
                  <a:lnTo>
                    <a:pt x="4816592" y="0"/>
                  </a:lnTo>
                  <a:lnTo>
                    <a:pt x="4816592" y="67049"/>
                  </a:lnTo>
                  <a:lnTo>
                    <a:pt x="0" y="67049"/>
                  </a:lnTo>
                  <a:close/>
                </a:path>
              </a:pathLst>
            </a:custGeom>
            <a:gradFill rotWithShape="1">
              <a:gsLst>
                <a:gs pos="0">
                  <a:srgbClr val="002264">
                    <a:alpha val="100000"/>
                  </a:srgbClr>
                </a:gs>
                <a:gs pos="100000">
                  <a:srgbClr val="2D56A5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US"/>
            </a:p>
          </p:txBody>
        </p:sp>
        <p:sp>
          <p:nvSpPr>
            <p:cNvPr id="32" name="TextBox 32">
              <a:extLst>
                <a:ext uri="{FF2B5EF4-FFF2-40B4-BE49-F238E27FC236}">
                  <a16:creationId xmlns:a16="http://schemas.microsoft.com/office/drawing/2014/main" id="{141FDEA1-3DCA-C814-70A8-403CF546C05F}"/>
                </a:ext>
              </a:extLst>
            </p:cNvPr>
            <p:cNvSpPr txBox="1"/>
            <p:nvPr/>
          </p:nvSpPr>
          <p:spPr>
            <a:xfrm>
              <a:off x="0" y="-38100"/>
              <a:ext cx="4816593" cy="10514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33" name="Group 33">
            <a:extLst>
              <a:ext uri="{FF2B5EF4-FFF2-40B4-BE49-F238E27FC236}">
                <a16:creationId xmlns:a16="http://schemas.microsoft.com/office/drawing/2014/main" id="{949C8983-77F9-A8B0-0C85-96A5BDEC053C}"/>
              </a:ext>
            </a:extLst>
          </p:cNvPr>
          <p:cNvGrpSpPr/>
          <p:nvPr/>
        </p:nvGrpSpPr>
        <p:grpSpPr>
          <a:xfrm>
            <a:off x="0" y="0"/>
            <a:ext cx="18288000" cy="254577"/>
            <a:chOff x="0" y="0"/>
            <a:chExt cx="4816593" cy="67049"/>
          </a:xfrm>
        </p:grpSpPr>
        <p:sp>
          <p:nvSpPr>
            <p:cNvPr id="34" name="Freeform 34">
              <a:extLst>
                <a:ext uri="{FF2B5EF4-FFF2-40B4-BE49-F238E27FC236}">
                  <a16:creationId xmlns:a16="http://schemas.microsoft.com/office/drawing/2014/main" id="{55B6CE35-BAFD-7ECD-437D-0B837CD96037}"/>
                </a:ext>
              </a:extLst>
            </p:cNvPr>
            <p:cNvSpPr/>
            <p:nvPr/>
          </p:nvSpPr>
          <p:spPr>
            <a:xfrm>
              <a:off x="0" y="0"/>
              <a:ext cx="4816592" cy="67049"/>
            </a:xfrm>
            <a:custGeom>
              <a:avLst/>
              <a:gdLst/>
              <a:ahLst/>
              <a:cxnLst/>
              <a:rect l="l" t="t" r="r" b="b"/>
              <a:pathLst>
                <a:path w="4816592" h="67049">
                  <a:moveTo>
                    <a:pt x="0" y="0"/>
                  </a:moveTo>
                  <a:lnTo>
                    <a:pt x="4816592" y="0"/>
                  </a:lnTo>
                  <a:lnTo>
                    <a:pt x="4816592" y="67049"/>
                  </a:lnTo>
                  <a:lnTo>
                    <a:pt x="0" y="67049"/>
                  </a:lnTo>
                  <a:close/>
                </a:path>
              </a:pathLst>
            </a:custGeom>
            <a:gradFill rotWithShape="1">
              <a:gsLst>
                <a:gs pos="0">
                  <a:srgbClr val="002264">
                    <a:alpha val="100000"/>
                  </a:srgbClr>
                </a:gs>
                <a:gs pos="100000">
                  <a:srgbClr val="2D56A5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US"/>
            </a:p>
          </p:txBody>
        </p:sp>
        <p:sp>
          <p:nvSpPr>
            <p:cNvPr id="35" name="TextBox 35">
              <a:extLst>
                <a:ext uri="{FF2B5EF4-FFF2-40B4-BE49-F238E27FC236}">
                  <a16:creationId xmlns:a16="http://schemas.microsoft.com/office/drawing/2014/main" id="{84D2EBE8-2422-3210-15B0-9F3F20A1A7D0}"/>
                </a:ext>
              </a:extLst>
            </p:cNvPr>
            <p:cNvSpPr txBox="1"/>
            <p:nvPr/>
          </p:nvSpPr>
          <p:spPr>
            <a:xfrm>
              <a:off x="0" y="-38100"/>
              <a:ext cx="4816593" cy="10514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36" name="Group 36">
            <a:extLst>
              <a:ext uri="{FF2B5EF4-FFF2-40B4-BE49-F238E27FC236}">
                <a16:creationId xmlns:a16="http://schemas.microsoft.com/office/drawing/2014/main" id="{F0AC16D8-8974-93D4-FFC7-F57137AAC9A2}"/>
              </a:ext>
            </a:extLst>
          </p:cNvPr>
          <p:cNvGrpSpPr/>
          <p:nvPr/>
        </p:nvGrpSpPr>
        <p:grpSpPr>
          <a:xfrm>
            <a:off x="12805410" y="9437029"/>
            <a:ext cx="8200805" cy="1699941"/>
            <a:chOff x="0" y="0"/>
            <a:chExt cx="3369683" cy="698500"/>
          </a:xfrm>
        </p:grpSpPr>
        <p:sp>
          <p:nvSpPr>
            <p:cNvPr id="37" name="Freeform 37">
              <a:extLst>
                <a:ext uri="{FF2B5EF4-FFF2-40B4-BE49-F238E27FC236}">
                  <a16:creationId xmlns:a16="http://schemas.microsoft.com/office/drawing/2014/main" id="{44B373FC-A06F-0AFF-F853-95D84BBE39E5}"/>
                </a:ext>
              </a:extLst>
            </p:cNvPr>
            <p:cNvSpPr/>
            <p:nvPr/>
          </p:nvSpPr>
          <p:spPr>
            <a:xfrm>
              <a:off x="0" y="0"/>
              <a:ext cx="3369683" cy="698500"/>
            </a:xfrm>
            <a:custGeom>
              <a:avLst/>
              <a:gdLst/>
              <a:ahLst/>
              <a:cxnLst/>
              <a:rect l="l" t="t" r="r" b="b"/>
              <a:pathLst>
                <a:path w="3369683" h="698500">
                  <a:moveTo>
                    <a:pt x="3369683" y="349250"/>
                  </a:moveTo>
                  <a:lnTo>
                    <a:pt x="3166483" y="698500"/>
                  </a:lnTo>
                  <a:lnTo>
                    <a:pt x="203200" y="698500"/>
                  </a:lnTo>
                  <a:lnTo>
                    <a:pt x="0" y="349250"/>
                  </a:lnTo>
                  <a:lnTo>
                    <a:pt x="203200" y="0"/>
                  </a:lnTo>
                  <a:lnTo>
                    <a:pt x="3166483" y="0"/>
                  </a:lnTo>
                  <a:lnTo>
                    <a:pt x="3369683" y="349250"/>
                  </a:lnTo>
                  <a:close/>
                </a:path>
              </a:pathLst>
            </a:custGeom>
            <a:gradFill rotWithShape="1">
              <a:gsLst>
                <a:gs pos="0">
                  <a:srgbClr val="002264">
                    <a:alpha val="100000"/>
                  </a:srgbClr>
                </a:gs>
                <a:gs pos="100000">
                  <a:srgbClr val="2D56A5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US"/>
            </a:p>
          </p:txBody>
        </p:sp>
        <p:sp>
          <p:nvSpPr>
            <p:cNvPr id="38" name="TextBox 38">
              <a:extLst>
                <a:ext uri="{FF2B5EF4-FFF2-40B4-BE49-F238E27FC236}">
                  <a16:creationId xmlns:a16="http://schemas.microsoft.com/office/drawing/2014/main" id="{956A4CAE-52F5-76C8-71DA-186875EFD0E3}"/>
                </a:ext>
              </a:extLst>
            </p:cNvPr>
            <p:cNvSpPr txBox="1"/>
            <p:nvPr/>
          </p:nvSpPr>
          <p:spPr>
            <a:xfrm>
              <a:off x="114300" y="-38100"/>
              <a:ext cx="3141083" cy="7366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39" name="Freeform 39">
            <a:extLst>
              <a:ext uri="{FF2B5EF4-FFF2-40B4-BE49-F238E27FC236}">
                <a16:creationId xmlns:a16="http://schemas.microsoft.com/office/drawing/2014/main" id="{218CB31E-141B-80DE-319E-2CB55065149A}"/>
              </a:ext>
            </a:extLst>
          </p:cNvPr>
          <p:cNvSpPr/>
          <p:nvPr/>
        </p:nvSpPr>
        <p:spPr>
          <a:xfrm>
            <a:off x="10514468" y="9258300"/>
            <a:ext cx="764904" cy="406407"/>
          </a:xfrm>
          <a:custGeom>
            <a:avLst/>
            <a:gdLst/>
            <a:ahLst/>
            <a:cxnLst/>
            <a:rect l="l" t="t" r="r" b="b"/>
            <a:pathLst>
              <a:path w="764904" h="406407">
                <a:moveTo>
                  <a:pt x="0" y="0"/>
                </a:moveTo>
                <a:lnTo>
                  <a:pt x="764904" y="0"/>
                </a:lnTo>
                <a:lnTo>
                  <a:pt x="764904" y="406407"/>
                </a:lnTo>
                <a:lnTo>
                  <a:pt x="0" y="40640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r="-111469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0" name="Freeform 40">
            <a:extLst>
              <a:ext uri="{FF2B5EF4-FFF2-40B4-BE49-F238E27FC236}">
                <a16:creationId xmlns:a16="http://schemas.microsoft.com/office/drawing/2014/main" id="{D4C49D7A-8B77-B12B-B0D3-3D9A3B432FAB}"/>
              </a:ext>
            </a:extLst>
          </p:cNvPr>
          <p:cNvSpPr/>
          <p:nvPr/>
        </p:nvSpPr>
        <p:spPr>
          <a:xfrm>
            <a:off x="16494396" y="788244"/>
            <a:ext cx="764904" cy="406407"/>
          </a:xfrm>
          <a:custGeom>
            <a:avLst/>
            <a:gdLst/>
            <a:ahLst/>
            <a:cxnLst/>
            <a:rect l="l" t="t" r="r" b="b"/>
            <a:pathLst>
              <a:path w="764904" h="406407">
                <a:moveTo>
                  <a:pt x="0" y="0"/>
                </a:moveTo>
                <a:lnTo>
                  <a:pt x="764904" y="0"/>
                </a:lnTo>
                <a:lnTo>
                  <a:pt x="764904" y="406406"/>
                </a:lnTo>
                <a:lnTo>
                  <a:pt x="0" y="40640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r="-111469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4" name="TextBox 4">
            <a:extLst>
              <a:ext uri="{FF2B5EF4-FFF2-40B4-BE49-F238E27FC236}">
                <a16:creationId xmlns:a16="http://schemas.microsoft.com/office/drawing/2014/main" id="{045C1980-78B8-6313-73D6-BFE4BAD66F95}"/>
              </a:ext>
            </a:extLst>
          </p:cNvPr>
          <p:cNvSpPr txBox="1"/>
          <p:nvPr/>
        </p:nvSpPr>
        <p:spPr>
          <a:xfrm>
            <a:off x="10167938" y="1530857"/>
            <a:ext cx="6781800" cy="46166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spcBef>
                <a:spcPct val="0"/>
              </a:spcBef>
            </a:pPr>
            <a:r>
              <a:rPr lang="en-US" sz="3000" b="1" dirty="0">
                <a:solidFill>
                  <a:srgbClr val="10347A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Python 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37A0D3C-BFE5-2F64-D0CD-6C27C87418D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15334" y="2228563"/>
            <a:ext cx="3644303" cy="2686337"/>
          </a:xfrm>
          <a:prstGeom prst="rect">
            <a:avLst/>
          </a:prstGeom>
          <a:ln>
            <a:solidFill>
              <a:schemeClr val="tx2">
                <a:lumMod val="50000"/>
              </a:schemeClr>
            </a:solidFill>
          </a:ln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39E72501-B4C9-B209-4F23-AC90F9CA3D4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016339" y="2274882"/>
            <a:ext cx="3801005" cy="2640018"/>
          </a:xfrm>
          <a:prstGeom prst="rect">
            <a:avLst/>
          </a:prstGeom>
          <a:ln>
            <a:solidFill>
              <a:schemeClr val="tx2">
                <a:lumMod val="50000"/>
              </a:schemeClr>
            </a:solidFill>
          </a:ln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A1C72A66-B64F-8409-14FC-5CFBEBCF5E3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974044" y="2276376"/>
            <a:ext cx="4446555" cy="2638524"/>
          </a:xfrm>
          <a:prstGeom prst="rect">
            <a:avLst/>
          </a:prstGeom>
          <a:ln>
            <a:solidFill>
              <a:schemeClr val="tx2">
                <a:lumMod val="50000"/>
              </a:schemeClr>
            </a:solidFill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24016E5-07C1-B0E7-13B3-2104AE67898B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25214" y="5242275"/>
            <a:ext cx="3703858" cy="3101625"/>
          </a:xfrm>
          <a:prstGeom prst="rect">
            <a:avLst/>
          </a:prstGeom>
          <a:ln>
            <a:solidFill>
              <a:schemeClr val="tx2"/>
            </a:solidFill>
          </a:ln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B595C110-1B3D-B9EE-1C0D-CE35DFC2180E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172310" y="5249895"/>
            <a:ext cx="3439155" cy="3101625"/>
          </a:xfrm>
          <a:prstGeom prst="rect">
            <a:avLst/>
          </a:prstGeom>
          <a:ln>
            <a:solidFill>
              <a:schemeClr val="tx2"/>
            </a:solidFill>
          </a:ln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9456D253-F487-C901-C0AF-F08464515053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910162" y="5331019"/>
            <a:ext cx="4526344" cy="3025102"/>
          </a:xfrm>
          <a:prstGeom prst="rect">
            <a:avLst/>
          </a:prstGeom>
          <a:ln>
            <a:solidFill>
              <a:schemeClr val="tx2"/>
            </a:solidFill>
          </a:ln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BF06F50C-9CC7-83A7-84DA-7A017E974FD6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2679745" y="5313120"/>
            <a:ext cx="4269994" cy="3025102"/>
          </a:xfrm>
          <a:prstGeom prst="rect">
            <a:avLst/>
          </a:prstGeom>
          <a:ln>
            <a:solidFill>
              <a:schemeClr val="tx2"/>
            </a:solidFill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05E324A-B687-EC9F-712D-0BF75894AE9B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2679744" y="2328728"/>
            <a:ext cx="4269994" cy="2586172"/>
          </a:xfrm>
          <a:prstGeom prst="rect">
            <a:avLst/>
          </a:prstGeom>
          <a:ln>
            <a:solidFill>
              <a:schemeClr val="tx2"/>
            </a:solidFill>
          </a:ln>
        </p:spPr>
      </p:pic>
    </p:spTree>
    <p:extLst>
      <p:ext uri="{BB962C8B-B14F-4D97-AF65-F5344CB8AC3E}">
        <p14:creationId xmlns:p14="http://schemas.microsoft.com/office/powerpoint/2010/main" val="108420108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5B061B-0221-FEE1-4685-E0306BE9C7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4">
            <a:extLst>
              <a:ext uri="{FF2B5EF4-FFF2-40B4-BE49-F238E27FC236}">
                <a16:creationId xmlns:a16="http://schemas.microsoft.com/office/drawing/2014/main" id="{C87BA7B8-FBB0-3E61-B023-F2C5EACD5665}"/>
              </a:ext>
            </a:extLst>
          </p:cNvPr>
          <p:cNvSpPr txBox="1"/>
          <p:nvPr/>
        </p:nvSpPr>
        <p:spPr>
          <a:xfrm>
            <a:off x="457200" y="1519033"/>
            <a:ext cx="6781800" cy="46166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spcBef>
                <a:spcPct val="0"/>
              </a:spcBef>
            </a:pPr>
            <a:r>
              <a:rPr lang="en-US" sz="3000" b="1" dirty="0">
                <a:solidFill>
                  <a:srgbClr val="10347A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SQL </a:t>
            </a:r>
          </a:p>
        </p:txBody>
      </p:sp>
      <p:grpSp>
        <p:nvGrpSpPr>
          <p:cNvPr id="6" name="Group 6">
            <a:extLst>
              <a:ext uri="{FF2B5EF4-FFF2-40B4-BE49-F238E27FC236}">
                <a16:creationId xmlns:a16="http://schemas.microsoft.com/office/drawing/2014/main" id="{B75B926E-ABFA-5184-140F-4DC31350ABDC}"/>
              </a:ext>
            </a:extLst>
          </p:cNvPr>
          <p:cNvGrpSpPr/>
          <p:nvPr/>
        </p:nvGrpSpPr>
        <p:grpSpPr>
          <a:xfrm>
            <a:off x="76201" y="416194"/>
            <a:ext cx="16306800" cy="806030"/>
            <a:chOff x="0" y="0"/>
            <a:chExt cx="4051749" cy="698500"/>
          </a:xfrm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1D78F25F-6AD4-CD5F-16AE-E85C72AFB25B}"/>
                </a:ext>
              </a:extLst>
            </p:cNvPr>
            <p:cNvSpPr/>
            <p:nvPr/>
          </p:nvSpPr>
          <p:spPr>
            <a:xfrm>
              <a:off x="0" y="0"/>
              <a:ext cx="4051749" cy="698500"/>
            </a:xfrm>
            <a:custGeom>
              <a:avLst/>
              <a:gdLst/>
              <a:ahLst/>
              <a:cxnLst/>
              <a:rect l="l" t="t" r="r" b="b"/>
              <a:pathLst>
                <a:path w="4051749" h="698500">
                  <a:moveTo>
                    <a:pt x="4051749" y="349250"/>
                  </a:moveTo>
                  <a:lnTo>
                    <a:pt x="3848549" y="698500"/>
                  </a:lnTo>
                  <a:lnTo>
                    <a:pt x="203200" y="698500"/>
                  </a:lnTo>
                  <a:lnTo>
                    <a:pt x="0" y="349250"/>
                  </a:lnTo>
                  <a:lnTo>
                    <a:pt x="203200" y="0"/>
                  </a:lnTo>
                  <a:lnTo>
                    <a:pt x="3848549" y="0"/>
                  </a:lnTo>
                  <a:lnTo>
                    <a:pt x="4051749" y="349250"/>
                  </a:lnTo>
                  <a:close/>
                </a:path>
              </a:pathLst>
            </a:custGeom>
            <a:solidFill>
              <a:srgbClr val="10347A"/>
            </a:solidFill>
          </p:spPr>
          <p:txBody>
            <a:bodyPr/>
            <a:lstStyle/>
            <a:p>
              <a:pPr algn="ctr"/>
              <a:endParaRPr lang="en-US" dirty="0"/>
            </a:p>
          </p:txBody>
        </p:sp>
        <p:sp>
          <p:nvSpPr>
            <p:cNvPr id="8" name="TextBox 8">
              <a:extLst>
                <a:ext uri="{FF2B5EF4-FFF2-40B4-BE49-F238E27FC236}">
                  <a16:creationId xmlns:a16="http://schemas.microsoft.com/office/drawing/2014/main" id="{8FF70256-B55A-11F8-A982-7227AEC6801C}"/>
                </a:ext>
              </a:extLst>
            </p:cNvPr>
            <p:cNvSpPr txBox="1"/>
            <p:nvPr/>
          </p:nvSpPr>
          <p:spPr>
            <a:xfrm>
              <a:off x="114300" y="-38100"/>
              <a:ext cx="3823149" cy="7366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4" name="Freeform 14">
            <a:extLst>
              <a:ext uri="{FF2B5EF4-FFF2-40B4-BE49-F238E27FC236}">
                <a16:creationId xmlns:a16="http://schemas.microsoft.com/office/drawing/2014/main" id="{00B80E87-2037-6DB7-D6E9-1609B7B6DCD3}"/>
              </a:ext>
            </a:extLst>
          </p:cNvPr>
          <p:cNvSpPr/>
          <p:nvPr/>
        </p:nvSpPr>
        <p:spPr>
          <a:xfrm>
            <a:off x="1047093" y="591588"/>
            <a:ext cx="328079" cy="328079"/>
          </a:xfrm>
          <a:custGeom>
            <a:avLst/>
            <a:gdLst/>
            <a:ahLst/>
            <a:cxnLst/>
            <a:rect l="l" t="t" r="r" b="b"/>
            <a:pathLst>
              <a:path w="328079" h="328079">
                <a:moveTo>
                  <a:pt x="0" y="0"/>
                </a:moveTo>
                <a:lnTo>
                  <a:pt x="328079" y="0"/>
                </a:lnTo>
                <a:lnTo>
                  <a:pt x="328079" y="328079"/>
                </a:lnTo>
                <a:lnTo>
                  <a:pt x="0" y="32807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16" name="TextBox 16">
            <a:extLst>
              <a:ext uri="{FF2B5EF4-FFF2-40B4-BE49-F238E27FC236}">
                <a16:creationId xmlns:a16="http://schemas.microsoft.com/office/drawing/2014/main" id="{AF0E42A9-521F-3A16-A5F6-2F9264C63811}"/>
              </a:ext>
            </a:extLst>
          </p:cNvPr>
          <p:cNvSpPr txBox="1"/>
          <p:nvPr/>
        </p:nvSpPr>
        <p:spPr>
          <a:xfrm>
            <a:off x="1752600" y="609674"/>
            <a:ext cx="12687302" cy="40523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3120"/>
              </a:lnSpc>
            </a:pPr>
            <a:r>
              <a:rPr lang="en-US" sz="3200" b="1" dirty="0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Data analysis screenshots - </a:t>
            </a:r>
            <a:r>
              <a:rPr lang="en-US" sz="3200" b="1" dirty="0">
                <a:solidFill>
                  <a:schemeClr val="bg1"/>
                </a:solidFill>
              </a:rPr>
              <a:t>Shipping time &amp; delivery performance </a:t>
            </a:r>
            <a:endParaRPr lang="en-US" sz="3200" b="1" dirty="0">
              <a:solidFill>
                <a:srgbClr val="FFFFFF"/>
              </a:solidFill>
              <a:latin typeface="Roboto Bold"/>
              <a:ea typeface="Roboto Bold"/>
              <a:cs typeface="Roboto Bold"/>
              <a:sym typeface="Roboto Bold"/>
            </a:endParaRPr>
          </a:p>
        </p:txBody>
      </p:sp>
      <p:grpSp>
        <p:nvGrpSpPr>
          <p:cNvPr id="30" name="Group 30">
            <a:extLst>
              <a:ext uri="{FF2B5EF4-FFF2-40B4-BE49-F238E27FC236}">
                <a16:creationId xmlns:a16="http://schemas.microsoft.com/office/drawing/2014/main" id="{1FE6FF83-F949-EC96-6A66-CA9B544284C2}"/>
              </a:ext>
            </a:extLst>
          </p:cNvPr>
          <p:cNvGrpSpPr/>
          <p:nvPr/>
        </p:nvGrpSpPr>
        <p:grpSpPr>
          <a:xfrm>
            <a:off x="0" y="10032423"/>
            <a:ext cx="18288000" cy="254577"/>
            <a:chOff x="0" y="0"/>
            <a:chExt cx="4816593" cy="67049"/>
          </a:xfrm>
        </p:grpSpPr>
        <p:sp>
          <p:nvSpPr>
            <p:cNvPr id="31" name="Freeform 31">
              <a:extLst>
                <a:ext uri="{FF2B5EF4-FFF2-40B4-BE49-F238E27FC236}">
                  <a16:creationId xmlns:a16="http://schemas.microsoft.com/office/drawing/2014/main" id="{02050319-DDF6-FC46-24DE-B2F4E136BC0E}"/>
                </a:ext>
              </a:extLst>
            </p:cNvPr>
            <p:cNvSpPr/>
            <p:nvPr/>
          </p:nvSpPr>
          <p:spPr>
            <a:xfrm>
              <a:off x="0" y="0"/>
              <a:ext cx="4816592" cy="67049"/>
            </a:xfrm>
            <a:custGeom>
              <a:avLst/>
              <a:gdLst/>
              <a:ahLst/>
              <a:cxnLst/>
              <a:rect l="l" t="t" r="r" b="b"/>
              <a:pathLst>
                <a:path w="4816592" h="67049">
                  <a:moveTo>
                    <a:pt x="0" y="0"/>
                  </a:moveTo>
                  <a:lnTo>
                    <a:pt x="4816592" y="0"/>
                  </a:lnTo>
                  <a:lnTo>
                    <a:pt x="4816592" y="67049"/>
                  </a:lnTo>
                  <a:lnTo>
                    <a:pt x="0" y="67049"/>
                  </a:lnTo>
                  <a:close/>
                </a:path>
              </a:pathLst>
            </a:custGeom>
            <a:gradFill rotWithShape="1">
              <a:gsLst>
                <a:gs pos="0">
                  <a:srgbClr val="002264">
                    <a:alpha val="100000"/>
                  </a:srgbClr>
                </a:gs>
                <a:gs pos="100000">
                  <a:srgbClr val="2D56A5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US"/>
            </a:p>
          </p:txBody>
        </p:sp>
        <p:sp>
          <p:nvSpPr>
            <p:cNvPr id="32" name="TextBox 32">
              <a:extLst>
                <a:ext uri="{FF2B5EF4-FFF2-40B4-BE49-F238E27FC236}">
                  <a16:creationId xmlns:a16="http://schemas.microsoft.com/office/drawing/2014/main" id="{9DE1B7F7-08C9-C478-CF7C-D884A25E810A}"/>
                </a:ext>
              </a:extLst>
            </p:cNvPr>
            <p:cNvSpPr txBox="1"/>
            <p:nvPr/>
          </p:nvSpPr>
          <p:spPr>
            <a:xfrm>
              <a:off x="0" y="-38100"/>
              <a:ext cx="4816593" cy="10514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33" name="Group 33">
            <a:extLst>
              <a:ext uri="{FF2B5EF4-FFF2-40B4-BE49-F238E27FC236}">
                <a16:creationId xmlns:a16="http://schemas.microsoft.com/office/drawing/2014/main" id="{CE37117E-93DF-2AFC-FFE9-475BBCBBC7FF}"/>
              </a:ext>
            </a:extLst>
          </p:cNvPr>
          <p:cNvGrpSpPr/>
          <p:nvPr/>
        </p:nvGrpSpPr>
        <p:grpSpPr>
          <a:xfrm>
            <a:off x="0" y="0"/>
            <a:ext cx="18288000" cy="254577"/>
            <a:chOff x="0" y="0"/>
            <a:chExt cx="4816593" cy="67049"/>
          </a:xfrm>
        </p:grpSpPr>
        <p:sp>
          <p:nvSpPr>
            <p:cNvPr id="34" name="Freeform 34">
              <a:extLst>
                <a:ext uri="{FF2B5EF4-FFF2-40B4-BE49-F238E27FC236}">
                  <a16:creationId xmlns:a16="http://schemas.microsoft.com/office/drawing/2014/main" id="{CF54711D-800B-A85F-403A-519630A59C4E}"/>
                </a:ext>
              </a:extLst>
            </p:cNvPr>
            <p:cNvSpPr/>
            <p:nvPr/>
          </p:nvSpPr>
          <p:spPr>
            <a:xfrm>
              <a:off x="0" y="0"/>
              <a:ext cx="4816592" cy="67049"/>
            </a:xfrm>
            <a:custGeom>
              <a:avLst/>
              <a:gdLst/>
              <a:ahLst/>
              <a:cxnLst/>
              <a:rect l="l" t="t" r="r" b="b"/>
              <a:pathLst>
                <a:path w="4816592" h="67049">
                  <a:moveTo>
                    <a:pt x="0" y="0"/>
                  </a:moveTo>
                  <a:lnTo>
                    <a:pt x="4816592" y="0"/>
                  </a:lnTo>
                  <a:lnTo>
                    <a:pt x="4816592" y="67049"/>
                  </a:lnTo>
                  <a:lnTo>
                    <a:pt x="0" y="67049"/>
                  </a:lnTo>
                  <a:close/>
                </a:path>
              </a:pathLst>
            </a:custGeom>
            <a:gradFill rotWithShape="1">
              <a:gsLst>
                <a:gs pos="0">
                  <a:srgbClr val="002264">
                    <a:alpha val="100000"/>
                  </a:srgbClr>
                </a:gs>
                <a:gs pos="100000">
                  <a:srgbClr val="2D56A5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US"/>
            </a:p>
          </p:txBody>
        </p:sp>
        <p:sp>
          <p:nvSpPr>
            <p:cNvPr id="35" name="TextBox 35">
              <a:extLst>
                <a:ext uri="{FF2B5EF4-FFF2-40B4-BE49-F238E27FC236}">
                  <a16:creationId xmlns:a16="http://schemas.microsoft.com/office/drawing/2014/main" id="{4E4C14F1-47B9-144F-FADC-3AD38AFCAEBF}"/>
                </a:ext>
              </a:extLst>
            </p:cNvPr>
            <p:cNvSpPr txBox="1"/>
            <p:nvPr/>
          </p:nvSpPr>
          <p:spPr>
            <a:xfrm>
              <a:off x="0" y="-38100"/>
              <a:ext cx="4816593" cy="10514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36" name="Group 36">
            <a:extLst>
              <a:ext uri="{FF2B5EF4-FFF2-40B4-BE49-F238E27FC236}">
                <a16:creationId xmlns:a16="http://schemas.microsoft.com/office/drawing/2014/main" id="{85C22C2D-9B50-2C90-E94C-016754C1C204}"/>
              </a:ext>
            </a:extLst>
          </p:cNvPr>
          <p:cNvGrpSpPr/>
          <p:nvPr/>
        </p:nvGrpSpPr>
        <p:grpSpPr>
          <a:xfrm>
            <a:off x="12805410" y="9437029"/>
            <a:ext cx="8200805" cy="1699941"/>
            <a:chOff x="0" y="0"/>
            <a:chExt cx="3369683" cy="698500"/>
          </a:xfrm>
        </p:grpSpPr>
        <p:sp>
          <p:nvSpPr>
            <p:cNvPr id="37" name="Freeform 37">
              <a:extLst>
                <a:ext uri="{FF2B5EF4-FFF2-40B4-BE49-F238E27FC236}">
                  <a16:creationId xmlns:a16="http://schemas.microsoft.com/office/drawing/2014/main" id="{7FAC636A-3E81-03E1-6819-4FED35F5D466}"/>
                </a:ext>
              </a:extLst>
            </p:cNvPr>
            <p:cNvSpPr/>
            <p:nvPr/>
          </p:nvSpPr>
          <p:spPr>
            <a:xfrm>
              <a:off x="0" y="0"/>
              <a:ext cx="3369683" cy="698500"/>
            </a:xfrm>
            <a:custGeom>
              <a:avLst/>
              <a:gdLst/>
              <a:ahLst/>
              <a:cxnLst/>
              <a:rect l="l" t="t" r="r" b="b"/>
              <a:pathLst>
                <a:path w="3369683" h="698500">
                  <a:moveTo>
                    <a:pt x="3369683" y="349250"/>
                  </a:moveTo>
                  <a:lnTo>
                    <a:pt x="3166483" y="698500"/>
                  </a:lnTo>
                  <a:lnTo>
                    <a:pt x="203200" y="698500"/>
                  </a:lnTo>
                  <a:lnTo>
                    <a:pt x="0" y="349250"/>
                  </a:lnTo>
                  <a:lnTo>
                    <a:pt x="203200" y="0"/>
                  </a:lnTo>
                  <a:lnTo>
                    <a:pt x="3166483" y="0"/>
                  </a:lnTo>
                  <a:lnTo>
                    <a:pt x="3369683" y="349250"/>
                  </a:lnTo>
                  <a:close/>
                </a:path>
              </a:pathLst>
            </a:custGeom>
            <a:gradFill rotWithShape="1">
              <a:gsLst>
                <a:gs pos="0">
                  <a:srgbClr val="002264">
                    <a:alpha val="100000"/>
                  </a:srgbClr>
                </a:gs>
                <a:gs pos="100000">
                  <a:srgbClr val="2D56A5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US"/>
            </a:p>
          </p:txBody>
        </p:sp>
        <p:sp>
          <p:nvSpPr>
            <p:cNvPr id="38" name="TextBox 38">
              <a:extLst>
                <a:ext uri="{FF2B5EF4-FFF2-40B4-BE49-F238E27FC236}">
                  <a16:creationId xmlns:a16="http://schemas.microsoft.com/office/drawing/2014/main" id="{CF6F3F89-F6B1-8FFB-DD5E-A125B09B7513}"/>
                </a:ext>
              </a:extLst>
            </p:cNvPr>
            <p:cNvSpPr txBox="1"/>
            <p:nvPr/>
          </p:nvSpPr>
          <p:spPr>
            <a:xfrm>
              <a:off x="114300" y="-38100"/>
              <a:ext cx="3141083" cy="7366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39" name="Freeform 39">
            <a:extLst>
              <a:ext uri="{FF2B5EF4-FFF2-40B4-BE49-F238E27FC236}">
                <a16:creationId xmlns:a16="http://schemas.microsoft.com/office/drawing/2014/main" id="{BCB56245-9AFD-338D-4184-6C8E10D4F343}"/>
              </a:ext>
            </a:extLst>
          </p:cNvPr>
          <p:cNvSpPr/>
          <p:nvPr/>
        </p:nvSpPr>
        <p:spPr>
          <a:xfrm>
            <a:off x="10514468" y="9258300"/>
            <a:ext cx="764904" cy="406407"/>
          </a:xfrm>
          <a:custGeom>
            <a:avLst/>
            <a:gdLst/>
            <a:ahLst/>
            <a:cxnLst/>
            <a:rect l="l" t="t" r="r" b="b"/>
            <a:pathLst>
              <a:path w="764904" h="406407">
                <a:moveTo>
                  <a:pt x="0" y="0"/>
                </a:moveTo>
                <a:lnTo>
                  <a:pt x="764904" y="0"/>
                </a:lnTo>
                <a:lnTo>
                  <a:pt x="764904" y="406407"/>
                </a:lnTo>
                <a:lnTo>
                  <a:pt x="0" y="40640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r="-111469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0" name="Freeform 40">
            <a:extLst>
              <a:ext uri="{FF2B5EF4-FFF2-40B4-BE49-F238E27FC236}">
                <a16:creationId xmlns:a16="http://schemas.microsoft.com/office/drawing/2014/main" id="{9202D1D0-990E-C5DB-8F36-AC487793CA30}"/>
              </a:ext>
            </a:extLst>
          </p:cNvPr>
          <p:cNvSpPr/>
          <p:nvPr/>
        </p:nvSpPr>
        <p:spPr>
          <a:xfrm>
            <a:off x="16494396" y="788244"/>
            <a:ext cx="764904" cy="406407"/>
          </a:xfrm>
          <a:custGeom>
            <a:avLst/>
            <a:gdLst/>
            <a:ahLst/>
            <a:cxnLst/>
            <a:rect l="l" t="t" r="r" b="b"/>
            <a:pathLst>
              <a:path w="764904" h="406407">
                <a:moveTo>
                  <a:pt x="0" y="0"/>
                </a:moveTo>
                <a:lnTo>
                  <a:pt x="764904" y="0"/>
                </a:lnTo>
                <a:lnTo>
                  <a:pt x="764904" y="406406"/>
                </a:lnTo>
                <a:lnTo>
                  <a:pt x="0" y="40640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r="-111469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4" name="TextBox 4">
            <a:extLst>
              <a:ext uri="{FF2B5EF4-FFF2-40B4-BE49-F238E27FC236}">
                <a16:creationId xmlns:a16="http://schemas.microsoft.com/office/drawing/2014/main" id="{CBCA4681-313A-1D5C-EBB8-A4C4B187E288}"/>
              </a:ext>
            </a:extLst>
          </p:cNvPr>
          <p:cNvSpPr txBox="1"/>
          <p:nvPr/>
        </p:nvSpPr>
        <p:spPr>
          <a:xfrm>
            <a:off x="8458200" y="1548104"/>
            <a:ext cx="6781800" cy="46166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spcBef>
                <a:spcPct val="0"/>
              </a:spcBef>
            </a:pPr>
            <a:r>
              <a:rPr lang="en-US" sz="3000" b="1" dirty="0">
                <a:solidFill>
                  <a:srgbClr val="10347A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Python 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45C5BF96-E1F1-4DEA-19FC-111D571DCA0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70892" y="2258374"/>
            <a:ext cx="4275900" cy="3061141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solidFill>
              <a:schemeClr val="tx2"/>
            </a:solidFill>
          </a:ln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2BBA1D63-71F1-FDC6-DE57-EC5A41D95F8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04801" y="2237926"/>
            <a:ext cx="4038600" cy="2905574"/>
          </a:xfrm>
          <a:prstGeom prst="rect">
            <a:avLst/>
          </a:prstGeom>
          <a:ln>
            <a:solidFill>
              <a:schemeClr val="tx2"/>
            </a:solidFill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E84E4EE-B940-3E3B-F4FD-566C2496E563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648200" y="2291750"/>
            <a:ext cx="3657600" cy="2905574"/>
          </a:xfrm>
          <a:prstGeom prst="rect">
            <a:avLst/>
          </a:prstGeom>
          <a:ln>
            <a:solidFill>
              <a:schemeClr val="tx2"/>
            </a:solidFill>
          </a:ln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583742E6-6849-4A1E-9685-EA8F38251898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04801" y="5790471"/>
            <a:ext cx="12086898" cy="2886478"/>
          </a:xfrm>
          <a:prstGeom prst="rect">
            <a:avLst/>
          </a:prstGeom>
          <a:ln>
            <a:solidFill>
              <a:schemeClr val="tx2"/>
            </a:solidFill>
          </a:ln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5964A02F-2249-1C68-F92C-557F3A96BA8E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2805410" y="5751803"/>
            <a:ext cx="4933020" cy="2925146"/>
          </a:xfrm>
          <a:prstGeom prst="rect">
            <a:avLst/>
          </a:prstGeom>
          <a:ln>
            <a:solidFill>
              <a:schemeClr val="tx2"/>
            </a:solidFill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2E72F00-AB10-A487-F5B8-6546FEE3A7A9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3665245" y="2258375"/>
            <a:ext cx="4073185" cy="3061140"/>
          </a:xfrm>
          <a:prstGeom prst="rect">
            <a:avLst/>
          </a:prstGeom>
          <a:ln>
            <a:solidFill>
              <a:schemeClr val="tx2"/>
            </a:solidFill>
          </a:ln>
        </p:spPr>
      </p:pic>
    </p:spTree>
    <p:extLst>
      <p:ext uri="{BB962C8B-B14F-4D97-AF65-F5344CB8AC3E}">
        <p14:creationId xmlns:p14="http://schemas.microsoft.com/office/powerpoint/2010/main" val="286709786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B27094-86FF-9BAC-C444-C60289A86E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4">
            <a:extLst>
              <a:ext uri="{FF2B5EF4-FFF2-40B4-BE49-F238E27FC236}">
                <a16:creationId xmlns:a16="http://schemas.microsoft.com/office/drawing/2014/main" id="{CF37CEFF-584C-83FA-33FE-26D530890108}"/>
              </a:ext>
            </a:extLst>
          </p:cNvPr>
          <p:cNvSpPr txBox="1"/>
          <p:nvPr/>
        </p:nvSpPr>
        <p:spPr>
          <a:xfrm>
            <a:off x="457200" y="1519033"/>
            <a:ext cx="6781800" cy="46166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spcBef>
                <a:spcPct val="0"/>
              </a:spcBef>
            </a:pPr>
            <a:r>
              <a:rPr lang="en-US" sz="3000" b="1" dirty="0">
                <a:solidFill>
                  <a:srgbClr val="10347A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SQL</a:t>
            </a:r>
          </a:p>
        </p:txBody>
      </p:sp>
      <p:grpSp>
        <p:nvGrpSpPr>
          <p:cNvPr id="6" name="Group 6">
            <a:extLst>
              <a:ext uri="{FF2B5EF4-FFF2-40B4-BE49-F238E27FC236}">
                <a16:creationId xmlns:a16="http://schemas.microsoft.com/office/drawing/2014/main" id="{88DE5A52-5F8D-10C2-EF74-B904DEED87C7}"/>
              </a:ext>
            </a:extLst>
          </p:cNvPr>
          <p:cNvGrpSpPr/>
          <p:nvPr/>
        </p:nvGrpSpPr>
        <p:grpSpPr>
          <a:xfrm>
            <a:off x="2133599" y="372229"/>
            <a:ext cx="11582402" cy="849995"/>
            <a:chOff x="0" y="-38100"/>
            <a:chExt cx="4213026" cy="736600"/>
          </a:xfrm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3C4DC444-AEBC-C4C1-B712-D021B9E3BA7D}"/>
                </a:ext>
              </a:extLst>
            </p:cNvPr>
            <p:cNvSpPr/>
            <p:nvPr/>
          </p:nvSpPr>
          <p:spPr>
            <a:xfrm>
              <a:off x="0" y="0"/>
              <a:ext cx="4213026" cy="698500"/>
            </a:xfrm>
            <a:custGeom>
              <a:avLst/>
              <a:gdLst/>
              <a:ahLst/>
              <a:cxnLst/>
              <a:rect l="l" t="t" r="r" b="b"/>
              <a:pathLst>
                <a:path w="4051749" h="698500">
                  <a:moveTo>
                    <a:pt x="4051749" y="349250"/>
                  </a:moveTo>
                  <a:lnTo>
                    <a:pt x="3848549" y="698500"/>
                  </a:lnTo>
                  <a:lnTo>
                    <a:pt x="203200" y="698500"/>
                  </a:lnTo>
                  <a:lnTo>
                    <a:pt x="0" y="349250"/>
                  </a:lnTo>
                  <a:lnTo>
                    <a:pt x="203200" y="0"/>
                  </a:lnTo>
                  <a:lnTo>
                    <a:pt x="3848549" y="0"/>
                  </a:lnTo>
                  <a:lnTo>
                    <a:pt x="4051749" y="349250"/>
                  </a:lnTo>
                  <a:close/>
                </a:path>
              </a:pathLst>
            </a:custGeom>
            <a:solidFill>
              <a:srgbClr val="10347A"/>
            </a:solidFill>
          </p:spPr>
          <p:txBody>
            <a:bodyPr/>
            <a:lstStyle/>
            <a:p>
              <a:pPr algn="ctr"/>
              <a:endParaRPr lang="en-US" dirty="0"/>
            </a:p>
          </p:txBody>
        </p:sp>
        <p:sp>
          <p:nvSpPr>
            <p:cNvPr id="8" name="TextBox 8">
              <a:extLst>
                <a:ext uri="{FF2B5EF4-FFF2-40B4-BE49-F238E27FC236}">
                  <a16:creationId xmlns:a16="http://schemas.microsoft.com/office/drawing/2014/main" id="{965904D0-BF87-269A-0DCA-B771FFE90897}"/>
                </a:ext>
              </a:extLst>
            </p:cNvPr>
            <p:cNvSpPr txBox="1"/>
            <p:nvPr/>
          </p:nvSpPr>
          <p:spPr>
            <a:xfrm>
              <a:off x="114300" y="-38100"/>
              <a:ext cx="3823149" cy="7366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4" name="Freeform 14">
            <a:extLst>
              <a:ext uri="{FF2B5EF4-FFF2-40B4-BE49-F238E27FC236}">
                <a16:creationId xmlns:a16="http://schemas.microsoft.com/office/drawing/2014/main" id="{3DC63642-5927-E5E3-0D8C-C0CAF79A8CB5}"/>
              </a:ext>
            </a:extLst>
          </p:cNvPr>
          <p:cNvSpPr/>
          <p:nvPr/>
        </p:nvSpPr>
        <p:spPr>
          <a:xfrm>
            <a:off x="2562092" y="705310"/>
            <a:ext cx="328079" cy="328079"/>
          </a:xfrm>
          <a:custGeom>
            <a:avLst/>
            <a:gdLst/>
            <a:ahLst/>
            <a:cxnLst/>
            <a:rect l="l" t="t" r="r" b="b"/>
            <a:pathLst>
              <a:path w="328079" h="328079">
                <a:moveTo>
                  <a:pt x="0" y="0"/>
                </a:moveTo>
                <a:lnTo>
                  <a:pt x="328079" y="0"/>
                </a:lnTo>
                <a:lnTo>
                  <a:pt x="328079" y="328079"/>
                </a:lnTo>
                <a:lnTo>
                  <a:pt x="0" y="32807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16" name="TextBox 16">
            <a:extLst>
              <a:ext uri="{FF2B5EF4-FFF2-40B4-BE49-F238E27FC236}">
                <a16:creationId xmlns:a16="http://schemas.microsoft.com/office/drawing/2014/main" id="{F6F0C32E-E566-4CE0-5FA8-C7A9E5A0EBCA}"/>
              </a:ext>
            </a:extLst>
          </p:cNvPr>
          <p:cNvSpPr txBox="1"/>
          <p:nvPr/>
        </p:nvSpPr>
        <p:spPr>
          <a:xfrm>
            <a:off x="2962590" y="609674"/>
            <a:ext cx="12763317" cy="40523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3120"/>
              </a:lnSpc>
            </a:pPr>
            <a:r>
              <a:rPr lang="en-US" sz="3200" b="1" dirty="0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Data analysis screenshots - </a:t>
            </a:r>
            <a:r>
              <a:rPr lang="en-US" sz="3200" b="1" dirty="0">
                <a:solidFill>
                  <a:schemeClr val="bg1"/>
                </a:solidFill>
              </a:rPr>
              <a:t>Customers</a:t>
            </a:r>
            <a:endParaRPr lang="en-US" sz="3200" b="1" dirty="0">
              <a:solidFill>
                <a:srgbClr val="FFFFFF"/>
              </a:solidFill>
              <a:latin typeface="Roboto Bold"/>
              <a:ea typeface="Roboto Bold"/>
              <a:cs typeface="Roboto Bold"/>
              <a:sym typeface="Roboto Bold"/>
            </a:endParaRPr>
          </a:p>
        </p:txBody>
      </p:sp>
      <p:grpSp>
        <p:nvGrpSpPr>
          <p:cNvPr id="30" name="Group 30">
            <a:extLst>
              <a:ext uri="{FF2B5EF4-FFF2-40B4-BE49-F238E27FC236}">
                <a16:creationId xmlns:a16="http://schemas.microsoft.com/office/drawing/2014/main" id="{530DC5B0-58CC-837C-D5CB-287A331E5E1D}"/>
              </a:ext>
            </a:extLst>
          </p:cNvPr>
          <p:cNvGrpSpPr/>
          <p:nvPr/>
        </p:nvGrpSpPr>
        <p:grpSpPr>
          <a:xfrm>
            <a:off x="0" y="10032423"/>
            <a:ext cx="18288000" cy="254577"/>
            <a:chOff x="0" y="0"/>
            <a:chExt cx="4816593" cy="67049"/>
          </a:xfrm>
        </p:grpSpPr>
        <p:sp>
          <p:nvSpPr>
            <p:cNvPr id="31" name="Freeform 31">
              <a:extLst>
                <a:ext uri="{FF2B5EF4-FFF2-40B4-BE49-F238E27FC236}">
                  <a16:creationId xmlns:a16="http://schemas.microsoft.com/office/drawing/2014/main" id="{C13F5EF6-3499-BBC2-745F-AB5AB62487AD}"/>
                </a:ext>
              </a:extLst>
            </p:cNvPr>
            <p:cNvSpPr/>
            <p:nvPr/>
          </p:nvSpPr>
          <p:spPr>
            <a:xfrm>
              <a:off x="0" y="0"/>
              <a:ext cx="4816592" cy="67049"/>
            </a:xfrm>
            <a:custGeom>
              <a:avLst/>
              <a:gdLst/>
              <a:ahLst/>
              <a:cxnLst/>
              <a:rect l="l" t="t" r="r" b="b"/>
              <a:pathLst>
                <a:path w="4816592" h="67049">
                  <a:moveTo>
                    <a:pt x="0" y="0"/>
                  </a:moveTo>
                  <a:lnTo>
                    <a:pt x="4816592" y="0"/>
                  </a:lnTo>
                  <a:lnTo>
                    <a:pt x="4816592" y="67049"/>
                  </a:lnTo>
                  <a:lnTo>
                    <a:pt x="0" y="67049"/>
                  </a:lnTo>
                  <a:close/>
                </a:path>
              </a:pathLst>
            </a:custGeom>
            <a:gradFill rotWithShape="1">
              <a:gsLst>
                <a:gs pos="0">
                  <a:srgbClr val="002264">
                    <a:alpha val="100000"/>
                  </a:srgbClr>
                </a:gs>
                <a:gs pos="100000">
                  <a:srgbClr val="2D56A5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US"/>
            </a:p>
          </p:txBody>
        </p:sp>
        <p:sp>
          <p:nvSpPr>
            <p:cNvPr id="32" name="TextBox 32">
              <a:extLst>
                <a:ext uri="{FF2B5EF4-FFF2-40B4-BE49-F238E27FC236}">
                  <a16:creationId xmlns:a16="http://schemas.microsoft.com/office/drawing/2014/main" id="{100B4415-07BA-ABD3-E985-F09659112A12}"/>
                </a:ext>
              </a:extLst>
            </p:cNvPr>
            <p:cNvSpPr txBox="1"/>
            <p:nvPr/>
          </p:nvSpPr>
          <p:spPr>
            <a:xfrm>
              <a:off x="0" y="-38100"/>
              <a:ext cx="4816593" cy="10514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33" name="Group 33">
            <a:extLst>
              <a:ext uri="{FF2B5EF4-FFF2-40B4-BE49-F238E27FC236}">
                <a16:creationId xmlns:a16="http://schemas.microsoft.com/office/drawing/2014/main" id="{5D864230-D869-14DE-E816-BCF05FE80F97}"/>
              </a:ext>
            </a:extLst>
          </p:cNvPr>
          <p:cNvGrpSpPr/>
          <p:nvPr/>
        </p:nvGrpSpPr>
        <p:grpSpPr>
          <a:xfrm>
            <a:off x="0" y="0"/>
            <a:ext cx="18288000" cy="254577"/>
            <a:chOff x="0" y="0"/>
            <a:chExt cx="4816593" cy="67049"/>
          </a:xfrm>
        </p:grpSpPr>
        <p:sp>
          <p:nvSpPr>
            <p:cNvPr id="34" name="Freeform 34">
              <a:extLst>
                <a:ext uri="{FF2B5EF4-FFF2-40B4-BE49-F238E27FC236}">
                  <a16:creationId xmlns:a16="http://schemas.microsoft.com/office/drawing/2014/main" id="{65366BB3-3E3D-4FB5-D76C-101BD0F7D932}"/>
                </a:ext>
              </a:extLst>
            </p:cNvPr>
            <p:cNvSpPr/>
            <p:nvPr/>
          </p:nvSpPr>
          <p:spPr>
            <a:xfrm>
              <a:off x="0" y="0"/>
              <a:ext cx="4816592" cy="67049"/>
            </a:xfrm>
            <a:custGeom>
              <a:avLst/>
              <a:gdLst/>
              <a:ahLst/>
              <a:cxnLst/>
              <a:rect l="l" t="t" r="r" b="b"/>
              <a:pathLst>
                <a:path w="4816592" h="67049">
                  <a:moveTo>
                    <a:pt x="0" y="0"/>
                  </a:moveTo>
                  <a:lnTo>
                    <a:pt x="4816592" y="0"/>
                  </a:lnTo>
                  <a:lnTo>
                    <a:pt x="4816592" y="67049"/>
                  </a:lnTo>
                  <a:lnTo>
                    <a:pt x="0" y="67049"/>
                  </a:lnTo>
                  <a:close/>
                </a:path>
              </a:pathLst>
            </a:custGeom>
            <a:gradFill rotWithShape="1">
              <a:gsLst>
                <a:gs pos="0">
                  <a:srgbClr val="002264">
                    <a:alpha val="100000"/>
                  </a:srgbClr>
                </a:gs>
                <a:gs pos="100000">
                  <a:srgbClr val="2D56A5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US"/>
            </a:p>
          </p:txBody>
        </p:sp>
        <p:sp>
          <p:nvSpPr>
            <p:cNvPr id="35" name="TextBox 35">
              <a:extLst>
                <a:ext uri="{FF2B5EF4-FFF2-40B4-BE49-F238E27FC236}">
                  <a16:creationId xmlns:a16="http://schemas.microsoft.com/office/drawing/2014/main" id="{D1A8A3C3-0481-D552-2DBA-2B5AEDDCE717}"/>
                </a:ext>
              </a:extLst>
            </p:cNvPr>
            <p:cNvSpPr txBox="1"/>
            <p:nvPr/>
          </p:nvSpPr>
          <p:spPr>
            <a:xfrm>
              <a:off x="0" y="-38100"/>
              <a:ext cx="4816593" cy="10514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36" name="Group 36">
            <a:extLst>
              <a:ext uri="{FF2B5EF4-FFF2-40B4-BE49-F238E27FC236}">
                <a16:creationId xmlns:a16="http://schemas.microsoft.com/office/drawing/2014/main" id="{07A244BA-0EF1-D73E-2E79-D7E08F78053E}"/>
              </a:ext>
            </a:extLst>
          </p:cNvPr>
          <p:cNvGrpSpPr/>
          <p:nvPr/>
        </p:nvGrpSpPr>
        <p:grpSpPr>
          <a:xfrm>
            <a:off x="12805410" y="9437029"/>
            <a:ext cx="8200805" cy="1699941"/>
            <a:chOff x="0" y="0"/>
            <a:chExt cx="3369683" cy="698500"/>
          </a:xfrm>
        </p:grpSpPr>
        <p:sp>
          <p:nvSpPr>
            <p:cNvPr id="37" name="Freeform 37">
              <a:extLst>
                <a:ext uri="{FF2B5EF4-FFF2-40B4-BE49-F238E27FC236}">
                  <a16:creationId xmlns:a16="http://schemas.microsoft.com/office/drawing/2014/main" id="{CE7B4A58-595B-939F-DDC2-8EE55A3A1F78}"/>
                </a:ext>
              </a:extLst>
            </p:cNvPr>
            <p:cNvSpPr/>
            <p:nvPr/>
          </p:nvSpPr>
          <p:spPr>
            <a:xfrm>
              <a:off x="0" y="0"/>
              <a:ext cx="3369683" cy="698500"/>
            </a:xfrm>
            <a:custGeom>
              <a:avLst/>
              <a:gdLst/>
              <a:ahLst/>
              <a:cxnLst/>
              <a:rect l="l" t="t" r="r" b="b"/>
              <a:pathLst>
                <a:path w="3369683" h="698500">
                  <a:moveTo>
                    <a:pt x="3369683" y="349250"/>
                  </a:moveTo>
                  <a:lnTo>
                    <a:pt x="3166483" y="698500"/>
                  </a:lnTo>
                  <a:lnTo>
                    <a:pt x="203200" y="698500"/>
                  </a:lnTo>
                  <a:lnTo>
                    <a:pt x="0" y="349250"/>
                  </a:lnTo>
                  <a:lnTo>
                    <a:pt x="203200" y="0"/>
                  </a:lnTo>
                  <a:lnTo>
                    <a:pt x="3166483" y="0"/>
                  </a:lnTo>
                  <a:lnTo>
                    <a:pt x="3369683" y="349250"/>
                  </a:lnTo>
                  <a:close/>
                </a:path>
              </a:pathLst>
            </a:custGeom>
            <a:gradFill rotWithShape="1">
              <a:gsLst>
                <a:gs pos="0">
                  <a:srgbClr val="002264">
                    <a:alpha val="100000"/>
                  </a:srgbClr>
                </a:gs>
                <a:gs pos="100000">
                  <a:srgbClr val="2D56A5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US"/>
            </a:p>
          </p:txBody>
        </p:sp>
        <p:sp>
          <p:nvSpPr>
            <p:cNvPr id="38" name="TextBox 38">
              <a:extLst>
                <a:ext uri="{FF2B5EF4-FFF2-40B4-BE49-F238E27FC236}">
                  <a16:creationId xmlns:a16="http://schemas.microsoft.com/office/drawing/2014/main" id="{D0B9349B-071B-7FA4-DBDA-CC2F91E30C86}"/>
                </a:ext>
              </a:extLst>
            </p:cNvPr>
            <p:cNvSpPr txBox="1"/>
            <p:nvPr/>
          </p:nvSpPr>
          <p:spPr>
            <a:xfrm>
              <a:off x="114300" y="-38100"/>
              <a:ext cx="3141083" cy="7366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39" name="Freeform 39">
            <a:extLst>
              <a:ext uri="{FF2B5EF4-FFF2-40B4-BE49-F238E27FC236}">
                <a16:creationId xmlns:a16="http://schemas.microsoft.com/office/drawing/2014/main" id="{143FC92E-96CB-EF68-90F8-B85F0F407878}"/>
              </a:ext>
            </a:extLst>
          </p:cNvPr>
          <p:cNvSpPr/>
          <p:nvPr/>
        </p:nvSpPr>
        <p:spPr>
          <a:xfrm>
            <a:off x="10514468" y="9258300"/>
            <a:ext cx="764904" cy="406407"/>
          </a:xfrm>
          <a:custGeom>
            <a:avLst/>
            <a:gdLst/>
            <a:ahLst/>
            <a:cxnLst/>
            <a:rect l="l" t="t" r="r" b="b"/>
            <a:pathLst>
              <a:path w="764904" h="406407">
                <a:moveTo>
                  <a:pt x="0" y="0"/>
                </a:moveTo>
                <a:lnTo>
                  <a:pt x="764904" y="0"/>
                </a:lnTo>
                <a:lnTo>
                  <a:pt x="764904" y="406407"/>
                </a:lnTo>
                <a:lnTo>
                  <a:pt x="0" y="40640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r="-111469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0" name="Freeform 40">
            <a:extLst>
              <a:ext uri="{FF2B5EF4-FFF2-40B4-BE49-F238E27FC236}">
                <a16:creationId xmlns:a16="http://schemas.microsoft.com/office/drawing/2014/main" id="{BD977D36-FF1B-D749-D674-5B499C269C87}"/>
              </a:ext>
            </a:extLst>
          </p:cNvPr>
          <p:cNvSpPr/>
          <p:nvPr/>
        </p:nvSpPr>
        <p:spPr>
          <a:xfrm>
            <a:off x="16494396" y="788244"/>
            <a:ext cx="764904" cy="406407"/>
          </a:xfrm>
          <a:custGeom>
            <a:avLst/>
            <a:gdLst/>
            <a:ahLst/>
            <a:cxnLst/>
            <a:rect l="l" t="t" r="r" b="b"/>
            <a:pathLst>
              <a:path w="764904" h="406407">
                <a:moveTo>
                  <a:pt x="0" y="0"/>
                </a:moveTo>
                <a:lnTo>
                  <a:pt x="764904" y="0"/>
                </a:lnTo>
                <a:lnTo>
                  <a:pt x="764904" y="406406"/>
                </a:lnTo>
                <a:lnTo>
                  <a:pt x="0" y="40640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r="-111469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4" name="TextBox 4">
            <a:extLst>
              <a:ext uri="{FF2B5EF4-FFF2-40B4-BE49-F238E27FC236}">
                <a16:creationId xmlns:a16="http://schemas.microsoft.com/office/drawing/2014/main" id="{3A815A4C-BF89-B72E-35A1-4724E3EF55DD}"/>
              </a:ext>
            </a:extLst>
          </p:cNvPr>
          <p:cNvSpPr txBox="1"/>
          <p:nvPr/>
        </p:nvSpPr>
        <p:spPr>
          <a:xfrm>
            <a:off x="7658102" y="1672957"/>
            <a:ext cx="6781800" cy="46166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spcBef>
                <a:spcPct val="0"/>
              </a:spcBef>
            </a:pPr>
            <a:r>
              <a:rPr lang="en-US" sz="3000" b="1" dirty="0">
                <a:solidFill>
                  <a:srgbClr val="10347A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Python 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9A59C9B-0F3D-134B-3381-B48204AB885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7597" y="2313142"/>
            <a:ext cx="4188989" cy="2970472"/>
          </a:xfrm>
          <a:prstGeom prst="rect">
            <a:avLst/>
          </a:prstGeom>
          <a:ln>
            <a:solidFill>
              <a:schemeClr val="tx2"/>
            </a:solidFill>
          </a:ln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12C9CEBA-2644-C647-21BC-CD7931F2318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28881" y="2316879"/>
            <a:ext cx="4116570" cy="2915335"/>
          </a:xfrm>
          <a:prstGeom prst="rect">
            <a:avLst/>
          </a:prstGeom>
          <a:ln>
            <a:solidFill>
              <a:schemeClr val="tx2"/>
            </a:solidFill>
          </a:ln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E0DFF57E-E01B-9031-3BD4-4263B8407421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43992" y="5428275"/>
            <a:ext cx="4312594" cy="3547089"/>
          </a:xfrm>
          <a:prstGeom prst="rect">
            <a:avLst/>
          </a:prstGeom>
          <a:ln>
            <a:solidFill>
              <a:schemeClr val="tx2"/>
            </a:solidFill>
          </a:ln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F7161550-F79E-D042-49FE-E5DA6BC8D341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928881" y="5414472"/>
            <a:ext cx="4116570" cy="3560892"/>
          </a:xfrm>
          <a:prstGeom prst="rect">
            <a:avLst/>
          </a:prstGeom>
          <a:ln>
            <a:solidFill>
              <a:schemeClr val="tx2"/>
            </a:solidFill>
          </a:ln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05A6F28C-EF43-F03A-E033-BC6FA927DE18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748322" y="5414471"/>
            <a:ext cx="4027353" cy="3560893"/>
          </a:xfrm>
          <a:prstGeom prst="rect">
            <a:avLst/>
          </a:prstGeom>
          <a:ln>
            <a:solidFill>
              <a:schemeClr val="tx2"/>
            </a:solidFill>
          </a:ln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8F536271-0C83-4D14-64E9-D6B8651941DA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4320324" y="5210817"/>
            <a:ext cx="3623684" cy="3764548"/>
          </a:xfrm>
          <a:prstGeom prst="rect">
            <a:avLst/>
          </a:prstGeom>
          <a:ln>
            <a:solidFill>
              <a:schemeClr val="tx2"/>
            </a:solidFill>
          </a:ln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4C47E369-9A02-A63E-C790-98E7C90CD34F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669354" y="2331846"/>
            <a:ext cx="4027354" cy="2915335"/>
          </a:xfrm>
          <a:prstGeom prst="rect">
            <a:avLst/>
          </a:prstGeom>
          <a:ln>
            <a:solidFill>
              <a:schemeClr val="tx2"/>
            </a:solidFill>
          </a:ln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FA356F0F-DC03-FFE1-295F-862066EF359B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3969032" y="2734788"/>
            <a:ext cx="3851371" cy="1527706"/>
          </a:xfrm>
          <a:prstGeom prst="rect">
            <a:avLst/>
          </a:prstGeom>
          <a:ln>
            <a:solidFill>
              <a:schemeClr val="tx2"/>
            </a:solidFill>
          </a:ln>
        </p:spPr>
      </p:pic>
    </p:spTree>
    <p:extLst>
      <p:ext uri="{BB962C8B-B14F-4D97-AF65-F5344CB8AC3E}">
        <p14:creationId xmlns:p14="http://schemas.microsoft.com/office/powerpoint/2010/main" val="94872616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8D229D5-14CF-4A8B-7BAF-B12C6E9AA1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562B1A76-A864-B027-9E8C-B452C051EC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8288000" cy="10287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A person reaching for a paper on a table full of paper and sticky notes">
            <a:extLst>
              <a:ext uri="{FF2B5EF4-FFF2-40B4-BE49-F238E27FC236}">
                <a16:creationId xmlns:a16="http://schemas.microsoft.com/office/drawing/2014/main" id="{8A768C01-729A-0CD2-B923-494A47B487D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3934" r="14927"/>
          <a:stretch>
            <a:fillRect/>
          </a:stretch>
        </p:blipFill>
        <p:spPr>
          <a:xfrm>
            <a:off x="7324533" y="10"/>
            <a:ext cx="10963467" cy="10286990"/>
          </a:xfrm>
          <a:custGeom>
            <a:avLst/>
            <a:gdLst/>
            <a:ahLst/>
            <a:cxnLst/>
            <a:rect l="l" t="t" r="r" b="b"/>
            <a:pathLst>
              <a:path w="7308978" h="6858000">
                <a:moveTo>
                  <a:pt x="0" y="0"/>
                </a:moveTo>
                <a:lnTo>
                  <a:pt x="7308978" y="0"/>
                </a:lnTo>
                <a:lnTo>
                  <a:pt x="7308978" y="6858000"/>
                </a:lnTo>
                <a:lnTo>
                  <a:pt x="0" y="6858000"/>
                </a:lnTo>
                <a:lnTo>
                  <a:pt x="62983" y="6788730"/>
                </a:lnTo>
                <a:cubicBezTo>
                  <a:pt x="773509" y="5928900"/>
                  <a:pt x="1212978" y="4741056"/>
                  <a:pt x="1212978" y="3429000"/>
                </a:cubicBezTo>
                <a:cubicBezTo>
                  <a:pt x="1212978" y="2116944"/>
                  <a:pt x="773509" y="929100"/>
                  <a:pt x="62983" y="69271"/>
                </a:cubicBezTo>
                <a:close/>
              </a:path>
            </a:pathLst>
          </a:custGeom>
        </p:spPr>
      </p:pic>
      <p:sp useBgFill="1">
        <p:nvSpPr>
          <p:cNvPr id="17" name="Freeform: Shape 16">
            <a:extLst>
              <a:ext uri="{FF2B5EF4-FFF2-40B4-BE49-F238E27FC236}">
                <a16:creationId xmlns:a16="http://schemas.microsoft.com/office/drawing/2014/main" id="{51D53B07-044F-7E72-32D7-13764ACBD1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1" cy="10287000"/>
          </a:xfrm>
          <a:custGeom>
            <a:avLst/>
            <a:gdLst>
              <a:gd name="connsiteX0" fmla="*/ 0 w 6096001"/>
              <a:gd name="connsiteY0" fmla="*/ 0 h 6858000"/>
              <a:gd name="connsiteX1" fmla="*/ 4883023 w 6096001"/>
              <a:gd name="connsiteY1" fmla="*/ 0 h 6858000"/>
              <a:gd name="connsiteX2" fmla="*/ 4946006 w 6096001"/>
              <a:gd name="connsiteY2" fmla="*/ 69271 h 6858000"/>
              <a:gd name="connsiteX3" fmla="*/ 6096001 w 6096001"/>
              <a:gd name="connsiteY3" fmla="*/ 3429000 h 6858000"/>
              <a:gd name="connsiteX4" fmla="*/ 4946006 w 6096001"/>
              <a:gd name="connsiteY4" fmla="*/ 6788730 h 6858000"/>
              <a:gd name="connsiteX5" fmla="*/ 4883023 w 6096001"/>
              <a:gd name="connsiteY5" fmla="*/ 6858000 h 6858000"/>
              <a:gd name="connsiteX6" fmla="*/ 0 w 609600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096001" h="6858000">
                <a:moveTo>
                  <a:pt x="0" y="0"/>
                </a:moveTo>
                <a:lnTo>
                  <a:pt x="4883023" y="0"/>
                </a:lnTo>
                <a:lnTo>
                  <a:pt x="4946006" y="69271"/>
                </a:lnTo>
                <a:cubicBezTo>
                  <a:pt x="5656532" y="929100"/>
                  <a:pt x="6096001" y="2116944"/>
                  <a:pt x="6096001" y="3429000"/>
                </a:cubicBezTo>
                <a:cubicBezTo>
                  <a:pt x="6096001" y="4741056"/>
                  <a:pt x="5656532" y="5928900"/>
                  <a:pt x="4946006" y="6788730"/>
                </a:cubicBezTo>
                <a:lnTo>
                  <a:pt x="4883023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rgbClr val="EFEFEF"/>
            </a:solidFill>
          </a:ln>
          <a:effectLst>
            <a:outerShdw blurRad="50800" dist="38100" algn="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4" name="Freeform: Shape 13">
            <a:extLst>
              <a:ext uri="{FF2B5EF4-FFF2-40B4-BE49-F238E27FC236}">
                <a16:creationId xmlns:a16="http://schemas.microsoft.com/office/drawing/2014/main" id="{6846A5E7-22AD-9F2A-C8BD-DA61CF9366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30285" cy="10287000"/>
          </a:xfrm>
          <a:custGeom>
            <a:avLst/>
            <a:gdLst>
              <a:gd name="connsiteX0" fmla="*/ 0 w 6086857"/>
              <a:gd name="connsiteY0" fmla="*/ 0 h 6858000"/>
              <a:gd name="connsiteX1" fmla="*/ 4873879 w 6086857"/>
              <a:gd name="connsiteY1" fmla="*/ 0 h 6858000"/>
              <a:gd name="connsiteX2" fmla="*/ 4936862 w 6086857"/>
              <a:gd name="connsiteY2" fmla="*/ 69271 h 6858000"/>
              <a:gd name="connsiteX3" fmla="*/ 6086857 w 6086857"/>
              <a:gd name="connsiteY3" fmla="*/ 3429000 h 6858000"/>
              <a:gd name="connsiteX4" fmla="*/ 4936862 w 6086857"/>
              <a:gd name="connsiteY4" fmla="*/ 6788730 h 6858000"/>
              <a:gd name="connsiteX5" fmla="*/ 4873879 w 6086857"/>
              <a:gd name="connsiteY5" fmla="*/ 6858000 h 6858000"/>
              <a:gd name="connsiteX6" fmla="*/ 0 w 608685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086857" h="6858000">
                <a:moveTo>
                  <a:pt x="0" y="0"/>
                </a:moveTo>
                <a:lnTo>
                  <a:pt x="4873879" y="0"/>
                </a:lnTo>
                <a:lnTo>
                  <a:pt x="4936862" y="69271"/>
                </a:lnTo>
                <a:cubicBezTo>
                  <a:pt x="5647388" y="929100"/>
                  <a:pt x="6086857" y="2116944"/>
                  <a:pt x="6086857" y="3429000"/>
                </a:cubicBezTo>
                <a:cubicBezTo>
                  <a:pt x="6086857" y="4741056"/>
                  <a:pt x="5647388" y="5928900"/>
                  <a:pt x="4936862" y="6788730"/>
                </a:cubicBezTo>
                <a:lnTo>
                  <a:pt x="4873879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CE12B39-F79A-4B58-3D3F-4155A2C9CF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2356" y="1284732"/>
            <a:ext cx="7488936" cy="1865376"/>
          </a:xfrm>
        </p:spPr>
        <p:txBody>
          <a:bodyPr anchor="ctr">
            <a:normAutofit/>
          </a:bodyPr>
          <a:lstStyle/>
          <a:p>
            <a:r>
              <a:rPr lang="en-US" sz="5100" b="1" u="sng"/>
              <a:t>Table of content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291A748-7C38-82A9-7C30-F2EC8EDC9B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686487"/>
            <a:ext cx="192024" cy="98085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E747CE67-A8AC-8A70-6AD0-A3BBA97D93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56653" y="3293004"/>
            <a:ext cx="7475220" cy="27432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713FF3-C83F-C9C8-B8B8-2FE21F1EDA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2356" y="3784423"/>
            <a:ext cx="7598664" cy="5103545"/>
          </a:xfrm>
        </p:spPr>
        <p:txBody>
          <a:bodyPr anchor="t">
            <a:normAutofit/>
          </a:bodyPr>
          <a:lstStyle/>
          <a:p>
            <a:pPr marL="771525" indent="-771525">
              <a:lnSpc>
                <a:spcPct val="150000"/>
              </a:lnSpc>
              <a:buFont typeface="+mj-lt"/>
              <a:buAutoNum type="arabicPeriod"/>
            </a:pPr>
            <a:r>
              <a:rPr lang="en-US" sz="3000" dirty="0"/>
              <a:t>Project overview &amp; Executive summary </a:t>
            </a:r>
          </a:p>
          <a:p>
            <a:pPr marL="771525" indent="-771525">
              <a:lnSpc>
                <a:spcPct val="150000"/>
              </a:lnSpc>
              <a:buFont typeface="+mj-lt"/>
              <a:buAutoNum type="arabicPeriod"/>
            </a:pPr>
            <a:r>
              <a:rPr lang="en-US" sz="3000" dirty="0"/>
              <a:t>Data preparation and transformation</a:t>
            </a:r>
          </a:p>
          <a:p>
            <a:pPr marL="771525" indent="-771525">
              <a:lnSpc>
                <a:spcPct val="150000"/>
              </a:lnSpc>
              <a:buFont typeface="+mj-lt"/>
              <a:buAutoNum type="arabicPeriod"/>
            </a:pPr>
            <a:r>
              <a:rPr lang="en-US" sz="3000" dirty="0"/>
              <a:t>Project Analysis step</a:t>
            </a:r>
          </a:p>
          <a:p>
            <a:pPr marL="771525" indent="-771525">
              <a:lnSpc>
                <a:spcPct val="150000"/>
              </a:lnSpc>
              <a:buFont typeface="+mj-lt"/>
              <a:buAutoNum type="arabicPeriod"/>
            </a:pPr>
            <a:r>
              <a:rPr lang="en-US" sz="3000" b="1" dirty="0"/>
              <a:t>Visualization</a:t>
            </a:r>
          </a:p>
          <a:p>
            <a:pPr marL="0" indent="0">
              <a:buNone/>
            </a:pPr>
            <a:endParaRPr lang="en-US" sz="3000" dirty="0"/>
          </a:p>
          <a:p>
            <a:pPr marL="771525" indent="-771525">
              <a:buFont typeface="+mj-lt"/>
              <a:buAutoNum type="arabicPeriod"/>
            </a:pPr>
            <a:endParaRPr lang="en-US" sz="3000" dirty="0"/>
          </a:p>
          <a:p>
            <a:pPr marL="771525" indent="-771525">
              <a:buFont typeface="+mj-lt"/>
              <a:buAutoNum type="arabicPeriod"/>
            </a:pPr>
            <a:endParaRPr lang="en-US" sz="3000" dirty="0"/>
          </a:p>
        </p:txBody>
      </p:sp>
    </p:spTree>
    <p:extLst>
      <p:ext uri="{BB962C8B-B14F-4D97-AF65-F5344CB8AC3E}">
        <p14:creationId xmlns:p14="http://schemas.microsoft.com/office/powerpoint/2010/main" val="169360165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896AB5-7ACE-B227-CC53-04CE337399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5">
            <a:extLst>
              <a:ext uri="{FF2B5EF4-FFF2-40B4-BE49-F238E27FC236}">
                <a16:creationId xmlns:a16="http://schemas.microsoft.com/office/drawing/2014/main" id="{546690CC-15BA-8DD6-A98C-B406FFED3A38}"/>
              </a:ext>
            </a:extLst>
          </p:cNvPr>
          <p:cNvSpPr txBox="1"/>
          <p:nvPr/>
        </p:nvSpPr>
        <p:spPr>
          <a:xfrm>
            <a:off x="-464346" y="7823050"/>
            <a:ext cx="17617657" cy="683045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2659"/>
              </a:lnSpc>
            </a:pPr>
            <a:endParaRPr/>
          </a:p>
        </p:txBody>
      </p:sp>
      <p:grpSp>
        <p:nvGrpSpPr>
          <p:cNvPr id="10" name="Group 10">
            <a:extLst>
              <a:ext uri="{FF2B5EF4-FFF2-40B4-BE49-F238E27FC236}">
                <a16:creationId xmlns:a16="http://schemas.microsoft.com/office/drawing/2014/main" id="{3BE636AC-01CF-2B8A-5F82-86E02B581289}"/>
              </a:ext>
            </a:extLst>
          </p:cNvPr>
          <p:cNvGrpSpPr/>
          <p:nvPr/>
        </p:nvGrpSpPr>
        <p:grpSpPr>
          <a:xfrm>
            <a:off x="0" y="0"/>
            <a:ext cx="18288000" cy="254577"/>
            <a:chOff x="0" y="0"/>
            <a:chExt cx="4816593" cy="67049"/>
          </a:xfrm>
        </p:grpSpPr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2D134C58-8545-3D04-AEC6-048C4CE68982}"/>
                </a:ext>
              </a:extLst>
            </p:cNvPr>
            <p:cNvSpPr/>
            <p:nvPr/>
          </p:nvSpPr>
          <p:spPr>
            <a:xfrm>
              <a:off x="0" y="0"/>
              <a:ext cx="4816592" cy="67049"/>
            </a:xfrm>
            <a:custGeom>
              <a:avLst/>
              <a:gdLst/>
              <a:ahLst/>
              <a:cxnLst/>
              <a:rect l="l" t="t" r="r" b="b"/>
              <a:pathLst>
                <a:path w="4816592" h="67049">
                  <a:moveTo>
                    <a:pt x="0" y="0"/>
                  </a:moveTo>
                  <a:lnTo>
                    <a:pt x="4816592" y="0"/>
                  </a:lnTo>
                  <a:lnTo>
                    <a:pt x="4816592" y="67049"/>
                  </a:lnTo>
                  <a:lnTo>
                    <a:pt x="0" y="67049"/>
                  </a:lnTo>
                  <a:close/>
                </a:path>
              </a:pathLst>
            </a:custGeom>
            <a:gradFill rotWithShape="1">
              <a:gsLst>
                <a:gs pos="0">
                  <a:srgbClr val="002264">
                    <a:alpha val="100000"/>
                  </a:srgbClr>
                </a:gs>
                <a:gs pos="100000">
                  <a:srgbClr val="2D56A5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TextBox 12">
              <a:extLst>
                <a:ext uri="{FF2B5EF4-FFF2-40B4-BE49-F238E27FC236}">
                  <a16:creationId xmlns:a16="http://schemas.microsoft.com/office/drawing/2014/main" id="{E7A149BA-96DD-12D4-5196-D2CEF7B833C6}"/>
                </a:ext>
              </a:extLst>
            </p:cNvPr>
            <p:cNvSpPr txBox="1"/>
            <p:nvPr/>
          </p:nvSpPr>
          <p:spPr>
            <a:xfrm>
              <a:off x="0" y="-38100"/>
              <a:ext cx="4816593" cy="10514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3" name="Group 13">
            <a:extLst>
              <a:ext uri="{FF2B5EF4-FFF2-40B4-BE49-F238E27FC236}">
                <a16:creationId xmlns:a16="http://schemas.microsoft.com/office/drawing/2014/main" id="{EC544986-3E58-2827-9DF6-502243FDE25B}"/>
              </a:ext>
            </a:extLst>
          </p:cNvPr>
          <p:cNvGrpSpPr/>
          <p:nvPr/>
        </p:nvGrpSpPr>
        <p:grpSpPr>
          <a:xfrm>
            <a:off x="11811068" y="-1584844"/>
            <a:ext cx="7490149" cy="2448388"/>
            <a:chOff x="0" y="0"/>
            <a:chExt cx="2136863" cy="698500"/>
          </a:xfrm>
        </p:grpSpPr>
        <p:sp>
          <p:nvSpPr>
            <p:cNvPr id="14" name="Freeform 14">
              <a:extLst>
                <a:ext uri="{FF2B5EF4-FFF2-40B4-BE49-F238E27FC236}">
                  <a16:creationId xmlns:a16="http://schemas.microsoft.com/office/drawing/2014/main" id="{2F621888-380F-C6A8-0EEB-D03CF0014156}"/>
                </a:ext>
              </a:extLst>
            </p:cNvPr>
            <p:cNvSpPr/>
            <p:nvPr/>
          </p:nvSpPr>
          <p:spPr>
            <a:xfrm>
              <a:off x="0" y="0"/>
              <a:ext cx="2136863" cy="698500"/>
            </a:xfrm>
            <a:custGeom>
              <a:avLst/>
              <a:gdLst/>
              <a:ahLst/>
              <a:cxnLst/>
              <a:rect l="l" t="t" r="r" b="b"/>
              <a:pathLst>
                <a:path w="2136863" h="698500">
                  <a:moveTo>
                    <a:pt x="2136863" y="349250"/>
                  </a:moveTo>
                  <a:lnTo>
                    <a:pt x="1933663" y="698500"/>
                  </a:lnTo>
                  <a:lnTo>
                    <a:pt x="203200" y="698500"/>
                  </a:lnTo>
                  <a:lnTo>
                    <a:pt x="0" y="349250"/>
                  </a:lnTo>
                  <a:lnTo>
                    <a:pt x="203200" y="0"/>
                  </a:lnTo>
                  <a:lnTo>
                    <a:pt x="1933663" y="0"/>
                  </a:lnTo>
                  <a:lnTo>
                    <a:pt x="2136863" y="349250"/>
                  </a:lnTo>
                  <a:close/>
                </a:path>
              </a:pathLst>
            </a:custGeom>
            <a:gradFill rotWithShape="1">
              <a:gsLst>
                <a:gs pos="0">
                  <a:srgbClr val="002264">
                    <a:alpha val="100000"/>
                  </a:srgbClr>
                </a:gs>
                <a:gs pos="100000">
                  <a:srgbClr val="2D56A5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TextBox 15">
              <a:extLst>
                <a:ext uri="{FF2B5EF4-FFF2-40B4-BE49-F238E27FC236}">
                  <a16:creationId xmlns:a16="http://schemas.microsoft.com/office/drawing/2014/main" id="{68FB1865-E2F5-B030-ACE6-3C78D2AE7C17}"/>
                </a:ext>
              </a:extLst>
            </p:cNvPr>
            <p:cNvSpPr txBox="1"/>
            <p:nvPr/>
          </p:nvSpPr>
          <p:spPr>
            <a:xfrm>
              <a:off x="114300" y="-38100"/>
              <a:ext cx="1908263" cy="7366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6" name="Freeform 16">
            <a:extLst>
              <a:ext uri="{FF2B5EF4-FFF2-40B4-BE49-F238E27FC236}">
                <a16:creationId xmlns:a16="http://schemas.microsoft.com/office/drawing/2014/main" id="{FEF7403A-8AB6-5AB9-3B87-6A4401E609BB}"/>
              </a:ext>
            </a:extLst>
          </p:cNvPr>
          <p:cNvSpPr/>
          <p:nvPr/>
        </p:nvSpPr>
        <p:spPr>
          <a:xfrm>
            <a:off x="10276153" y="1260095"/>
            <a:ext cx="764904" cy="406407"/>
          </a:xfrm>
          <a:custGeom>
            <a:avLst/>
            <a:gdLst/>
            <a:ahLst/>
            <a:cxnLst/>
            <a:rect l="l" t="t" r="r" b="b"/>
            <a:pathLst>
              <a:path w="764904" h="406407">
                <a:moveTo>
                  <a:pt x="0" y="0"/>
                </a:moveTo>
                <a:lnTo>
                  <a:pt x="764904" y="0"/>
                </a:lnTo>
                <a:lnTo>
                  <a:pt x="764904" y="406407"/>
                </a:lnTo>
                <a:lnTo>
                  <a:pt x="0" y="40640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r="-111469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9" name="TextBox 19">
            <a:extLst>
              <a:ext uri="{FF2B5EF4-FFF2-40B4-BE49-F238E27FC236}">
                <a16:creationId xmlns:a16="http://schemas.microsoft.com/office/drawing/2014/main" id="{B0D7635B-FB98-AE83-BD5C-1352755F50EF}"/>
              </a:ext>
            </a:extLst>
          </p:cNvPr>
          <p:cNvSpPr txBox="1"/>
          <p:nvPr/>
        </p:nvSpPr>
        <p:spPr>
          <a:xfrm>
            <a:off x="1028700" y="885825"/>
            <a:ext cx="9093461" cy="13012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704"/>
              </a:lnSpc>
              <a:spcBef>
                <a:spcPct val="0"/>
              </a:spcBef>
            </a:pPr>
            <a:r>
              <a:rPr lang="en-US" sz="7646" b="1" dirty="0">
                <a:solidFill>
                  <a:srgbClr val="10347A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Data</a:t>
            </a:r>
          </a:p>
        </p:txBody>
      </p:sp>
      <p:sp>
        <p:nvSpPr>
          <p:cNvPr id="20" name="TextBox 20">
            <a:extLst>
              <a:ext uri="{FF2B5EF4-FFF2-40B4-BE49-F238E27FC236}">
                <a16:creationId xmlns:a16="http://schemas.microsoft.com/office/drawing/2014/main" id="{59F7F519-7DA7-8BD0-E38F-AD628E7C6700}"/>
              </a:ext>
            </a:extLst>
          </p:cNvPr>
          <p:cNvSpPr txBox="1"/>
          <p:nvPr/>
        </p:nvSpPr>
        <p:spPr>
          <a:xfrm>
            <a:off x="718709" y="1771368"/>
            <a:ext cx="8390653" cy="13012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704"/>
              </a:lnSpc>
              <a:spcBef>
                <a:spcPct val="0"/>
              </a:spcBef>
            </a:pPr>
            <a:r>
              <a:rPr lang="en-US" sz="7646" b="1" dirty="0">
                <a:solidFill>
                  <a:schemeClr val="tx2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Visualization</a:t>
            </a: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626C3A63-506D-5C02-DE4B-7C79962C725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76400" y="3619376"/>
            <a:ext cx="11636519" cy="4267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📊 </a:t>
            </a: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Product, Customer, Sales &amp; Shipping: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Visualized for clarity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📈 </a:t>
            </a: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Trends &amp; Patterns: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Top performers &amp; regional insights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🎯 </a:t>
            </a: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KPIs Tracking: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Monitor sales and shipping efficiency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🖱️ </a:t>
            </a: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Interactive Dashboards: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Explore data dynamically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💡 </a:t>
            </a: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Actionable Insights: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Drive strategic decisions &amp; recommendations</a:t>
            </a:r>
          </a:p>
        </p:txBody>
      </p:sp>
    </p:spTree>
    <p:extLst>
      <p:ext uri="{BB962C8B-B14F-4D97-AF65-F5344CB8AC3E}">
        <p14:creationId xmlns:p14="http://schemas.microsoft.com/office/powerpoint/2010/main" val="150441676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FAA92C3-FA6D-F281-EB2A-5644B53374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8288000" cy="10287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7899603"/>
            <a:ext cx="18287996" cy="2386113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/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7905262"/>
            <a:ext cx="18277996" cy="2386113"/>
          </a:xfrm>
          <a:prstGeom prst="rect">
            <a:avLst/>
          </a:prstGeom>
          <a:gradFill>
            <a:gsLst>
              <a:gs pos="0">
                <a:schemeClr val="accent1">
                  <a:alpha val="0"/>
                </a:schemeClr>
              </a:gs>
              <a:gs pos="100000">
                <a:schemeClr val="accent1">
                  <a:lumMod val="50000"/>
                </a:schemeClr>
              </a:gs>
            </a:gsLst>
            <a:lin ang="10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2172948" y="7898319"/>
            <a:ext cx="6115047" cy="2386113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</a:schemeClr>
              </a:gs>
              <a:gs pos="100000">
                <a:schemeClr val="accent1">
                  <a:alpha val="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20002" y="7895224"/>
            <a:ext cx="18287999" cy="2396150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5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9AAC48A-5EEC-9CEA-DB56-C30CF2169B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0" y="8420100"/>
            <a:ext cx="12499239" cy="1679973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US" sz="3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Dashboard – Sales Analysis Insights GitHub Link </a:t>
            </a:r>
            <a:br>
              <a:rPr lang="en-US" sz="3000" dirty="0">
                <a:solidFill>
                  <a:schemeClr val="tx1">
                    <a:lumMod val="95000"/>
                    <a:lumOff val="5000"/>
                  </a:schemeClr>
                </a:solidFill>
              </a:rPr>
            </a:br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https://github.com/sarahelmyto/Depi-project-G.C</a:t>
            </a:r>
          </a:p>
          <a:p>
            <a:pPr marL="0" indent="0">
              <a:buNone/>
            </a:pPr>
            <a:endParaRPr lang="en-US" sz="3000" dirty="0">
              <a:solidFill>
                <a:schemeClr val="bg1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93A61F7-59AA-A8AC-C248-690F0DB8AF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003" y="-4375"/>
            <a:ext cx="18267997" cy="81581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0983756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spd="med">
        <p15:prstTrans prst="fallOver"/>
      </p:transition>
    </mc:Choice>
    <mc:Fallback xmlns="">
      <p:transition spd="med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FE18B4F-AC5F-DDAE-DABA-00265A99AC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1E1705E0-067F-AA41-1319-3869B172BB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8288000" cy="10287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844D38C-C4DE-09B6-17E6-BDFC53FD41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7899603"/>
            <a:ext cx="18287996" cy="2386113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/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19352FA2-78B1-178E-9977-659F6353B1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7905262"/>
            <a:ext cx="18277996" cy="2386113"/>
          </a:xfrm>
          <a:prstGeom prst="rect">
            <a:avLst/>
          </a:prstGeom>
          <a:gradFill>
            <a:gsLst>
              <a:gs pos="0">
                <a:schemeClr val="accent1">
                  <a:alpha val="0"/>
                </a:schemeClr>
              </a:gs>
              <a:gs pos="100000">
                <a:schemeClr val="accent1">
                  <a:lumMod val="50000"/>
                </a:schemeClr>
              </a:gs>
            </a:gsLst>
            <a:lin ang="10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942D4635-E8E2-E1B3-9F04-A03C593229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2172948" y="7898319"/>
            <a:ext cx="6115047" cy="2386113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</a:schemeClr>
              </a:gs>
              <a:gs pos="100000">
                <a:schemeClr val="accent1">
                  <a:alpha val="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01A9B470-A40C-17B1-C705-1AECEB9242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20002" y="7895224"/>
            <a:ext cx="18287999" cy="2396150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5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909E163-C4A4-6236-241F-9F80BCCE04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0" y="8420100"/>
            <a:ext cx="12499239" cy="1679973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US" sz="3000" dirty="0">
                <a:solidFill>
                  <a:schemeClr val="bg1"/>
                </a:solidFill>
              </a:rPr>
              <a:t>Dashboard – Sales Analysis Insights GitHub Link </a:t>
            </a:r>
            <a:br>
              <a:rPr lang="en-US" sz="3000" dirty="0">
                <a:solidFill>
                  <a:schemeClr val="bg1"/>
                </a:solidFill>
              </a:rPr>
            </a:br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https://github.com/sarahelmyto/Depi-project-G.C</a:t>
            </a:r>
          </a:p>
          <a:p>
            <a:pPr marL="0" indent="0">
              <a:buNone/>
            </a:pPr>
            <a:endParaRPr lang="en-US" sz="3000" dirty="0">
              <a:solidFill>
                <a:schemeClr val="bg1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EEB7237-EDAC-A4A9-8971-D2EECB06A3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003" y="1283"/>
            <a:ext cx="18247994" cy="78996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0328714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spd="med">
        <p15:prstTrans prst="fallOver"/>
      </p:transition>
    </mc:Choice>
    <mc:Fallback xmlns="">
      <p:transition spd="med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6365461-181D-BF77-3324-1808C3C2A9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B7956FBF-1225-44AA-8D19-833B10AB7F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8288000" cy="10287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E98D90E-7887-D753-926B-1516BFD212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7899603"/>
            <a:ext cx="18287996" cy="2386113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/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502EE8CA-47A3-858B-CC90-DC6AF79936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7905262"/>
            <a:ext cx="18277996" cy="2386113"/>
          </a:xfrm>
          <a:prstGeom prst="rect">
            <a:avLst/>
          </a:prstGeom>
          <a:gradFill>
            <a:gsLst>
              <a:gs pos="0">
                <a:schemeClr val="accent1">
                  <a:alpha val="0"/>
                </a:schemeClr>
              </a:gs>
              <a:gs pos="100000">
                <a:schemeClr val="accent1">
                  <a:lumMod val="50000"/>
                </a:schemeClr>
              </a:gs>
            </a:gsLst>
            <a:lin ang="10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5639289E-A358-5FA4-9982-3CFE2F0E82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2172948" y="7898319"/>
            <a:ext cx="6115047" cy="2386113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</a:schemeClr>
              </a:gs>
              <a:gs pos="100000">
                <a:schemeClr val="accent1">
                  <a:alpha val="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B70EE561-0615-B17B-55D0-6AFE9D7ACB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20002" y="7895224"/>
            <a:ext cx="18287999" cy="2396150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5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37D89DC-2F73-DAC2-2EFC-C97C48AD81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0" y="8420100"/>
            <a:ext cx="12499239" cy="1679973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US" sz="3000" dirty="0">
                <a:solidFill>
                  <a:schemeClr val="bg1"/>
                </a:solidFill>
              </a:rPr>
              <a:t>Dashboard – Sales Analysis Insights GitHub Link </a:t>
            </a:r>
            <a:br>
              <a:rPr lang="en-US" sz="3000" dirty="0">
                <a:solidFill>
                  <a:schemeClr val="bg1"/>
                </a:solidFill>
              </a:rPr>
            </a:br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https://github.com/sarahelmyto/Depi-project-G.C</a:t>
            </a:r>
          </a:p>
          <a:p>
            <a:pPr marL="0" indent="0">
              <a:buNone/>
            </a:pPr>
            <a:endParaRPr lang="en-US" sz="3000" dirty="0">
              <a:solidFill>
                <a:schemeClr val="bg1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7F25FD2-C232-B8E0-74A9-8F7280DB24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40005" y="1284"/>
            <a:ext cx="18308002" cy="78882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0461394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spd="med">
        <p15:prstTrans prst="fallOver"/>
      </p:transition>
    </mc:Choice>
    <mc:Fallback xmlns="">
      <p:transition spd="med"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3C08093-0D6C-1515-6EB1-0E1AA0DCAD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C9F9792D-C5A5-2B86-1095-39F415E059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8288000" cy="10287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8D7DADC-EB9D-0876-7080-B7EE1A0C9F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7899603"/>
            <a:ext cx="18287996" cy="2386113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/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CA3C6908-D3E5-CD82-F13D-1533A6698C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7905262"/>
            <a:ext cx="18277996" cy="2386113"/>
          </a:xfrm>
          <a:prstGeom prst="rect">
            <a:avLst/>
          </a:prstGeom>
          <a:gradFill>
            <a:gsLst>
              <a:gs pos="0">
                <a:schemeClr val="accent1">
                  <a:alpha val="0"/>
                </a:schemeClr>
              </a:gs>
              <a:gs pos="100000">
                <a:schemeClr val="accent1">
                  <a:lumMod val="50000"/>
                </a:schemeClr>
              </a:gs>
            </a:gsLst>
            <a:lin ang="10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5AB7C193-58FA-823F-41EE-73A6CCD69B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2172948" y="7898319"/>
            <a:ext cx="6115047" cy="2386113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</a:schemeClr>
              </a:gs>
              <a:gs pos="100000">
                <a:schemeClr val="accent1">
                  <a:alpha val="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3E7388F2-9CA2-D68F-9B2B-699D47AD6C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20002" y="7895224"/>
            <a:ext cx="18287999" cy="2396150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5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008446A-BFB2-BE0A-3930-190E513E0F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0" y="8420100"/>
            <a:ext cx="12499239" cy="1679973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US" sz="3000" dirty="0">
                <a:solidFill>
                  <a:schemeClr val="bg1"/>
                </a:solidFill>
              </a:rPr>
              <a:t>Dashboard – Sales Analysis Insights GitHub Link </a:t>
            </a:r>
            <a:br>
              <a:rPr lang="en-US" sz="3000" dirty="0">
                <a:solidFill>
                  <a:schemeClr val="bg1"/>
                </a:solidFill>
              </a:rPr>
            </a:br>
            <a:r>
              <a:rPr lang="en-US" sz="28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https://github.com/sarahelmyto/Depi-project-G.C</a:t>
            </a:r>
          </a:p>
          <a:p>
            <a:pPr marL="0" indent="0">
              <a:buNone/>
            </a:pPr>
            <a:endParaRPr lang="en-US" sz="3000" dirty="0">
              <a:solidFill>
                <a:schemeClr val="bg1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627EBA6-AF54-E955-8955-DC7A3AA233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0007" y="1284"/>
            <a:ext cx="18287999" cy="77183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4208157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spd="med">
        <p15:prstTrans prst="fallOver"/>
      </p:transition>
    </mc:Choice>
    <mc:Fallback xmlns="">
      <p:transition spd="med">
        <p:fad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CF249ED-FDA1-12FC-968E-1F628353D6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1822B599-9BD5-9B5D-6158-931DDAB9B1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8288000" cy="10287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A person reaching for a paper on a table full of paper and sticky notes">
            <a:extLst>
              <a:ext uri="{FF2B5EF4-FFF2-40B4-BE49-F238E27FC236}">
                <a16:creationId xmlns:a16="http://schemas.microsoft.com/office/drawing/2014/main" id="{216A8F73-E4CA-194F-B949-FAC890A46FA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3934" r="14927"/>
          <a:stretch>
            <a:fillRect/>
          </a:stretch>
        </p:blipFill>
        <p:spPr>
          <a:xfrm>
            <a:off x="7324533" y="10"/>
            <a:ext cx="10963467" cy="10286990"/>
          </a:xfrm>
          <a:custGeom>
            <a:avLst/>
            <a:gdLst/>
            <a:ahLst/>
            <a:cxnLst/>
            <a:rect l="l" t="t" r="r" b="b"/>
            <a:pathLst>
              <a:path w="7308978" h="6858000">
                <a:moveTo>
                  <a:pt x="0" y="0"/>
                </a:moveTo>
                <a:lnTo>
                  <a:pt x="7308978" y="0"/>
                </a:lnTo>
                <a:lnTo>
                  <a:pt x="7308978" y="6858000"/>
                </a:lnTo>
                <a:lnTo>
                  <a:pt x="0" y="6858000"/>
                </a:lnTo>
                <a:lnTo>
                  <a:pt x="62983" y="6788730"/>
                </a:lnTo>
                <a:cubicBezTo>
                  <a:pt x="773509" y="5928900"/>
                  <a:pt x="1212978" y="4741056"/>
                  <a:pt x="1212978" y="3429000"/>
                </a:cubicBezTo>
                <a:cubicBezTo>
                  <a:pt x="1212978" y="2116944"/>
                  <a:pt x="773509" y="929100"/>
                  <a:pt x="62983" y="69271"/>
                </a:cubicBezTo>
                <a:close/>
              </a:path>
            </a:pathLst>
          </a:custGeom>
        </p:spPr>
      </p:pic>
      <p:sp useBgFill="1">
        <p:nvSpPr>
          <p:cNvPr id="17" name="Freeform: Shape 16">
            <a:extLst>
              <a:ext uri="{FF2B5EF4-FFF2-40B4-BE49-F238E27FC236}">
                <a16:creationId xmlns:a16="http://schemas.microsoft.com/office/drawing/2014/main" id="{8F9B6A5E-5F64-7FE5-C1DD-87C2BAACB8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1" cy="10287000"/>
          </a:xfrm>
          <a:custGeom>
            <a:avLst/>
            <a:gdLst>
              <a:gd name="connsiteX0" fmla="*/ 0 w 6096001"/>
              <a:gd name="connsiteY0" fmla="*/ 0 h 6858000"/>
              <a:gd name="connsiteX1" fmla="*/ 4883023 w 6096001"/>
              <a:gd name="connsiteY1" fmla="*/ 0 h 6858000"/>
              <a:gd name="connsiteX2" fmla="*/ 4946006 w 6096001"/>
              <a:gd name="connsiteY2" fmla="*/ 69271 h 6858000"/>
              <a:gd name="connsiteX3" fmla="*/ 6096001 w 6096001"/>
              <a:gd name="connsiteY3" fmla="*/ 3429000 h 6858000"/>
              <a:gd name="connsiteX4" fmla="*/ 4946006 w 6096001"/>
              <a:gd name="connsiteY4" fmla="*/ 6788730 h 6858000"/>
              <a:gd name="connsiteX5" fmla="*/ 4883023 w 6096001"/>
              <a:gd name="connsiteY5" fmla="*/ 6858000 h 6858000"/>
              <a:gd name="connsiteX6" fmla="*/ 0 w 609600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096001" h="6858000">
                <a:moveTo>
                  <a:pt x="0" y="0"/>
                </a:moveTo>
                <a:lnTo>
                  <a:pt x="4883023" y="0"/>
                </a:lnTo>
                <a:lnTo>
                  <a:pt x="4946006" y="69271"/>
                </a:lnTo>
                <a:cubicBezTo>
                  <a:pt x="5656532" y="929100"/>
                  <a:pt x="6096001" y="2116944"/>
                  <a:pt x="6096001" y="3429000"/>
                </a:cubicBezTo>
                <a:cubicBezTo>
                  <a:pt x="6096001" y="4741056"/>
                  <a:pt x="5656532" y="5928900"/>
                  <a:pt x="4946006" y="6788730"/>
                </a:cubicBezTo>
                <a:lnTo>
                  <a:pt x="4883023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rgbClr val="EFEFEF"/>
            </a:solidFill>
          </a:ln>
          <a:effectLst>
            <a:outerShdw blurRad="50800" dist="38100" algn="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4" name="Freeform: Shape 13">
            <a:extLst>
              <a:ext uri="{FF2B5EF4-FFF2-40B4-BE49-F238E27FC236}">
                <a16:creationId xmlns:a16="http://schemas.microsoft.com/office/drawing/2014/main" id="{77A3D07D-6D23-31DA-61B0-683DED76D2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30285" cy="10287000"/>
          </a:xfrm>
          <a:custGeom>
            <a:avLst/>
            <a:gdLst>
              <a:gd name="connsiteX0" fmla="*/ 0 w 6086857"/>
              <a:gd name="connsiteY0" fmla="*/ 0 h 6858000"/>
              <a:gd name="connsiteX1" fmla="*/ 4873879 w 6086857"/>
              <a:gd name="connsiteY1" fmla="*/ 0 h 6858000"/>
              <a:gd name="connsiteX2" fmla="*/ 4936862 w 6086857"/>
              <a:gd name="connsiteY2" fmla="*/ 69271 h 6858000"/>
              <a:gd name="connsiteX3" fmla="*/ 6086857 w 6086857"/>
              <a:gd name="connsiteY3" fmla="*/ 3429000 h 6858000"/>
              <a:gd name="connsiteX4" fmla="*/ 4936862 w 6086857"/>
              <a:gd name="connsiteY4" fmla="*/ 6788730 h 6858000"/>
              <a:gd name="connsiteX5" fmla="*/ 4873879 w 6086857"/>
              <a:gd name="connsiteY5" fmla="*/ 6858000 h 6858000"/>
              <a:gd name="connsiteX6" fmla="*/ 0 w 608685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086857" h="6858000">
                <a:moveTo>
                  <a:pt x="0" y="0"/>
                </a:moveTo>
                <a:lnTo>
                  <a:pt x="4873879" y="0"/>
                </a:lnTo>
                <a:lnTo>
                  <a:pt x="4936862" y="69271"/>
                </a:lnTo>
                <a:cubicBezTo>
                  <a:pt x="5647388" y="929100"/>
                  <a:pt x="6086857" y="2116944"/>
                  <a:pt x="6086857" y="3429000"/>
                </a:cubicBezTo>
                <a:cubicBezTo>
                  <a:pt x="6086857" y="4741056"/>
                  <a:pt x="5647388" y="5928900"/>
                  <a:pt x="4936862" y="6788730"/>
                </a:cubicBezTo>
                <a:lnTo>
                  <a:pt x="4873879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896426B-0124-D98D-30DC-B0C45E5407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2356" y="1284732"/>
            <a:ext cx="7488936" cy="1865376"/>
          </a:xfrm>
        </p:spPr>
        <p:txBody>
          <a:bodyPr anchor="ctr">
            <a:normAutofit/>
          </a:bodyPr>
          <a:lstStyle/>
          <a:p>
            <a:r>
              <a:rPr lang="en-US" sz="5100" b="1" u="sng"/>
              <a:t>Table of content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FF4D48E-3363-4D97-8C4F-FA69526FA8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686487"/>
            <a:ext cx="192024" cy="98085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8489D1E-2918-7A2F-350E-C5BEFD5449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56653" y="3293004"/>
            <a:ext cx="7475220" cy="27432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63FFC3-C643-4FB4-A0BE-5826EF3A52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2356" y="3784423"/>
            <a:ext cx="7598664" cy="5103545"/>
          </a:xfrm>
        </p:spPr>
        <p:txBody>
          <a:bodyPr anchor="t">
            <a:normAutofit/>
          </a:bodyPr>
          <a:lstStyle/>
          <a:p>
            <a:pPr marL="771525" indent="-771525">
              <a:lnSpc>
                <a:spcPct val="150000"/>
              </a:lnSpc>
              <a:buFont typeface="+mj-lt"/>
              <a:buAutoNum type="arabicPeriod"/>
            </a:pPr>
            <a:r>
              <a:rPr lang="en-US" sz="3000" dirty="0"/>
              <a:t>Project overview &amp; Executive summary </a:t>
            </a:r>
          </a:p>
          <a:p>
            <a:pPr marL="771525" indent="-771525">
              <a:lnSpc>
                <a:spcPct val="150000"/>
              </a:lnSpc>
              <a:buFont typeface="+mj-lt"/>
              <a:buAutoNum type="arabicPeriod"/>
            </a:pPr>
            <a:r>
              <a:rPr lang="en-US" sz="3000" dirty="0"/>
              <a:t>Data preparation and transformation</a:t>
            </a:r>
          </a:p>
          <a:p>
            <a:pPr marL="771525" indent="-771525">
              <a:lnSpc>
                <a:spcPct val="150000"/>
              </a:lnSpc>
              <a:buFont typeface="+mj-lt"/>
              <a:buAutoNum type="arabicPeriod"/>
            </a:pPr>
            <a:r>
              <a:rPr lang="en-US" sz="3000" dirty="0"/>
              <a:t>Project Analysis step</a:t>
            </a:r>
          </a:p>
          <a:p>
            <a:pPr marL="771525" indent="-771525">
              <a:lnSpc>
                <a:spcPct val="150000"/>
              </a:lnSpc>
              <a:buFont typeface="+mj-lt"/>
              <a:buAutoNum type="arabicPeriod"/>
            </a:pPr>
            <a:r>
              <a:rPr lang="en-US" sz="3000" dirty="0"/>
              <a:t>Visualization</a:t>
            </a:r>
          </a:p>
          <a:p>
            <a:pPr marL="771525" indent="-771525">
              <a:lnSpc>
                <a:spcPct val="150000"/>
              </a:lnSpc>
              <a:buFont typeface="+mj-lt"/>
              <a:buAutoNum type="arabicPeriod"/>
            </a:pPr>
            <a:r>
              <a:rPr lang="en-US" sz="3000" b="1" dirty="0"/>
              <a:t>Recommendation</a:t>
            </a:r>
          </a:p>
          <a:p>
            <a:pPr marL="771525" indent="-771525">
              <a:buFont typeface="+mj-lt"/>
              <a:buAutoNum type="arabicPeriod"/>
            </a:pPr>
            <a:endParaRPr lang="en-US" sz="3000" dirty="0"/>
          </a:p>
          <a:p>
            <a:pPr marL="771525" indent="-771525">
              <a:buFont typeface="+mj-lt"/>
              <a:buAutoNum type="arabicPeriod"/>
            </a:pPr>
            <a:endParaRPr lang="en-US" sz="3000" dirty="0"/>
          </a:p>
          <a:p>
            <a:pPr marL="771525" indent="-771525">
              <a:buFont typeface="+mj-lt"/>
              <a:buAutoNum type="arabicPeriod"/>
            </a:pPr>
            <a:endParaRPr lang="en-US" sz="3000" dirty="0"/>
          </a:p>
        </p:txBody>
      </p:sp>
    </p:spTree>
    <p:extLst>
      <p:ext uri="{BB962C8B-B14F-4D97-AF65-F5344CB8AC3E}">
        <p14:creationId xmlns:p14="http://schemas.microsoft.com/office/powerpoint/2010/main" val="84818914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89068E-9FB0-1CBC-CD0A-28D371BD9E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71A8C503-DFDB-6AE4-505F-C4D95A07CAE8}"/>
              </a:ext>
            </a:extLst>
          </p:cNvPr>
          <p:cNvSpPr/>
          <p:nvPr/>
        </p:nvSpPr>
        <p:spPr>
          <a:xfrm>
            <a:off x="96065" y="-1152663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2813" t="-22813"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F5BE926D-9302-F03A-50AF-4510AA185A99}"/>
              </a:ext>
            </a:extLst>
          </p:cNvPr>
          <p:cNvSpPr/>
          <p:nvPr/>
        </p:nvSpPr>
        <p:spPr>
          <a:xfrm flipH="1" flipV="1">
            <a:off x="13297050" y="-2137660"/>
            <a:ext cx="4989436" cy="5661772"/>
          </a:xfrm>
          <a:custGeom>
            <a:avLst/>
            <a:gdLst/>
            <a:ahLst/>
            <a:cxnLst/>
            <a:rect l="l" t="t" r="r" b="b"/>
            <a:pathLst>
              <a:path w="4989436" h="5661772">
                <a:moveTo>
                  <a:pt x="4989437" y="5661772"/>
                </a:moveTo>
                <a:lnTo>
                  <a:pt x="0" y="5661772"/>
                </a:lnTo>
                <a:lnTo>
                  <a:pt x="0" y="0"/>
                </a:lnTo>
                <a:lnTo>
                  <a:pt x="4989437" y="0"/>
                </a:lnTo>
                <a:lnTo>
                  <a:pt x="4989437" y="5661772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>
            <a:extLst>
              <a:ext uri="{FF2B5EF4-FFF2-40B4-BE49-F238E27FC236}">
                <a16:creationId xmlns:a16="http://schemas.microsoft.com/office/drawing/2014/main" id="{0672D1D5-0CCB-A861-FD33-3E48C0FA9DE4}"/>
              </a:ext>
            </a:extLst>
          </p:cNvPr>
          <p:cNvSpPr/>
          <p:nvPr/>
        </p:nvSpPr>
        <p:spPr>
          <a:xfrm flipV="1">
            <a:off x="1513" y="-2137660"/>
            <a:ext cx="4989436" cy="5661772"/>
          </a:xfrm>
          <a:custGeom>
            <a:avLst/>
            <a:gdLst/>
            <a:ahLst/>
            <a:cxnLst/>
            <a:rect l="l" t="t" r="r" b="b"/>
            <a:pathLst>
              <a:path w="4989436" h="5661772">
                <a:moveTo>
                  <a:pt x="0" y="5661772"/>
                </a:moveTo>
                <a:lnTo>
                  <a:pt x="4989437" y="5661772"/>
                </a:lnTo>
                <a:lnTo>
                  <a:pt x="4989437" y="0"/>
                </a:lnTo>
                <a:lnTo>
                  <a:pt x="0" y="0"/>
                </a:lnTo>
                <a:lnTo>
                  <a:pt x="0" y="5661772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Freeform 5">
            <a:extLst>
              <a:ext uri="{FF2B5EF4-FFF2-40B4-BE49-F238E27FC236}">
                <a16:creationId xmlns:a16="http://schemas.microsoft.com/office/drawing/2014/main" id="{96357612-C6EA-F59A-392C-66652EF52457}"/>
              </a:ext>
            </a:extLst>
          </p:cNvPr>
          <p:cNvSpPr/>
          <p:nvPr/>
        </p:nvSpPr>
        <p:spPr>
          <a:xfrm flipH="1">
            <a:off x="16496883" y="5108189"/>
            <a:ext cx="4989436" cy="5661772"/>
          </a:xfrm>
          <a:custGeom>
            <a:avLst/>
            <a:gdLst/>
            <a:ahLst/>
            <a:cxnLst/>
            <a:rect l="l" t="t" r="r" b="b"/>
            <a:pathLst>
              <a:path w="4989436" h="5661772">
                <a:moveTo>
                  <a:pt x="4989437" y="0"/>
                </a:moveTo>
                <a:lnTo>
                  <a:pt x="0" y="0"/>
                </a:lnTo>
                <a:lnTo>
                  <a:pt x="0" y="5661771"/>
                </a:lnTo>
                <a:lnTo>
                  <a:pt x="4989437" y="5661771"/>
                </a:lnTo>
                <a:lnTo>
                  <a:pt x="4989437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Freeform 6">
            <a:extLst>
              <a:ext uri="{FF2B5EF4-FFF2-40B4-BE49-F238E27FC236}">
                <a16:creationId xmlns:a16="http://schemas.microsoft.com/office/drawing/2014/main" id="{AD05A41C-59E4-8E39-F8E8-7D3A9E24CF63}"/>
              </a:ext>
            </a:extLst>
          </p:cNvPr>
          <p:cNvSpPr/>
          <p:nvPr/>
        </p:nvSpPr>
        <p:spPr>
          <a:xfrm>
            <a:off x="-3198320" y="5108189"/>
            <a:ext cx="4989436" cy="5661772"/>
          </a:xfrm>
          <a:custGeom>
            <a:avLst/>
            <a:gdLst/>
            <a:ahLst/>
            <a:cxnLst/>
            <a:rect l="l" t="t" r="r" b="b"/>
            <a:pathLst>
              <a:path w="4989436" h="5661772">
                <a:moveTo>
                  <a:pt x="0" y="0"/>
                </a:moveTo>
                <a:lnTo>
                  <a:pt x="4989437" y="0"/>
                </a:lnTo>
                <a:lnTo>
                  <a:pt x="4989437" y="5661771"/>
                </a:lnTo>
                <a:lnTo>
                  <a:pt x="0" y="566177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9EC8F89E-D07F-935B-5433-56719AF0033C}"/>
              </a:ext>
            </a:extLst>
          </p:cNvPr>
          <p:cNvSpPr txBox="1"/>
          <p:nvPr/>
        </p:nvSpPr>
        <p:spPr>
          <a:xfrm>
            <a:off x="2906814" y="-99679"/>
            <a:ext cx="12253955" cy="13012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704"/>
              </a:lnSpc>
              <a:spcBef>
                <a:spcPct val="0"/>
              </a:spcBef>
            </a:pPr>
            <a:r>
              <a:rPr lang="en-US" sz="7646" b="1" dirty="0">
                <a:solidFill>
                  <a:srgbClr val="00060D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STRATEGIC</a:t>
            </a:r>
          </a:p>
        </p:txBody>
      </p:sp>
      <p:grpSp>
        <p:nvGrpSpPr>
          <p:cNvPr id="8" name="Group 8">
            <a:extLst>
              <a:ext uri="{FF2B5EF4-FFF2-40B4-BE49-F238E27FC236}">
                <a16:creationId xmlns:a16="http://schemas.microsoft.com/office/drawing/2014/main" id="{EE0DC163-6CF8-BB7D-B152-2C19AF569057}"/>
              </a:ext>
            </a:extLst>
          </p:cNvPr>
          <p:cNvGrpSpPr/>
          <p:nvPr/>
        </p:nvGrpSpPr>
        <p:grpSpPr>
          <a:xfrm rot="1816035">
            <a:off x="-566561" y="-953124"/>
            <a:ext cx="1473413" cy="3404505"/>
            <a:chOff x="0" y="0"/>
            <a:chExt cx="388059" cy="896660"/>
          </a:xfrm>
        </p:grpSpPr>
        <p:sp>
          <p:nvSpPr>
            <p:cNvPr id="9" name="Freeform 9">
              <a:extLst>
                <a:ext uri="{FF2B5EF4-FFF2-40B4-BE49-F238E27FC236}">
                  <a16:creationId xmlns:a16="http://schemas.microsoft.com/office/drawing/2014/main" id="{2EFDCF20-2F8B-B41B-4F3B-86AEBE059653}"/>
                </a:ext>
              </a:extLst>
            </p:cNvPr>
            <p:cNvSpPr/>
            <p:nvPr/>
          </p:nvSpPr>
          <p:spPr>
            <a:xfrm>
              <a:off x="0" y="0"/>
              <a:ext cx="388059" cy="896660"/>
            </a:xfrm>
            <a:custGeom>
              <a:avLst/>
              <a:gdLst/>
              <a:ahLst/>
              <a:cxnLst/>
              <a:rect l="l" t="t" r="r" b="b"/>
              <a:pathLst>
                <a:path w="388059" h="896660">
                  <a:moveTo>
                    <a:pt x="0" y="0"/>
                  </a:moveTo>
                  <a:lnTo>
                    <a:pt x="388059" y="0"/>
                  </a:lnTo>
                  <a:lnTo>
                    <a:pt x="388059" y="896660"/>
                  </a:lnTo>
                  <a:lnTo>
                    <a:pt x="0" y="896660"/>
                  </a:lnTo>
                  <a:close/>
                </a:path>
              </a:pathLst>
            </a:custGeom>
            <a:gradFill rotWithShape="1">
              <a:gsLst>
                <a:gs pos="0">
                  <a:srgbClr val="002264">
                    <a:alpha val="100000"/>
                  </a:srgbClr>
                </a:gs>
                <a:gs pos="100000">
                  <a:srgbClr val="2D56A5">
                    <a:alpha val="100000"/>
                  </a:srgbClr>
                </a:gs>
              </a:gsLst>
              <a:lin ang="5400000"/>
            </a:gradFill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TextBox 10">
              <a:extLst>
                <a:ext uri="{FF2B5EF4-FFF2-40B4-BE49-F238E27FC236}">
                  <a16:creationId xmlns:a16="http://schemas.microsoft.com/office/drawing/2014/main" id="{4F887EC9-AE7D-FD0A-E13C-0427202ADF8B}"/>
                </a:ext>
              </a:extLst>
            </p:cNvPr>
            <p:cNvSpPr txBox="1"/>
            <p:nvPr/>
          </p:nvSpPr>
          <p:spPr>
            <a:xfrm>
              <a:off x="0" y="-38100"/>
              <a:ext cx="388059" cy="93476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1" name="Group 11">
            <a:extLst>
              <a:ext uri="{FF2B5EF4-FFF2-40B4-BE49-F238E27FC236}">
                <a16:creationId xmlns:a16="http://schemas.microsoft.com/office/drawing/2014/main" id="{571C0F49-3485-D2E6-E5E6-2E9A4D920441}"/>
              </a:ext>
            </a:extLst>
          </p:cNvPr>
          <p:cNvGrpSpPr/>
          <p:nvPr/>
        </p:nvGrpSpPr>
        <p:grpSpPr>
          <a:xfrm rot="-1818000">
            <a:off x="17380520" y="-953124"/>
            <a:ext cx="1473413" cy="3404505"/>
            <a:chOff x="0" y="0"/>
            <a:chExt cx="388059" cy="896660"/>
          </a:xfrm>
        </p:grpSpPr>
        <p:sp>
          <p:nvSpPr>
            <p:cNvPr id="12" name="Freeform 12">
              <a:extLst>
                <a:ext uri="{FF2B5EF4-FFF2-40B4-BE49-F238E27FC236}">
                  <a16:creationId xmlns:a16="http://schemas.microsoft.com/office/drawing/2014/main" id="{F6326CB6-D9D8-1092-87E9-8F8AFB600317}"/>
                </a:ext>
              </a:extLst>
            </p:cNvPr>
            <p:cNvSpPr/>
            <p:nvPr/>
          </p:nvSpPr>
          <p:spPr>
            <a:xfrm>
              <a:off x="0" y="0"/>
              <a:ext cx="388059" cy="896660"/>
            </a:xfrm>
            <a:custGeom>
              <a:avLst/>
              <a:gdLst/>
              <a:ahLst/>
              <a:cxnLst/>
              <a:rect l="l" t="t" r="r" b="b"/>
              <a:pathLst>
                <a:path w="388059" h="896660">
                  <a:moveTo>
                    <a:pt x="0" y="0"/>
                  </a:moveTo>
                  <a:lnTo>
                    <a:pt x="388059" y="0"/>
                  </a:lnTo>
                  <a:lnTo>
                    <a:pt x="388059" y="896660"/>
                  </a:lnTo>
                  <a:lnTo>
                    <a:pt x="0" y="896660"/>
                  </a:lnTo>
                  <a:close/>
                </a:path>
              </a:pathLst>
            </a:custGeom>
            <a:gradFill rotWithShape="1">
              <a:gsLst>
                <a:gs pos="0">
                  <a:srgbClr val="002264">
                    <a:alpha val="100000"/>
                  </a:srgbClr>
                </a:gs>
                <a:gs pos="100000">
                  <a:srgbClr val="2D56A5">
                    <a:alpha val="100000"/>
                  </a:srgbClr>
                </a:gs>
              </a:gsLst>
              <a:lin ang="5400000"/>
            </a:gradFill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TextBox 13">
              <a:extLst>
                <a:ext uri="{FF2B5EF4-FFF2-40B4-BE49-F238E27FC236}">
                  <a16:creationId xmlns:a16="http://schemas.microsoft.com/office/drawing/2014/main" id="{CF7FDCC0-F1D0-C5A8-2EAA-26CFA4EDBCA0}"/>
                </a:ext>
              </a:extLst>
            </p:cNvPr>
            <p:cNvSpPr txBox="1"/>
            <p:nvPr/>
          </p:nvSpPr>
          <p:spPr>
            <a:xfrm>
              <a:off x="0" y="-38100"/>
              <a:ext cx="388059" cy="93476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4" name="Freeform 14">
            <a:extLst>
              <a:ext uri="{FF2B5EF4-FFF2-40B4-BE49-F238E27FC236}">
                <a16:creationId xmlns:a16="http://schemas.microsoft.com/office/drawing/2014/main" id="{D4BF325A-6305-9BEA-F633-0149F5974E5E}"/>
              </a:ext>
            </a:extLst>
          </p:cNvPr>
          <p:cNvSpPr/>
          <p:nvPr/>
        </p:nvSpPr>
        <p:spPr>
          <a:xfrm>
            <a:off x="3895720" y="1028700"/>
            <a:ext cx="764904" cy="406407"/>
          </a:xfrm>
          <a:custGeom>
            <a:avLst/>
            <a:gdLst/>
            <a:ahLst/>
            <a:cxnLst/>
            <a:rect l="l" t="t" r="r" b="b"/>
            <a:pathLst>
              <a:path w="764904" h="406407">
                <a:moveTo>
                  <a:pt x="0" y="0"/>
                </a:moveTo>
                <a:lnTo>
                  <a:pt x="764904" y="0"/>
                </a:lnTo>
                <a:lnTo>
                  <a:pt x="764904" y="406407"/>
                </a:lnTo>
                <a:lnTo>
                  <a:pt x="0" y="406407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r="-111469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5" name="Freeform 15">
            <a:extLst>
              <a:ext uri="{FF2B5EF4-FFF2-40B4-BE49-F238E27FC236}">
                <a16:creationId xmlns:a16="http://schemas.microsoft.com/office/drawing/2014/main" id="{5523CC07-18FE-80AE-6946-8041905C622E}"/>
              </a:ext>
            </a:extLst>
          </p:cNvPr>
          <p:cNvSpPr/>
          <p:nvPr/>
        </p:nvSpPr>
        <p:spPr>
          <a:xfrm flipH="1">
            <a:off x="13627376" y="1028700"/>
            <a:ext cx="764904" cy="406407"/>
          </a:xfrm>
          <a:custGeom>
            <a:avLst/>
            <a:gdLst/>
            <a:ahLst/>
            <a:cxnLst/>
            <a:rect l="l" t="t" r="r" b="b"/>
            <a:pathLst>
              <a:path w="764904" h="406407">
                <a:moveTo>
                  <a:pt x="764904" y="0"/>
                </a:moveTo>
                <a:lnTo>
                  <a:pt x="0" y="0"/>
                </a:lnTo>
                <a:lnTo>
                  <a:pt x="0" y="406407"/>
                </a:lnTo>
                <a:lnTo>
                  <a:pt x="764904" y="406407"/>
                </a:lnTo>
                <a:lnTo>
                  <a:pt x="764904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r="-111469"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16" name="Group 16">
            <a:extLst>
              <a:ext uri="{FF2B5EF4-FFF2-40B4-BE49-F238E27FC236}">
                <a16:creationId xmlns:a16="http://schemas.microsoft.com/office/drawing/2014/main" id="{6D2B6898-AAA6-4D2E-519B-DE0BC122F8EA}"/>
              </a:ext>
            </a:extLst>
          </p:cNvPr>
          <p:cNvGrpSpPr/>
          <p:nvPr/>
        </p:nvGrpSpPr>
        <p:grpSpPr>
          <a:xfrm>
            <a:off x="1043202" y="6169502"/>
            <a:ext cx="8115300" cy="3594297"/>
            <a:chOff x="0" y="0"/>
            <a:chExt cx="1577092" cy="698500"/>
          </a:xfrm>
        </p:grpSpPr>
        <p:sp>
          <p:nvSpPr>
            <p:cNvPr id="17" name="Freeform 17">
              <a:extLst>
                <a:ext uri="{FF2B5EF4-FFF2-40B4-BE49-F238E27FC236}">
                  <a16:creationId xmlns:a16="http://schemas.microsoft.com/office/drawing/2014/main" id="{D6884153-851E-676D-8E58-0F66D86A8453}"/>
                </a:ext>
              </a:extLst>
            </p:cNvPr>
            <p:cNvSpPr/>
            <p:nvPr/>
          </p:nvSpPr>
          <p:spPr>
            <a:xfrm>
              <a:off x="0" y="0"/>
              <a:ext cx="1577092" cy="698500"/>
            </a:xfrm>
            <a:custGeom>
              <a:avLst/>
              <a:gdLst/>
              <a:ahLst/>
              <a:cxnLst/>
              <a:rect l="l" t="t" r="r" b="b"/>
              <a:pathLst>
                <a:path w="1577092" h="698500">
                  <a:moveTo>
                    <a:pt x="1577092" y="349250"/>
                  </a:moveTo>
                  <a:lnTo>
                    <a:pt x="1373892" y="698500"/>
                  </a:lnTo>
                  <a:lnTo>
                    <a:pt x="203200" y="698500"/>
                  </a:lnTo>
                  <a:lnTo>
                    <a:pt x="0" y="349250"/>
                  </a:lnTo>
                  <a:lnTo>
                    <a:pt x="203200" y="0"/>
                  </a:lnTo>
                  <a:lnTo>
                    <a:pt x="1373892" y="0"/>
                  </a:lnTo>
                  <a:lnTo>
                    <a:pt x="1577092" y="349250"/>
                  </a:lnTo>
                  <a:close/>
                </a:path>
              </a:pathLst>
            </a:custGeom>
            <a:gradFill rotWithShape="1">
              <a:gsLst>
                <a:gs pos="0">
                  <a:srgbClr val="002264">
                    <a:alpha val="100000"/>
                  </a:srgbClr>
                </a:gs>
                <a:gs pos="100000">
                  <a:srgbClr val="2D56A5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TextBox 18">
              <a:extLst>
                <a:ext uri="{FF2B5EF4-FFF2-40B4-BE49-F238E27FC236}">
                  <a16:creationId xmlns:a16="http://schemas.microsoft.com/office/drawing/2014/main" id="{37FDCBB9-1EDF-9E48-B5E6-D4F2111B98BF}"/>
                </a:ext>
              </a:extLst>
            </p:cNvPr>
            <p:cNvSpPr txBox="1"/>
            <p:nvPr/>
          </p:nvSpPr>
          <p:spPr>
            <a:xfrm>
              <a:off x="114300" y="-38100"/>
              <a:ext cx="1348492" cy="7366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9" name="Group 19">
            <a:extLst>
              <a:ext uri="{FF2B5EF4-FFF2-40B4-BE49-F238E27FC236}">
                <a16:creationId xmlns:a16="http://schemas.microsoft.com/office/drawing/2014/main" id="{1CCC3B8C-FBBC-7A83-9116-D4778DA1AC0E}"/>
              </a:ext>
            </a:extLst>
          </p:cNvPr>
          <p:cNvGrpSpPr/>
          <p:nvPr/>
        </p:nvGrpSpPr>
        <p:grpSpPr>
          <a:xfrm>
            <a:off x="9263618" y="6149548"/>
            <a:ext cx="8115300" cy="3594297"/>
            <a:chOff x="0" y="0"/>
            <a:chExt cx="1577092" cy="698500"/>
          </a:xfrm>
        </p:grpSpPr>
        <p:sp>
          <p:nvSpPr>
            <p:cNvPr id="20" name="Freeform 20">
              <a:extLst>
                <a:ext uri="{FF2B5EF4-FFF2-40B4-BE49-F238E27FC236}">
                  <a16:creationId xmlns:a16="http://schemas.microsoft.com/office/drawing/2014/main" id="{5921918F-15C8-3163-EDDE-3BB440822018}"/>
                </a:ext>
              </a:extLst>
            </p:cNvPr>
            <p:cNvSpPr/>
            <p:nvPr/>
          </p:nvSpPr>
          <p:spPr>
            <a:xfrm>
              <a:off x="0" y="0"/>
              <a:ext cx="1577092" cy="698500"/>
            </a:xfrm>
            <a:custGeom>
              <a:avLst/>
              <a:gdLst/>
              <a:ahLst/>
              <a:cxnLst/>
              <a:rect l="l" t="t" r="r" b="b"/>
              <a:pathLst>
                <a:path w="1577092" h="698500">
                  <a:moveTo>
                    <a:pt x="1577092" y="349250"/>
                  </a:moveTo>
                  <a:lnTo>
                    <a:pt x="1373892" y="698500"/>
                  </a:lnTo>
                  <a:lnTo>
                    <a:pt x="203200" y="698500"/>
                  </a:lnTo>
                  <a:lnTo>
                    <a:pt x="0" y="349250"/>
                  </a:lnTo>
                  <a:lnTo>
                    <a:pt x="203200" y="0"/>
                  </a:lnTo>
                  <a:lnTo>
                    <a:pt x="1373892" y="0"/>
                  </a:lnTo>
                  <a:lnTo>
                    <a:pt x="1577092" y="349250"/>
                  </a:lnTo>
                  <a:close/>
                </a:path>
              </a:pathLst>
            </a:custGeom>
            <a:gradFill rotWithShape="1">
              <a:gsLst>
                <a:gs pos="0">
                  <a:srgbClr val="002264">
                    <a:alpha val="100000"/>
                  </a:srgbClr>
                </a:gs>
                <a:gs pos="100000">
                  <a:srgbClr val="2D56A5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US"/>
            </a:p>
          </p:txBody>
        </p:sp>
        <p:sp>
          <p:nvSpPr>
            <p:cNvPr id="21" name="TextBox 21">
              <a:extLst>
                <a:ext uri="{FF2B5EF4-FFF2-40B4-BE49-F238E27FC236}">
                  <a16:creationId xmlns:a16="http://schemas.microsoft.com/office/drawing/2014/main" id="{F9ED238A-5CBE-ACB8-2D25-EF5D4F7F8BCB}"/>
                </a:ext>
              </a:extLst>
            </p:cNvPr>
            <p:cNvSpPr txBox="1"/>
            <p:nvPr/>
          </p:nvSpPr>
          <p:spPr>
            <a:xfrm>
              <a:off x="114300" y="-38100"/>
              <a:ext cx="1348492" cy="7366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22" name="Group 22">
            <a:extLst>
              <a:ext uri="{FF2B5EF4-FFF2-40B4-BE49-F238E27FC236}">
                <a16:creationId xmlns:a16="http://schemas.microsoft.com/office/drawing/2014/main" id="{135E5575-E1EF-E04D-B072-C051BEE4232B}"/>
              </a:ext>
            </a:extLst>
          </p:cNvPr>
          <p:cNvGrpSpPr/>
          <p:nvPr/>
        </p:nvGrpSpPr>
        <p:grpSpPr>
          <a:xfrm>
            <a:off x="1286234" y="6350004"/>
            <a:ext cx="7747558" cy="3273366"/>
            <a:chOff x="0" y="0"/>
            <a:chExt cx="1653243" cy="698500"/>
          </a:xfrm>
        </p:grpSpPr>
        <p:sp>
          <p:nvSpPr>
            <p:cNvPr id="23" name="Freeform 23">
              <a:extLst>
                <a:ext uri="{FF2B5EF4-FFF2-40B4-BE49-F238E27FC236}">
                  <a16:creationId xmlns:a16="http://schemas.microsoft.com/office/drawing/2014/main" id="{82BD27D5-4D6B-D944-EF1B-7BE37583F15A}"/>
                </a:ext>
              </a:extLst>
            </p:cNvPr>
            <p:cNvSpPr/>
            <p:nvPr/>
          </p:nvSpPr>
          <p:spPr>
            <a:xfrm>
              <a:off x="0" y="0"/>
              <a:ext cx="1653243" cy="698500"/>
            </a:xfrm>
            <a:custGeom>
              <a:avLst/>
              <a:gdLst/>
              <a:ahLst/>
              <a:cxnLst/>
              <a:rect l="l" t="t" r="r" b="b"/>
              <a:pathLst>
                <a:path w="1653243" h="698500">
                  <a:moveTo>
                    <a:pt x="1653243" y="349250"/>
                  </a:moveTo>
                  <a:lnTo>
                    <a:pt x="1450043" y="698500"/>
                  </a:lnTo>
                  <a:lnTo>
                    <a:pt x="203200" y="698500"/>
                  </a:lnTo>
                  <a:lnTo>
                    <a:pt x="0" y="349250"/>
                  </a:lnTo>
                  <a:lnTo>
                    <a:pt x="203200" y="0"/>
                  </a:lnTo>
                  <a:lnTo>
                    <a:pt x="1450043" y="0"/>
                  </a:lnTo>
                  <a:lnTo>
                    <a:pt x="1653243" y="349250"/>
                  </a:lnTo>
                  <a:close/>
                </a:path>
              </a:pathLst>
            </a:custGeom>
            <a:blipFill>
              <a:blip r:embed="rId7"/>
              <a:stretch>
                <a:fillRect t="-57691"/>
              </a:stretch>
            </a:blipFill>
            <a:ln w="123825" cap="sq">
              <a:gradFill>
                <a:gsLst>
                  <a:gs pos="0">
                    <a:srgbClr val="00060D">
                      <a:alpha val="100000"/>
                    </a:srgbClr>
                  </a:gs>
                  <a:gs pos="100000">
                    <a:srgbClr val="092C71">
                      <a:alpha val="0"/>
                    </a:srgbClr>
                  </a:gs>
                </a:gsLst>
                <a:lin ang="0"/>
              </a:gra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4" name="Group 24">
            <a:extLst>
              <a:ext uri="{FF2B5EF4-FFF2-40B4-BE49-F238E27FC236}">
                <a16:creationId xmlns:a16="http://schemas.microsoft.com/office/drawing/2014/main" id="{BDC03B4B-3788-11B7-2475-6A72E1B61C54}"/>
              </a:ext>
            </a:extLst>
          </p:cNvPr>
          <p:cNvGrpSpPr/>
          <p:nvPr/>
        </p:nvGrpSpPr>
        <p:grpSpPr>
          <a:xfrm>
            <a:off x="9449520" y="6310014"/>
            <a:ext cx="7747558" cy="3273366"/>
            <a:chOff x="0" y="0"/>
            <a:chExt cx="1653243" cy="698500"/>
          </a:xfrm>
        </p:grpSpPr>
        <p:sp>
          <p:nvSpPr>
            <p:cNvPr id="25" name="Freeform 25">
              <a:extLst>
                <a:ext uri="{FF2B5EF4-FFF2-40B4-BE49-F238E27FC236}">
                  <a16:creationId xmlns:a16="http://schemas.microsoft.com/office/drawing/2014/main" id="{77CC7ED9-85B5-E316-A839-FB04FA61E856}"/>
                </a:ext>
              </a:extLst>
            </p:cNvPr>
            <p:cNvSpPr/>
            <p:nvPr/>
          </p:nvSpPr>
          <p:spPr>
            <a:xfrm>
              <a:off x="0" y="0"/>
              <a:ext cx="1653243" cy="698500"/>
            </a:xfrm>
            <a:custGeom>
              <a:avLst/>
              <a:gdLst/>
              <a:ahLst/>
              <a:cxnLst/>
              <a:rect l="l" t="t" r="r" b="b"/>
              <a:pathLst>
                <a:path w="1653243" h="698500">
                  <a:moveTo>
                    <a:pt x="1653243" y="349250"/>
                  </a:moveTo>
                  <a:lnTo>
                    <a:pt x="1450043" y="698500"/>
                  </a:lnTo>
                  <a:lnTo>
                    <a:pt x="203200" y="698500"/>
                  </a:lnTo>
                  <a:lnTo>
                    <a:pt x="0" y="349250"/>
                  </a:lnTo>
                  <a:lnTo>
                    <a:pt x="203200" y="0"/>
                  </a:lnTo>
                  <a:lnTo>
                    <a:pt x="1450043" y="0"/>
                  </a:lnTo>
                  <a:lnTo>
                    <a:pt x="1653243" y="349250"/>
                  </a:lnTo>
                  <a:close/>
                </a:path>
              </a:pathLst>
            </a:custGeom>
            <a:blipFill>
              <a:blip r:embed="rId8"/>
              <a:stretch>
                <a:fillRect t="-28845" b="-28845"/>
              </a:stretch>
            </a:blipFill>
            <a:ln w="123825" cap="sq">
              <a:gradFill>
                <a:gsLst>
                  <a:gs pos="0">
                    <a:srgbClr val="00060D">
                      <a:alpha val="100000"/>
                    </a:srgbClr>
                  </a:gs>
                  <a:gs pos="100000">
                    <a:srgbClr val="092C71">
                      <a:alpha val="0"/>
                    </a:srgbClr>
                  </a:gs>
                </a:gsLst>
                <a:lin ang="0"/>
              </a:gra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6" name="Group 26">
            <a:extLst>
              <a:ext uri="{FF2B5EF4-FFF2-40B4-BE49-F238E27FC236}">
                <a16:creationId xmlns:a16="http://schemas.microsoft.com/office/drawing/2014/main" id="{5EED981F-F855-B7E6-9F33-87D824C6D4E9}"/>
              </a:ext>
            </a:extLst>
          </p:cNvPr>
          <p:cNvGrpSpPr/>
          <p:nvPr/>
        </p:nvGrpSpPr>
        <p:grpSpPr>
          <a:xfrm>
            <a:off x="0" y="10032423"/>
            <a:ext cx="18288000" cy="254577"/>
            <a:chOff x="0" y="0"/>
            <a:chExt cx="4816593" cy="67049"/>
          </a:xfrm>
        </p:grpSpPr>
        <p:sp>
          <p:nvSpPr>
            <p:cNvPr id="27" name="Freeform 27">
              <a:extLst>
                <a:ext uri="{FF2B5EF4-FFF2-40B4-BE49-F238E27FC236}">
                  <a16:creationId xmlns:a16="http://schemas.microsoft.com/office/drawing/2014/main" id="{96BE176A-6354-F741-2276-19D6FE906E88}"/>
                </a:ext>
              </a:extLst>
            </p:cNvPr>
            <p:cNvSpPr/>
            <p:nvPr/>
          </p:nvSpPr>
          <p:spPr>
            <a:xfrm>
              <a:off x="0" y="0"/>
              <a:ext cx="4816592" cy="67049"/>
            </a:xfrm>
            <a:custGeom>
              <a:avLst/>
              <a:gdLst/>
              <a:ahLst/>
              <a:cxnLst/>
              <a:rect l="l" t="t" r="r" b="b"/>
              <a:pathLst>
                <a:path w="4816592" h="67049">
                  <a:moveTo>
                    <a:pt x="0" y="0"/>
                  </a:moveTo>
                  <a:lnTo>
                    <a:pt x="4816592" y="0"/>
                  </a:lnTo>
                  <a:lnTo>
                    <a:pt x="4816592" y="67049"/>
                  </a:lnTo>
                  <a:lnTo>
                    <a:pt x="0" y="67049"/>
                  </a:lnTo>
                  <a:close/>
                </a:path>
              </a:pathLst>
            </a:custGeom>
            <a:gradFill rotWithShape="1">
              <a:gsLst>
                <a:gs pos="0">
                  <a:srgbClr val="002264">
                    <a:alpha val="100000"/>
                  </a:srgbClr>
                </a:gs>
                <a:gs pos="100000">
                  <a:srgbClr val="2D56A5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US"/>
            </a:p>
          </p:txBody>
        </p:sp>
        <p:sp>
          <p:nvSpPr>
            <p:cNvPr id="28" name="TextBox 28">
              <a:extLst>
                <a:ext uri="{FF2B5EF4-FFF2-40B4-BE49-F238E27FC236}">
                  <a16:creationId xmlns:a16="http://schemas.microsoft.com/office/drawing/2014/main" id="{649C1453-1A8A-EFBA-4AD4-B042EF521247}"/>
                </a:ext>
              </a:extLst>
            </p:cNvPr>
            <p:cNvSpPr txBox="1"/>
            <p:nvPr/>
          </p:nvSpPr>
          <p:spPr>
            <a:xfrm>
              <a:off x="0" y="-38100"/>
              <a:ext cx="4816593" cy="10514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9" name="TextBox 29">
            <a:extLst>
              <a:ext uri="{FF2B5EF4-FFF2-40B4-BE49-F238E27FC236}">
                <a16:creationId xmlns:a16="http://schemas.microsoft.com/office/drawing/2014/main" id="{E5B887D6-FFEF-DEE1-7C1D-5C2703341F62}"/>
              </a:ext>
            </a:extLst>
          </p:cNvPr>
          <p:cNvSpPr txBox="1"/>
          <p:nvPr/>
        </p:nvSpPr>
        <p:spPr>
          <a:xfrm>
            <a:off x="3042725" y="1051019"/>
            <a:ext cx="12253955" cy="13012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704"/>
              </a:lnSpc>
              <a:spcBef>
                <a:spcPct val="0"/>
              </a:spcBef>
            </a:pPr>
            <a:r>
              <a:rPr lang="en-US" sz="7646" b="1" dirty="0">
                <a:solidFill>
                  <a:srgbClr val="10347A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RECOMMENDATIONS</a:t>
            </a:r>
          </a:p>
        </p:txBody>
      </p:sp>
      <p:sp>
        <p:nvSpPr>
          <p:cNvPr id="32" name="Rectangle 2">
            <a:extLst>
              <a:ext uri="{FF2B5EF4-FFF2-40B4-BE49-F238E27FC236}">
                <a16:creationId xmlns:a16="http://schemas.microsoft.com/office/drawing/2014/main" id="{DACD8958-610C-A84F-FC73-FCA25ECF95A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86234" y="2306344"/>
            <a:ext cx="16330111" cy="418576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457200" marR="0" lvl="0" indent="-4572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Top Performing Products</a:t>
            </a: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2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 high-revenue products and allocate marketing and inventory resources accordingly.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Consider bundling or promotional strategies for products with moderate sales but high profit margins.</a:t>
            </a:r>
          </a:p>
          <a:p>
            <a:pPr marL="457200" marR="0" lvl="0" indent="-4572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Customer Segmentation</a:t>
            </a: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2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Identify loyal customers and develop targeted retention strategies.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Explore cross-selling and upselling opportunities for high-value segments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2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5239937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6259AA-5380-8CCB-A6CD-3156F83FF1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C555C127-F18A-1383-ABFD-CD19F640E1F8}"/>
              </a:ext>
            </a:extLst>
          </p:cNvPr>
          <p:cNvSpPr/>
          <p:nvPr/>
        </p:nvSpPr>
        <p:spPr>
          <a:xfrm>
            <a:off x="96065" y="-1152663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2813" t="-22813"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D16715AA-13F7-C3D1-36FE-5D55B7B4521E}"/>
              </a:ext>
            </a:extLst>
          </p:cNvPr>
          <p:cNvSpPr/>
          <p:nvPr/>
        </p:nvSpPr>
        <p:spPr>
          <a:xfrm flipH="1" flipV="1">
            <a:off x="13297050" y="-2137660"/>
            <a:ext cx="4989436" cy="5661772"/>
          </a:xfrm>
          <a:custGeom>
            <a:avLst/>
            <a:gdLst/>
            <a:ahLst/>
            <a:cxnLst/>
            <a:rect l="l" t="t" r="r" b="b"/>
            <a:pathLst>
              <a:path w="4989436" h="5661772">
                <a:moveTo>
                  <a:pt x="4989437" y="5661772"/>
                </a:moveTo>
                <a:lnTo>
                  <a:pt x="0" y="5661772"/>
                </a:lnTo>
                <a:lnTo>
                  <a:pt x="0" y="0"/>
                </a:lnTo>
                <a:lnTo>
                  <a:pt x="4989437" y="0"/>
                </a:lnTo>
                <a:lnTo>
                  <a:pt x="4989437" y="5661772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>
            <a:extLst>
              <a:ext uri="{FF2B5EF4-FFF2-40B4-BE49-F238E27FC236}">
                <a16:creationId xmlns:a16="http://schemas.microsoft.com/office/drawing/2014/main" id="{2F62603C-D49F-922B-E809-C527404E5EA8}"/>
              </a:ext>
            </a:extLst>
          </p:cNvPr>
          <p:cNvSpPr/>
          <p:nvPr/>
        </p:nvSpPr>
        <p:spPr>
          <a:xfrm flipV="1">
            <a:off x="1513" y="-2137660"/>
            <a:ext cx="4989436" cy="5661772"/>
          </a:xfrm>
          <a:custGeom>
            <a:avLst/>
            <a:gdLst/>
            <a:ahLst/>
            <a:cxnLst/>
            <a:rect l="l" t="t" r="r" b="b"/>
            <a:pathLst>
              <a:path w="4989436" h="5661772">
                <a:moveTo>
                  <a:pt x="0" y="5661772"/>
                </a:moveTo>
                <a:lnTo>
                  <a:pt x="4989437" y="5661772"/>
                </a:lnTo>
                <a:lnTo>
                  <a:pt x="4989437" y="0"/>
                </a:lnTo>
                <a:lnTo>
                  <a:pt x="0" y="0"/>
                </a:lnTo>
                <a:lnTo>
                  <a:pt x="0" y="5661772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Freeform 5">
            <a:extLst>
              <a:ext uri="{FF2B5EF4-FFF2-40B4-BE49-F238E27FC236}">
                <a16:creationId xmlns:a16="http://schemas.microsoft.com/office/drawing/2014/main" id="{25192BBD-5A93-4EE8-D0BD-676874953043}"/>
              </a:ext>
            </a:extLst>
          </p:cNvPr>
          <p:cNvSpPr/>
          <p:nvPr/>
        </p:nvSpPr>
        <p:spPr>
          <a:xfrm flipH="1">
            <a:off x="16496883" y="5108189"/>
            <a:ext cx="4989436" cy="5661772"/>
          </a:xfrm>
          <a:custGeom>
            <a:avLst/>
            <a:gdLst/>
            <a:ahLst/>
            <a:cxnLst/>
            <a:rect l="l" t="t" r="r" b="b"/>
            <a:pathLst>
              <a:path w="4989436" h="5661772">
                <a:moveTo>
                  <a:pt x="4989437" y="0"/>
                </a:moveTo>
                <a:lnTo>
                  <a:pt x="0" y="0"/>
                </a:lnTo>
                <a:lnTo>
                  <a:pt x="0" y="5661771"/>
                </a:lnTo>
                <a:lnTo>
                  <a:pt x="4989437" y="5661771"/>
                </a:lnTo>
                <a:lnTo>
                  <a:pt x="4989437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Freeform 6">
            <a:extLst>
              <a:ext uri="{FF2B5EF4-FFF2-40B4-BE49-F238E27FC236}">
                <a16:creationId xmlns:a16="http://schemas.microsoft.com/office/drawing/2014/main" id="{CBDD53FA-5926-225E-01E1-940225EB7974}"/>
              </a:ext>
            </a:extLst>
          </p:cNvPr>
          <p:cNvSpPr/>
          <p:nvPr/>
        </p:nvSpPr>
        <p:spPr>
          <a:xfrm>
            <a:off x="-3198320" y="5108189"/>
            <a:ext cx="4989436" cy="5661772"/>
          </a:xfrm>
          <a:custGeom>
            <a:avLst/>
            <a:gdLst/>
            <a:ahLst/>
            <a:cxnLst/>
            <a:rect l="l" t="t" r="r" b="b"/>
            <a:pathLst>
              <a:path w="4989436" h="5661772">
                <a:moveTo>
                  <a:pt x="0" y="0"/>
                </a:moveTo>
                <a:lnTo>
                  <a:pt x="4989437" y="0"/>
                </a:lnTo>
                <a:lnTo>
                  <a:pt x="4989437" y="5661771"/>
                </a:lnTo>
                <a:lnTo>
                  <a:pt x="0" y="566177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4875F3C1-4FBF-24F1-0E5A-4B319DE17F29}"/>
              </a:ext>
            </a:extLst>
          </p:cNvPr>
          <p:cNvSpPr txBox="1"/>
          <p:nvPr/>
        </p:nvSpPr>
        <p:spPr>
          <a:xfrm>
            <a:off x="2782324" y="-265509"/>
            <a:ext cx="12253955" cy="13012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704"/>
              </a:lnSpc>
              <a:spcBef>
                <a:spcPct val="0"/>
              </a:spcBef>
            </a:pPr>
            <a:r>
              <a:rPr lang="en-US" sz="7646" b="1" dirty="0">
                <a:solidFill>
                  <a:srgbClr val="00060D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STRATEGIC</a:t>
            </a:r>
          </a:p>
        </p:txBody>
      </p:sp>
      <p:grpSp>
        <p:nvGrpSpPr>
          <p:cNvPr id="8" name="Group 8">
            <a:extLst>
              <a:ext uri="{FF2B5EF4-FFF2-40B4-BE49-F238E27FC236}">
                <a16:creationId xmlns:a16="http://schemas.microsoft.com/office/drawing/2014/main" id="{3888C455-96E4-611B-39B5-B626DF9B0B6C}"/>
              </a:ext>
            </a:extLst>
          </p:cNvPr>
          <p:cNvGrpSpPr/>
          <p:nvPr/>
        </p:nvGrpSpPr>
        <p:grpSpPr>
          <a:xfrm rot="1816035">
            <a:off x="-566561" y="-953124"/>
            <a:ext cx="1473413" cy="3404505"/>
            <a:chOff x="0" y="0"/>
            <a:chExt cx="388059" cy="896660"/>
          </a:xfrm>
        </p:grpSpPr>
        <p:sp>
          <p:nvSpPr>
            <p:cNvPr id="9" name="Freeform 9">
              <a:extLst>
                <a:ext uri="{FF2B5EF4-FFF2-40B4-BE49-F238E27FC236}">
                  <a16:creationId xmlns:a16="http://schemas.microsoft.com/office/drawing/2014/main" id="{6D5D7EAD-D346-4985-038F-C38B139815A3}"/>
                </a:ext>
              </a:extLst>
            </p:cNvPr>
            <p:cNvSpPr/>
            <p:nvPr/>
          </p:nvSpPr>
          <p:spPr>
            <a:xfrm>
              <a:off x="0" y="0"/>
              <a:ext cx="388059" cy="896660"/>
            </a:xfrm>
            <a:custGeom>
              <a:avLst/>
              <a:gdLst/>
              <a:ahLst/>
              <a:cxnLst/>
              <a:rect l="l" t="t" r="r" b="b"/>
              <a:pathLst>
                <a:path w="388059" h="896660">
                  <a:moveTo>
                    <a:pt x="0" y="0"/>
                  </a:moveTo>
                  <a:lnTo>
                    <a:pt x="388059" y="0"/>
                  </a:lnTo>
                  <a:lnTo>
                    <a:pt x="388059" y="896660"/>
                  </a:lnTo>
                  <a:lnTo>
                    <a:pt x="0" y="896660"/>
                  </a:lnTo>
                  <a:close/>
                </a:path>
              </a:pathLst>
            </a:custGeom>
            <a:gradFill rotWithShape="1">
              <a:gsLst>
                <a:gs pos="0">
                  <a:srgbClr val="002264">
                    <a:alpha val="100000"/>
                  </a:srgbClr>
                </a:gs>
                <a:gs pos="100000">
                  <a:srgbClr val="2D56A5">
                    <a:alpha val="100000"/>
                  </a:srgbClr>
                </a:gs>
              </a:gsLst>
              <a:lin ang="5400000"/>
            </a:gradFill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TextBox 10">
              <a:extLst>
                <a:ext uri="{FF2B5EF4-FFF2-40B4-BE49-F238E27FC236}">
                  <a16:creationId xmlns:a16="http://schemas.microsoft.com/office/drawing/2014/main" id="{273BC4CB-45E0-3EB8-E50B-88396A0DCA25}"/>
                </a:ext>
              </a:extLst>
            </p:cNvPr>
            <p:cNvSpPr txBox="1"/>
            <p:nvPr/>
          </p:nvSpPr>
          <p:spPr>
            <a:xfrm>
              <a:off x="0" y="-38100"/>
              <a:ext cx="388059" cy="93476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1" name="Group 11">
            <a:extLst>
              <a:ext uri="{FF2B5EF4-FFF2-40B4-BE49-F238E27FC236}">
                <a16:creationId xmlns:a16="http://schemas.microsoft.com/office/drawing/2014/main" id="{102EEE36-1151-2C07-4703-7359C656AF7C}"/>
              </a:ext>
            </a:extLst>
          </p:cNvPr>
          <p:cNvGrpSpPr/>
          <p:nvPr/>
        </p:nvGrpSpPr>
        <p:grpSpPr>
          <a:xfrm rot="-1818000">
            <a:off x="17380520" y="-953124"/>
            <a:ext cx="1473413" cy="3404505"/>
            <a:chOff x="0" y="0"/>
            <a:chExt cx="388059" cy="896660"/>
          </a:xfrm>
        </p:grpSpPr>
        <p:sp>
          <p:nvSpPr>
            <p:cNvPr id="12" name="Freeform 12">
              <a:extLst>
                <a:ext uri="{FF2B5EF4-FFF2-40B4-BE49-F238E27FC236}">
                  <a16:creationId xmlns:a16="http://schemas.microsoft.com/office/drawing/2014/main" id="{1C54DDEC-44A2-A651-8468-A23385A149BE}"/>
                </a:ext>
              </a:extLst>
            </p:cNvPr>
            <p:cNvSpPr/>
            <p:nvPr/>
          </p:nvSpPr>
          <p:spPr>
            <a:xfrm>
              <a:off x="0" y="0"/>
              <a:ext cx="388059" cy="896660"/>
            </a:xfrm>
            <a:custGeom>
              <a:avLst/>
              <a:gdLst/>
              <a:ahLst/>
              <a:cxnLst/>
              <a:rect l="l" t="t" r="r" b="b"/>
              <a:pathLst>
                <a:path w="388059" h="896660">
                  <a:moveTo>
                    <a:pt x="0" y="0"/>
                  </a:moveTo>
                  <a:lnTo>
                    <a:pt x="388059" y="0"/>
                  </a:lnTo>
                  <a:lnTo>
                    <a:pt x="388059" y="896660"/>
                  </a:lnTo>
                  <a:lnTo>
                    <a:pt x="0" y="896660"/>
                  </a:lnTo>
                  <a:close/>
                </a:path>
              </a:pathLst>
            </a:custGeom>
            <a:gradFill rotWithShape="1">
              <a:gsLst>
                <a:gs pos="0">
                  <a:srgbClr val="002264">
                    <a:alpha val="100000"/>
                  </a:srgbClr>
                </a:gs>
                <a:gs pos="100000">
                  <a:srgbClr val="2D56A5">
                    <a:alpha val="100000"/>
                  </a:srgbClr>
                </a:gs>
              </a:gsLst>
              <a:lin ang="5400000"/>
            </a:gradFill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TextBox 13">
              <a:extLst>
                <a:ext uri="{FF2B5EF4-FFF2-40B4-BE49-F238E27FC236}">
                  <a16:creationId xmlns:a16="http://schemas.microsoft.com/office/drawing/2014/main" id="{AF1D9DF6-CA61-8B4B-1CA0-2EA8C60124D8}"/>
                </a:ext>
              </a:extLst>
            </p:cNvPr>
            <p:cNvSpPr txBox="1"/>
            <p:nvPr/>
          </p:nvSpPr>
          <p:spPr>
            <a:xfrm>
              <a:off x="0" y="-38100"/>
              <a:ext cx="388059" cy="93476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4" name="Freeform 14">
            <a:extLst>
              <a:ext uri="{FF2B5EF4-FFF2-40B4-BE49-F238E27FC236}">
                <a16:creationId xmlns:a16="http://schemas.microsoft.com/office/drawing/2014/main" id="{A48970F6-35BB-1FA4-A8CB-6FAFF9A0357F}"/>
              </a:ext>
            </a:extLst>
          </p:cNvPr>
          <p:cNvSpPr/>
          <p:nvPr/>
        </p:nvSpPr>
        <p:spPr>
          <a:xfrm>
            <a:off x="3895720" y="1028700"/>
            <a:ext cx="764904" cy="406407"/>
          </a:xfrm>
          <a:custGeom>
            <a:avLst/>
            <a:gdLst/>
            <a:ahLst/>
            <a:cxnLst/>
            <a:rect l="l" t="t" r="r" b="b"/>
            <a:pathLst>
              <a:path w="764904" h="406407">
                <a:moveTo>
                  <a:pt x="0" y="0"/>
                </a:moveTo>
                <a:lnTo>
                  <a:pt x="764904" y="0"/>
                </a:lnTo>
                <a:lnTo>
                  <a:pt x="764904" y="406407"/>
                </a:lnTo>
                <a:lnTo>
                  <a:pt x="0" y="406407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r="-111469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5" name="Freeform 15">
            <a:extLst>
              <a:ext uri="{FF2B5EF4-FFF2-40B4-BE49-F238E27FC236}">
                <a16:creationId xmlns:a16="http://schemas.microsoft.com/office/drawing/2014/main" id="{2E5EBAF4-7ECE-719A-7F9E-FDFF49058431}"/>
              </a:ext>
            </a:extLst>
          </p:cNvPr>
          <p:cNvSpPr/>
          <p:nvPr/>
        </p:nvSpPr>
        <p:spPr>
          <a:xfrm flipH="1">
            <a:off x="13627376" y="1028700"/>
            <a:ext cx="764904" cy="406407"/>
          </a:xfrm>
          <a:custGeom>
            <a:avLst/>
            <a:gdLst/>
            <a:ahLst/>
            <a:cxnLst/>
            <a:rect l="l" t="t" r="r" b="b"/>
            <a:pathLst>
              <a:path w="764904" h="406407">
                <a:moveTo>
                  <a:pt x="764904" y="0"/>
                </a:moveTo>
                <a:lnTo>
                  <a:pt x="0" y="0"/>
                </a:lnTo>
                <a:lnTo>
                  <a:pt x="0" y="406407"/>
                </a:lnTo>
                <a:lnTo>
                  <a:pt x="764904" y="406407"/>
                </a:lnTo>
                <a:lnTo>
                  <a:pt x="764904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r="-111469"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16" name="Group 16">
            <a:extLst>
              <a:ext uri="{FF2B5EF4-FFF2-40B4-BE49-F238E27FC236}">
                <a16:creationId xmlns:a16="http://schemas.microsoft.com/office/drawing/2014/main" id="{5FF88D6C-5683-829B-136F-E9EC56A4E046}"/>
              </a:ext>
            </a:extLst>
          </p:cNvPr>
          <p:cNvGrpSpPr/>
          <p:nvPr/>
        </p:nvGrpSpPr>
        <p:grpSpPr>
          <a:xfrm>
            <a:off x="1043202" y="6169502"/>
            <a:ext cx="8115300" cy="3594297"/>
            <a:chOff x="0" y="0"/>
            <a:chExt cx="1577092" cy="698500"/>
          </a:xfrm>
        </p:grpSpPr>
        <p:sp>
          <p:nvSpPr>
            <p:cNvPr id="17" name="Freeform 17">
              <a:extLst>
                <a:ext uri="{FF2B5EF4-FFF2-40B4-BE49-F238E27FC236}">
                  <a16:creationId xmlns:a16="http://schemas.microsoft.com/office/drawing/2014/main" id="{05C90A5D-30CC-6549-8679-739AC496A91D}"/>
                </a:ext>
              </a:extLst>
            </p:cNvPr>
            <p:cNvSpPr/>
            <p:nvPr/>
          </p:nvSpPr>
          <p:spPr>
            <a:xfrm>
              <a:off x="0" y="0"/>
              <a:ext cx="1577092" cy="698500"/>
            </a:xfrm>
            <a:custGeom>
              <a:avLst/>
              <a:gdLst/>
              <a:ahLst/>
              <a:cxnLst/>
              <a:rect l="l" t="t" r="r" b="b"/>
              <a:pathLst>
                <a:path w="1577092" h="698500">
                  <a:moveTo>
                    <a:pt x="1577092" y="349250"/>
                  </a:moveTo>
                  <a:lnTo>
                    <a:pt x="1373892" y="698500"/>
                  </a:lnTo>
                  <a:lnTo>
                    <a:pt x="203200" y="698500"/>
                  </a:lnTo>
                  <a:lnTo>
                    <a:pt x="0" y="349250"/>
                  </a:lnTo>
                  <a:lnTo>
                    <a:pt x="203200" y="0"/>
                  </a:lnTo>
                  <a:lnTo>
                    <a:pt x="1373892" y="0"/>
                  </a:lnTo>
                  <a:lnTo>
                    <a:pt x="1577092" y="349250"/>
                  </a:lnTo>
                  <a:close/>
                </a:path>
              </a:pathLst>
            </a:custGeom>
            <a:gradFill rotWithShape="1">
              <a:gsLst>
                <a:gs pos="0">
                  <a:srgbClr val="002264">
                    <a:alpha val="100000"/>
                  </a:srgbClr>
                </a:gs>
                <a:gs pos="100000">
                  <a:srgbClr val="2D56A5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TextBox 18">
              <a:extLst>
                <a:ext uri="{FF2B5EF4-FFF2-40B4-BE49-F238E27FC236}">
                  <a16:creationId xmlns:a16="http://schemas.microsoft.com/office/drawing/2014/main" id="{85948DA6-1884-5F09-A476-0A83C9C56560}"/>
                </a:ext>
              </a:extLst>
            </p:cNvPr>
            <p:cNvSpPr txBox="1"/>
            <p:nvPr/>
          </p:nvSpPr>
          <p:spPr>
            <a:xfrm>
              <a:off x="114300" y="-38100"/>
              <a:ext cx="1348492" cy="7366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9" name="Group 19">
            <a:extLst>
              <a:ext uri="{FF2B5EF4-FFF2-40B4-BE49-F238E27FC236}">
                <a16:creationId xmlns:a16="http://schemas.microsoft.com/office/drawing/2014/main" id="{352A4FBC-F221-74A0-8200-8B153B9A8C0A}"/>
              </a:ext>
            </a:extLst>
          </p:cNvPr>
          <p:cNvGrpSpPr/>
          <p:nvPr/>
        </p:nvGrpSpPr>
        <p:grpSpPr>
          <a:xfrm>
            <a:off x="9263618" y="6149548"/>
            <a:ext cx="8115300" cy="3594297"/>
            <a:chOff x="0" y="0"/>
            <a:chExt cx="1577092" cy="698500"/>
          </a:xfrm>
        </p:grpSpPr>
        <p:sp>
          <p:nvSpPr>
            <p:cNvPr id="20" name="Freeform 20">
              <a:extLst>
                <a:ext uri="{FF2B5EF4-FFF2-40B4-BE49-F238E27FC236}">
                  <a16:creationId xmlns:a16="http://schemas.microsoft.com/office/drawing/2014/main" id="{27420806-829B-11E4-2A5F-CA35084B3CC5}"/>
                </a:ext>
              </a:extLst>
            </p:cNvPr>
            <p:cNvSpPr/>
            <p:nvPr/>
          </p:nvSpPr>
          <p:spPr>
            <a:xfrm>
              <a:off x="0" y="0"/>
              <a:ext cx="1577092" cy="698500"/>
            </a:xfrm>
            <a:custGeom>
              <a:avLst/>
              <a:gdLst/>
              <a:ahLst/>
              <a:cxnLst/>
              <a:rect l="l" t="t" r="r" b="b"/>
              <a:pathLst>
                <a:path w="1577092" h="698500">
                  <a:moveTo>
                    <a:pt x="1577092" y="349250"/>
                  </a:moveTo>
                  <a:lnTo>
                    <a:pt x="1373892" y="698500"/>
                  </a:lnTo>
                  <a:lnTo>
                    <a:pt x="203200" y="698500"/>
                  </a:lnTo>
                  <a:lnTo>
                    <a:pt x="0" y="349250"/>
                  </a:lnTo>
                  <a:lnTo>
                    <a:pt x="203200" y="0"/>
                  </a:lnTo>
                  <a:lnTo>
                    <a:pt x="1373892" y="0"/>
                  </a:lnTo>
                  <a:lnTo>
                    <a:pt x="1577092" y="349250"/>
                  </a:lnTo>
                  <a:close/>
                </a:path>
              </a:pathLst>
            </a:custGeom>
            <a:gradFill rotWithShape="1">
              <a:gsLst>
                <a:gs pos="0">
                  <a:srgbClr val="002264">
                    <a:alpha val="100000"/>
                  </a:srgbClr>
                </a:gs>
                <a:gs pos="100000">
                  <a:srgbClr val="2D56A5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US"/>
            </a:p>
          </p:txBody>
        </p:sp>
        <p:sp>
          <p:nvSpPr>
            <p:cNvPr id="21" name="TextBox 21">
              <a:extLst>
                <a:ext uri="{FF2B5EF4-FFF2-40B4-BE49-F238E27FC236}">
                  <a16:creationId xmlns:a16="http://schemas.microsoft.com/office/drawing/2014/main" id="{8A648E73-1ED6-3DEC-DE3F-EA31865412DF}"/>
                </a:ext>
              </a:extLst>
            </p:cNvPr>
            <p:cNvSpPr txBox="1"/>
            <p:nvPr/>
          </p:nvSpPr>
          <p:spPr>
            <a:xfrm>
              <a:off x="114300" y="-38100"/>
              <a:ext cx="1348492" cy="7366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22" name="Group 22">
            <a:extLst>
              <a:ext uri="{FF2B5EF4-FFF2-40B4-BE49-F238E27FC236}">
                <a16:creationId xmlns:a16="http://schemas.microsoft.com/office/drawing/2014/main" id="{E5963F17-2EBE-F8DB-D714-8B997612A81E}"/>
              </a:ext>
            </a:extLst>
          </p:cNvPr>
          <p:cNvGrpSpPr/>
          <p:nvPr/>
        </p:nvGrpSpPr>
        <p:grpSpPr>
          <a:xfrm>
            <a:off x="1286234" y="6350004"/>
            <a:ext cx="7747558" cy="3273366"/>
            <a:chOff x="0" y="0"/>
            <a:chExt cx="1653243" cy="698500"/>
          </a:xfrm>
        </p:grpSpPr>
        <p:sp>
          <p:nvSpPr>
            <p:cNvPr id="23" name="Freeform 23">
              <a:extLst>
                <a:ext uri="{FF2B5EF4-FFF2-40B4-BE49-F238E27FC236}">
                  <a16:creationId xmlns:a16="http://schemas.microsoft.com/office/drawing/2014/main" id="{FAE26ABB-AF57-4E9C-6581-108BCC654962}"/>
                </a:ext>
              </a:extLst>
            </p:cNvPr>
            <p:cNvSpPr/>
            <p:nvPr/>
          </p:nvSpPr>
          <p:spPr>
            <a:xfrm>
              <a:off x="0" y="0"/>
              <a:ext cx="1653243" cy="698500"/>
            </a:xfrm>
            <a:custGeom>
              <a:avLst/>
              <a:gdLst/>
              <a:ahLst/>
              <a:cxnLst/>
              <a:rect l="l" t="t" r="r" b="b"/>
              <a:pathLst>
                <a:path w="1653243" h="698500">
                  <a:moveTo>
                    <a:pt x="1653243" y="349250"/>
                  </a:moveTo>
                  <a:lnTo>
                    <a:pt x="1450043" y="698500"/>
                  </a:lnTo>
                  <a:lnTo>
                    <a:pt x="203200" y="698500"/>
                  </a:lnTo>
                  <a:lnTo>
                    <a:pt x="0" y="349250"/>
                  </a:lnTo>
                  <a:lnTo>
                    <a:pt x="203200" y="0"/>
                  </a:lnTo>
                  <a:lnTo>
                    <a:pt x="1450043" y="0"/>
                  </a:lnTo>
                  <a:lnTo>
                    <a:pt x="1653243" y="349250"/>
                  </a:lnTo>
                  <a:close/>
                </a:path>
              </a:pathLst>
            </a:custGeom>
            <a:blipFill>
              <a:blip r:embed="rId7"/>
              <a:stretch>
                <a:fillRect t="-57691"/>
              </a:stretch>
            </a:blipFill>
            <a:ln w="123825" cap="sq">
              <a:gradFill>
                <a:gsLst>
                  <a:gs pos="0">
                    <a:srgbClr val="00060D">
                      <a:alpha val="100000"/>
                    </a:srgbClr>
                  </a:gs>
                  <a:gs pos="100000">
                    <a:srgbClr val="092C71">
                      <a:alpha val="0"/>
                    </a:srgbClr>
                  </a:gs>
                </a:gsLst>
                <a:lin ang="0"/>
              </a:gra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4" name="Group 24">
            <a:extLst>
              <a:ext uri="{FF2B5EF4-FFF2-40B4-BE49-F238E27FC236}">
                <a16:creationId xmlns:a16="http://schemas.microsoft.com/office/drawing/2014/main" id="{28C8EF1A-E89B-BC80-BAC6-FC1D67ACE44F}"/>
              </a:ext>
            </a:extLst>
          </p:cNvPr>
          <p:cNvGrpSpPr/>
          <p:nvPr/>
        </p:nvGrpSpPr>
        <p:grpSpPr>
          <a:xfrm>
            <a:off x="9449520" y="6310014"/>
            <a:ext cx="7747558" cy="3273366"/>
            <a:chOff x="0" y="0"/>
            <a:chExt cx="1653243" cy="698500"/>
          </a:xfrm>
        </p:grpSpPr>
        <p:sp>
          <p:nvSpPr>
            <p:cNvPr id="25" name="Freeform 25">
              <a:extLst>
                <a:ext uri="{FF2B5EF4-FFF2-40B4-BE49-F238E27FC236}">
                  <a16:creationId xmlns:a16="http://schemas.microsoft.com/office/drawing/2014/main" id="{F7108EF7-0A1B-B77F-E7E7-4F9668C1E4A4}"/>
                </a:ext>
              </a:extLst>
            </p:cNvPr>
            <p:cNvSpPr/>
            <p:nvPr/>
          </p:nvSpPr>
          <p:spPr>
            <a:xfrm>
              <a:off x="0" y="0"/>
              <a:ext cx="1653243" cy="698500"/>
            </a:xfrm>
            <a:custGeom>
              <a:avLst/>
              <a:gdLst/>
              <a:ahLst/>
              <a:cxnLst/>
              <a:rect l="l" t="t" r="r" b="b"/>
              <a:pathLst>
                <a:path w="1653243" h="698500">
                  <a:moveTo>
                    <a:pt x="1653243" y="349250"/>
                  </a:moveTo>
                  <a:lnTo>
                    <a:pt x="1450043" y="698500"/>
                  </a:lnTo>
                  <a:lnTo>
                    <a:pt x="203200" y="698500"/>
                  </a:lnTo>
                  <a:lnTo>
                    <a:pt x="0" y="349250"/>
                  </a:lnTo>
                  <a:lnTo>
                    <a:pt x="203200" y="0"/>
                  </a:lnTo>
                  <a:lnTo>
                    <a:pt x="1450043" y="0"/>
                  </a:lnTo>
                  <a:lnTo>
                    <a:pt x="1653243" y="349250"/>
                  </a:lnTo>
                  <a:close/>
                </a:path>
              </a:pathLst>
            </a:custGeom>
            <a:blipFill>
              <a:blip r:embed="rId8"/>
              <a:stretch>
                <a:fillRect t="-28845" b="-28845"/>
              </a:stretch>
            </a:blipFill>
            <a:ln w="123825" cap="sq">
              <a:gradFill>
                <a:gsLst>
                  <a:gs pos="0">
                    <a:srgbClr val="00060D">
                      <a:alpha val="100000"/>
                    </a:srgbClr>
                  </a:gs>
                  <a:gs pos="100000">
                    <a:srgbClr val="092C71">
                      <a:alpha val="0"/>
                    </a:srgbClr>
                  </a:gs>
                </a:gsLst>
                <a:lin ang="0"/>
              </a:gra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6" name="Group 26">
            <a:extLst>
              <a:ext uri="{FF2B5EF4-FFF2-40B4-BE49-F238E27FC236}">
                <a16:creationId xmlns:a16="http://schemas.microsoft.com/office/drawing/2014/main" id="{C4FEC21E-4FC9-C177-19E7-39A0B598B293}"/>
              </a:ext>
            </a:extLst>
          </p:cNvPr>
          <p:cNvGrpSpPr/>
          <p:nvPr/>
        </p:nvGrpSpPr>
        <p:grpSpPr>
          <a:xfrm>
            <a:off x="0" y="10032423"/>
            <a:ext cx="18288000" cy="254577"/>
            <a:chOff x="0" y="0"/>
            <a:chExt cx="4816593" cy="67049"/>
          </a:xfrm>
        </p:grpSpPr>
        <p:sp>
          <p:nvSpPr>
            <p:cNvPr id="27" name="Freeform 27">
              <a:extLst>
                <a:ext uri="{FF2B5EF4-FFF2-40B4-BE49-F238E27FC236}">
                  <a16:creationId xmlns:a16="http://schemas.microsoft.com/office/drawing/2014/main" id="{0BDAA1EE-56CF-6DC1-7D0B-E237F10C5B21}"/>
                </a:ext>
              </a:extLst>
            </p:cNvPr>
            <p:cNvSpPr/>
            <p:nvPr/>
          </p:nvSpPr>
          <p:spPr>
            <a:xfrm>
              <a:off x="0" y="0"/>
              <a:ext cx="4816592" cy="67049"/>
            </a:xfrm>
            <a:custGeom>
              <a:avLst/>
              <a:gdLst/>
              <a:ahLst/>
              <a:cxnLst/>
              <a:rect l="l" t="t" r="r" b="b"/>
              <a:pathLst>
                <a:path w="4816592" h="67049">
                  <a:moveTo>
                    <a:pt x="0" y="0"/>
                  </a:moveTo>
                  <a:lnTo>
                    <a:pt x="4816592" y="0"/>
                  </a:lnTo>
                  <a:lnTo>
                    <a:pt x="4816592" y="67049"/>
                  </a:lnTo>
                  <a:lnTo>
                    <a:pt x="0" y="67049"/>
                  </a:lnTo>
                  <a:close/>
                </a:path>
              </a:pathLst>
            </a:custGeom>
            <a:gradFill rotWithShape="1">
              <a:gsLst>
                <a:gs pos="0">
                  <a:srgbClr val="002264">
                    <a:alpha val="100000"/>
                  </a:srgbClr>
                </a:gs>
                <a:gs pos="100000">
                  <a:srgbClr val="2D56A5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US"/>
            </a:p>
          </p:txBody>
        </p:sp>
        <p:sp>
          <p:nvSpPr>
            <p:cNvPr id="28" name="TextBox 28">
              <a:extLst>
                <a:ext uri="{FF2B5EF4-FFF2-40B4-BE49-F238E27FC236}">
                  <a16:creationId xmlns:a16="http://schemas.microsoft.com/office/drawing/2014/main" id="{97843EDF-4136-C2F2-EFE6-2DD29770279B}"/>
                </a:ext>
              </a:extLst>
            </p:cNvPr>
            <p:cNvSpPr txBox="1"/>
            <p:nvPr/>
          </p:nvSpPr>
          <p:spPr>
            <a:xfrm>
              <a:off x="0" y="-38100"/>
              <a:ext cx="4816593" cy="10514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9" name="TextBox 29">
            <a:extLst>
              <a:ext uri="{FF2B5EF4-FFF2-40B4-BE49-F238E27FC236}">
                <a16:creationId xmlns:a16="http://schemas.microsoft.com/office/drawing/2014/main" id="{702599A4-2D03-55A1-137B-6299E0CA3C0C}"/>
              </a:ext>
            </a:extLst>
          </p:cNvPr>
          <p:cNvSpPr txBox="1"/>
          <p:nvPr/>
        </p:nvSpPr>
        <p:spPr>
          <a:xfrm>
            <a:off x="3140303" y="790433"/>
            <a:ext cx="12253955" cy="13012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704"/>
              </a:lnSpc>
              <a:spcBef>
                <a:spcPct val="0"/>
              </a:spcBef>
            </a:pPr>
            <a:r>
              <a:rPr lang="en-US" sz="7646" b="1" dirty="0">
                <a:solidFill>
                  <a:srgbClr val="10347A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RECOMMENDATIONS</a:t>
            </a:r>
          </a:p>
        </p:txBody>
      </p:sp>
      <p:sp>
        <p:nvSpPr>
          <p:cNvPr id="30" name="TextBox 30">
            <a:extLst>
              <a:ext uri="{FF2B5EF4-FFF2-40B4-BE49-F238E27FC236}">
                <a16:creationId xmlns:a16="http://schemas.microsoft.com/office/drawing/2014/main" id="{2CF7B5A0-961F-C6B0-9F5F-2F0EAC270EBD}"/>
              </a:ext>
            </a:extLst>
          </p:cNvPr>
          <p:cNvSpPr txBox="1"/>
          <p:nvPr/>
        </p:nvSpPr>
        <p:spPr>
          <a:xfrm>
            <a:off x="1218481" y="1990322"/>
            <a:ext cx="16230600" cy="42819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57200" indent="-45720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800" dirty="0">
                <a:solidFill>
                  <a:schemeClr val="tx2">
                    <a:lumMod val="75000"/>
                  </a:schemeClr>
                </a:solidFill>
                <a:latin typeface="Roboto"/>
                <a:ea typeface="Roboto"/>
                <a:cs typeface="Roboto"/>
                <a:sym typeface="Roboto"/>
              </a:rPr>
              <a:t>Regarding the </a:t>
            </a:r>
            <a:r>
              <a:rPr lang="en-US" sz="2800" b="1" dirty="0">
                <a:solidFill>
                  <a:schemeClr val="tx2">
                    <a:lumMod val="75000"/>
                  </a:schemeClr>
                </a:solidFill>
                <a:latin typeface="Roboto"/>
                <a:ea typeface="Roboto"/>
                <a:cs typeface="Roboto"/>
                <a:sym typeface="Roboto"/>
              </a:rPr>
              <a:t>peak of sales </a:t>
            </a:r>
            <a:r>
              <a:rPr lang="en-US" sz="2800" dirty="0">
                <a:solidFill>
                  <a:schemeClr val="tx2">
                    <a:lumMod val="75000"/>
                  </a:schemeClr>
                </a:solidFill>
                <a:latin typeface="Roboto"/>
                <a:ea typeface="Roboto"/>
                <a:cs typeface="Roboto"/>
                <a:sym typeface="Roboto"/>
              </a:rPr>
              <a:t>on Sunday,  Saturday and Tuesday that noted with affected</a:t>
            </a:r>
          </a:p>
          <a:p>
            <a:pPr algn="just">
              <a:lnSpc>
                <a:spcPct val="150000"/>
              </a:lnSpc>
            </a:pPr>
            <a:r>
              <a:rPr lang="en-US" sz="2800" dirty="0">
                <a:solidFill>
                  <a:schemeClr val="tx2">
                    <a:lumMod val="75000"/>
                  </a:schemeClr>
                </a:solidFill>
                <a:latin typeface="Roboto"/>
                <a:ea typeface="Roboto"/>
                <a:cs typeface="Roboto"/>
                <a:sym typeface="Roboto"/>
              </a:rPr>
              <a:t> the performance being with highest % of </a:t>
            </a:r>
            <a:r>
              <a:rPr lang="en-US" sz="2800" b="1" dirty="0">
                <a:solidFill>
                  <a:schemeClr val="tx2">
                    <a:lumMod val="75000"/>
                  </a:schemeClr>
                </a:solidFill>
                <a:latin typeface="Roboto"/>
                <a:ea typeface="Roboto"/>
                <a:cs typeface="Roboto"/>
                <a:sym typeface="Roboto"/>
              </a:rPr>
              <a:t>shipping delay </a:t>
            </a:r>
            <a:r>
              <a:rPr lang="en-US" sz="2800" dirty="0">
                <a:solidFill>
                  <a:schemeClr val="tx2">
                    <a:lumMod val="75000"/>
                  </a:schemeClr>
                </a:solidFill>
                <a:latin typeface="Roboto"/>
                <a:ea typeface="Roboto"/>
                <a:cs typeface="Roboto"/>
                <a:sym typeface="Roboto"/>
              </a:rPr>
              <a:t>reaching 19%, Investigate of the root cause to work on solutions.  </a:t>
            </a:r>
          </a:p>
          <a:p>
            <a:pPr marL="457200" lvl="0" indent="-4572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ü"/>
            </a:pPr>
            <a:r>
              <a:rPr lang="en-US" altLang="en-US" sz="2800" b="1" dirty="0">
                <a:solidFill>
                  <a:schemeClr val="tx2"/>
                </a:solidFill>
                <a:latin typeface="Arial" panose="020B0604020202020204" pitchFamily="34" charset="0"/>
              </a:rPr>
              <a:t>Sales Channels &amp; Shipping Performance</a:t>
            </a:r>
            <a:endParaRPr lang="en-US" altLang="en-US" sz="2800" dirty="0">
              <a:solidFill>
                <a:schemeClr val="tx2"/>
              </a:solidFill>
              <a:latin typeface="Arial" panose="020B0604020202020204" pitchFamily="34" charset="0"/>
            </a:endParaRP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800" dirty="0">
                <a:solidFill>
                  <a:schemeClr val="tx2"/>
                </a:solidFill>
                <a:latin typeface="Arial" panose="020B0604020202020204" pitchFamily="34" charset="0"/>
              </a:rPr>
              <a:t>Optimize shipping processes for regions with higher delivery delays.</a:t>
            </a: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800" dirty="0">
                <a:solidFill>
                  <a:schemeClr val="tx2"/>
                </a:solidFill>
                <a:latin typeface="Arial" panose="020B0604020202020204" pitchFamily="34" charset="0"/>
              </a:rPr>
              <a:t>Strengthen high-performing channels and review underperforming ones for improvement</a:t>
            </a:r>
            <a:endParaRPr lang="en-US" sz="2800" dirty="0">
              <a:solidFill>
                <a:schemeClr val="tx2">
                  <a:lumMod val="75000"/>
                </a:schemeClr>
              </a:solidFill>
              <a:latin typeface="Roboto"/>
              <a:ea typeface="Roboto"/>
              <a:cs typeface="Roboto"/>
              <a:sym typeface="Roboto"/>
            </a:endParaRPr>
          </a:p>
          <a:p>
            <a:pPr algn="just">
              <a:lnSpc>
                <a:spcPts val="3359"/>
              </a:lnSpc>
            </a:pPr>
            <a:r>
              <a:rPr lang="en-US" sz="2399" dirty="0">
                <a:solidFill>
                  <a:schemeClr val="tx2">
                    <a:lumMod val="75000"/>
                  </a:schemeClr>
                </a:solidFill>
                <a:latin typeface="Roboto"/>
                <a:ea typeface="Roboto"/>
                <a:cs typeface="Roboto"/>
                <a:sym typeface="Roboto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88007231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759719-CBE5-4582-49AC-48BD85359C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0EA0C2D3-DA9D-A5BE-0DD3-F9F79E555990}"/>
              </a:ext>
            </a:extLst>
          </p:cNvPr>
          <p:cNvSpPr/>
          <p:nvPr/>
        </p:nvSpPr>
        <p:spPr>
          <a:xfrm>
            <a:off x="-60378" y="-1928583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2813" t="-22813"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76977C9F-06DD-9E61-A6A9-EEB4E2CC2EE2}"/>
              </a:ext>
            </a:extLst>
          </p:cNvPr>
          <p:cNvSpPr/>
          <p:nvPr/>
        </p:nvSpPr>
        <p:spPr>
          <a:xfrm flipH="1" flipV="1">
            <a:off x="13297050" y="-2137660"/>
            <a:ext cx="4989436" cy="5661772"/>
          </a:xfrm>
          <a:custGeom>
            <a:avLst/>
            <a:gdLst/>
            <a:ahLst/>
            <a:cxnLst/>
            <a:rect l="l" t="t" r="r" b="b"/>
            <a:pathLst>
              <a:path w="4989436" h="5661772">
                <a:moveTo>
                  <a:pt x="4989437" y="5661772"/>
                </a:moveTo>
                <a:lnTo>
                  <a:pt x="0" y="5661772"/>
                </a:lnTo>
                <a:lnTo>
                  <a:pt x="0" y="0"/>
                </a:lnTo>
                <a:lnTo>
                  <a:pt x="4989437" y="0"/>
                </a:lnTo>
                <a:lnTo>
                  <a:pt x="4989437" y="5661772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>
            <a:extLst>
              <a:ext uri="{FF2B5EF4-FFF2-40B4-BE49-F238E27FC236}">
                <a16:creationId xmlns:a16="http://schemas.microsoft.com/office/drawing/2014/main" id="{E5E0FD71-D887-8131-0559-ED3B9463D441}"/>
              </a:ext>
            </a:extLst>
          </p:cNvPr>
          <p:cNvSpPr/>
          <p:nvPr/>
        </p:nvSpPr>
        <p:spPr>
          <a:xfrm flipV="1">
            <a:off x="1513" y="-2137660"/>
            <a:ext cx="4989436" cy="5661772"/>
          </a:xfrm>
          <a:custGeom>
            <a:avLst/>
            <a:gdLst/>
            <a:ahLst/>
            <a:cxnLst/>
            <a:rect l="l" t="t" r="r" b="b"/>
            <a:pathLst>
              <a:path w="4989436" h="5661772">
                <a:moveTo>
                  <a:pt x="0" y="5661772"/>
                </a:moveTo>
                <a:lnTo>
                  <a:pt x="4989437" y="5661772"/>
                </a:lnTo>
                <a:lnTo>
                  <a:pt x="4989437" y="0"/>
                </a:lnTo>
                <a:lnTo>
                  <a:pt x="0" y="0"/>
                </a:lnTo>
                <a:lnTo>
                  <a:pt x="0" y="5661772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Freeform 5">
            <a:extLst>
              <a:ext uri="{FF2B5EF4-FFF2-40B4-BE49-F238E27FC236}">
                <a16:creationId xmlns:a16="http://schemas.microsoft.com/office/drawing/2014/main" id="{72594B1F-09C9-2385-C863-290EE87A69AC}"/>
              </a:ext>
            </a:extLst>
          </p:cNvPr>
          <p:cNvSpPr/>
          <p:nvPr/>
        </p:nvSpPr>
        <p:spPr>
          <a:xfrm flipH="1">
            <a:off x="16496883" y="5108189"/>
            <a:ext cx="4989436" cy="5661772"/>
          </a:xfrm>
          <a:custGeom>
            <a:avLst/>
            <a:gdLst/>
            <a:ahLst/>
            <a:cxnLst/>
            <a:rect l="l" t="t" r="r" b="b"/>
            <a:pathLst>
              <a:path w="4989436" h="5661772">
                <a:moveTo>
                  <a:pt x="4989437" y="0"/>
                </a:moveTo>
                <a:lnTo>
                  <a:pt x="0" y="0"/>
                </a:lnTo>
                <a:lnTo>
                  <a:pt x="0" y="5661771"/>
                </a:lnTo>
                <a:lnTo>
                  <a:pt x="4989437" y="5661771"/>
                </a:lnTo>
                <a:lnTo>
                  <a:pt x="4989437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Freeform 6">
            <a:extLst>
              <a:ext uri="{FF2B5EF4-FFF2-40B4-BE49-F238E27FC236}">
                <a16:creationId xmlns:a16="http://schemas.microsoft.com/office/drawing/2014/main" id="{D9105356-0717-903B-4960-FDDC617FC600}"/>
              </a:ext>
            </a:extLst>
          </p:cNvPr>
          <p:cNvSpPr/>
          <p:nvPr/>
        </p:nvSpPr>
        <p:spPr>
          <a:xfrm>
            <a:off x="-3198320" y="5108189"/>
            <a:ext cx="4989436" cy="5661772"/>
          </a:xfrm>
          <a:custGeom>
            <a:avLst/>
            <a:gdLst/>
            <a:ahLst/>
            <a:cxnLst/>
            <a:rect l="l" t="t" r="r" b="b"/>
            <a:pathLst>
              <a:path w="4989436" h="5661772">
                <a:moveTo>
                  <a:pt x="0" y="0"/>
                </a:moveTo>
                <a:lnTo>
                  <a:pt x="4989437" y="0"/>
                </a:lnTo>
                <a:lnTo>
                  <a:pt x="4989437" y="5661771"/>
                </a:lnTo>
                <a:lnTo>
                  <a:pt x="0" y="566177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90224486-D2B8-5039-CB80-E98420022734}"/>
              </a:ext>
            </a:extLst>
          </p:cNvPr>
          <p:cNvSpPr txBox="1"/>
          <p:nvPr/>
        </p:nvSpPr>
        <p:spPr>
          <a:xfrm>
            <a:off x="2799397" y="-182972"/>
            <a:ext cx="12253955" cy="13012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704"/>
              </a:lnSpc>
              <a:spcBef>
                <a:spcPct val="0"/>
              </a:spcBef>
            </a:pPr>
            <a:r>
              <a:rPr lang="en-US" sz="7646" b="1" dirty="0">
                <a:solidFill>
                  <a:srgbClr val="00060D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STRATEGIC</a:t>
            </a:r>
          </a:p>
        </p:txBody>
      </p:sp>
      <p:grpSp>
        <p:nvGrpSpPr>
          <p:cNvPr id="8" name="Group 8">
            <a:extLst>
              <a:ext uri="{FF2B5EF4-FFF2-40B4-BE49-F238E27FC236}">
                <a16:creationId xmlns:a16="http://schemas.microsoft.com/office/drawing/2014/main" id="{DDA85654-4004-261D-6CC5-D6CCF38B96B4}"/>
              </a:ext>
            </a:extLst>
          </p:cNvPr>
          <p:cNvGrpSpPr/>
          <p:nvPr/>
        </p:nvGrpSpPr>
        <p:grpSpPr>
          <a:xfrm rot="1816035">
            <a:off x="-566561" y="-953124"/>
            <a:ext cx="1473413" cy="3404505"/>
            <a:chOff x="0" y="0"/>
            <a:chExt cx="388059" cy="896660"/>
          </a:xfrm>
        </p:grpSpPr>
        <p:sp>
          <p:nvSpPr>
            <p:cNvPr id="9" name="Freeform 9">
              <a:extLst>
                <a:ext uri="{FF2B5EF4-FFF2-40B4-BE49-F238E27FC236}">
                  <a16:creationId xmlns:a16="http://schemas.microsoft.com/office/drawing/2014/main" id="{AC76CC7E-751A-A6A0-FC6F-EEF95083A06C}"/>
                </a:ext>
              </a:extLst>
            </p:cNvPr>
            <p:cNvSpPr/>
            <p:nvPr/>
          </p:nvSpPr>
          <p:spPr>
            <a:xfrm>
              <a:off x="0" y="0"/>
              <a:ext cx="388059" cy="896660"/>
            </a:xfrm>
            <a:custGeom>
              <a:avLst/>
              <a:gdLst/>
              <a:ahLst/>
              <a:cxnLst/>
              <a:rect l="l" t="t" r="r" b="b"/>
              <a:pathLst>
                <a:path w="388059" h="896660">
                  <a:moveTo>
                    <a:pt x="0" y="0"/>
                  </a:moveTo>
                  <a:lnTo>
                    <a:pt x="388059" y="0"/>
                  </a:lnTo>
                  <a:lnTo>
                    <a:pt x="388059" y="896660"/>
                  </a:lnTo>
                  <a:lnTo>
                    <a:pt x="0" y="896660"/>
                  </a:lnTo>
                  <a:close/>
                </a:path>
              </a:pathLst>
            </a:custGeom>
            <a:gradFill rotWithShape="1">
              <a:gsLst>
                <a:gs pos="0">
                  <a:srgbClr val="002264">
                    <a:alpha val="100000"/>
                  </a:srgbClr>
                </a:gs>
                <a:gs pos="100000">
                  <a:srgbClr val="2D56A5">
                    <a:alpha val="100000"/>
                  </a:srgbClr>
                </a:gs>
              </a:gsLst>
              <a:lin ang="5400000"/>
            </a:gradFill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TextBox 10">
              <a:extLst>
                <a:ext uri="{FF2B5EF4-FFF2-40B4-BE49-F238E27FC236}">
                  <a16:creationId xmlns:a16="http://schemas.microsoft.com/office/drawing/2014/main" id="{CF883F87-C1AE-EB77-1A8B-00CA5BF2DDA3}"/>
                </a:ext>
              </a:extLst>
            </p:cNvPr>
            <p:cNvSpPr txBox="1"/>
            <p:nvPr/>
          </p:nvSpPr>
          <p:spPr>
            <a:xfrm>
              <a:off x="0" y="-38100"/>
              <a:ext cx="388059" cy="93476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1" name="Group 11">
            <a:extLst>
              <a:ext uri="{FF2B5EF4-FFF2-40B4-BE49-F238E27FC236}">
                <a16:creationId xmlns:a16="http://schemas.microsoft.com/office/drawing/2014/main" id="{9D9DB112-C631-77AB-6B8B-513E8869C837}"/>
              </a:ext>
            </a:extLst>
          </p:cNvPr>
          <p:cNvGrpSpPr/>
          <p:nvPr/>
        </p:nvGrpSpPr>
        <p:grpSpPr>
          <a:xfrm rot="-1818000">
            <a:off x="17380520" y="-953124"/>
            <a:ext cx="1473413" cy="3404505"/>
            <a:chOff x="0" y="0"/>
            <a:chExt cx="388059" cy="896660"/>
          </a:xfrm>
        </p:grpSpPr>
        <p:sp>
          <p:nvSpPr>
            <p:cNvPr id="12" name="Freeform 12">
              <a:extLst>
                <a:ext uri="{FF2B5EF4-FFF2-40B4-BE49-F238E27FC236}">
                  <a16:creationId xmlns:a16="http://schemas.microsoft.com/office/drawing/2014/main" id="{EAF9CB45-FF38-436C-258B-8CE774C49EEC}"/>
                </a:ext>
              </a:extLst>
            </p:cNvPr>
            <p:cNvSpPr/>
            <p:nvPr/>
          </p:nvSpPr>
          <p:spPr>
            <a:xfrm>
              <a:off x="0" y="0"/>
              <a:ext cx="388059" cy="896660"/>
            </a:xfrm>
            <a:custGeom>
              <a:avLst/>
              <a:gdLst/>
              <a:ahLst/>
              <a:cxnLst/>
              <a:rect l="l" t="t" r="r" b="b"/>
              <a:pathLst>
                <a:path w="388059" h="896660">
                  <a:moveTo>
                    <a:pt x="0" y="0"/>
                  </a:moveTo>
                  <a:lnTo>
                    <a:pt x="388059" y="0"/>
                  </a:lnTo>
                  <a:lnTo>
                    <a:pt x="388059" y="896660"/>
                  </a:lnTo>
                  <a:lnTo>
                    <a:pt x="0" y="896660"/>
                  </a:lnTo>
                  <a:close/>
                </a:path>
              </a:pathLst>
            </a:custGeom>
            <a:gradFill rotWithShape="1">
              <a:gsLst>
                <a:gs pos="0">
                  <a:srgbClr val="002264">
                    <a:alpha val="100000"/>
                  </a:srgbClr>
                </a:gs>
                <a:gs pos="100000">
                  <a:srgbClr val="2D56A5">
                    <a:alpha val="100000"/>
                  </a:srgbClr>
                </a:gs>
              </a:gsLst>
              <a:lin ang="5400000"/>
            </a:gradFill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TextBox 13">
              <a:extLst>
                <a:ext uri="{FF2B5EF4-FFF2-40B4-BE49-F238E27FC236}">
                  <a16:creationId xmlns:a16="http://schemas.microsoft.com/office/drawing/2014/main" id="{4A9E0EF3-C12E-4D40-5998-A104B3D137A0}"/>
                </a:ext>
              </a:extLst>
            </p:cNvPr>
            <p:cNvSpPr txBox="1"/>
            <p:nvPr/>
          </p:nvSpPr>
          <p:spPr>
            <a:xfrm>
              <a:off x="0" y="-38100"/>
              <a:ext cx="388059" cy="93476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4" name="Freeform 14">
            <a:extLst>
              <a:ext uri="{FF2B5EF4-FFF2-40B4-BE49-F238E27FC236}">
                <a16:creationId xmlns:a16="http://schemas.microsoft.com/office/drawing/2014/main" id="{D5FCB620-53D5-0ED4-1FDC-2C0F43AF3FD4}"/>
              </a:ext>
            </a:extLst>
          </p:cNvPr>
          <p:cNvSpPr/>
          <p:nvPr/>
        </p:nvSpPr>
        <p:spPr>
          <a:xfrm>
            <a:off x="3895720" y="1028700"/>
            <a:ext cx="764904" cy="406407"/>
          </a:xfrm>
          <a:custGeom>
            <a:avLst/>
            <a:gdLst/>
            <a:ahLst/>
            <a:cxnLst/>
            <a:rect l="l" t="t" r="r" b="b"/>
            <a:pathLst>
              <a:path w="764904" h="406407">
                <a:moveTo>
                  <a:pt x="0" y="0"/>
                </a:moveTo>
                <a:lnTo>
                  <a:pt x="764904" y="0"/>
                </a:lnTo>
                <a:lnTo>
                  <a:pt x="764904" y="406407"/>
                </a:lnTo>
                <a:lnTo>
                  <a:pt x="0" y="406407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r="-111469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5" name="Freeform 15">
            <a:extLst>
              <a:ext uri="{FF2B5EF4-FFF2-40B4-BE49-F238E27FC236}">
                <a16:creationId xmlns:a16="http://schemas.microsoft.com/office/drawing/2014/main" id="{7D8C1388-93A3-0E1F-876C-FDA8FAAB2AF3}"/>
              </a:ext>
            </a:extLst>
          </p:cNvPr>
          <p:cNvSpPr/>
          <p:nvPr/>
        </p:nvSpPr>
        <p:spPr>
          <a:xfrm flipH="1">
            <a:off x="13627376" y="1028700"/>
            <a:ext cx="764904" cy="406407"/>
          </a:xfrm>
          <a:custGeom>
            <a:avLst/>
            <a:gdLst/>
            <a:ahLst/>
            <a:cxnLst/>
            <a:rect l="l" t="t" r="r" b="b"/>
            <a:pathLst>
              <a:path w="764904" h="406407">
                <a:moveTo>
                  <a:pt x="764904" y="0"/>
                </a:moveTo>
                <a:lnTo>
                  <a:pt x="0" y="0"/>
                </a:lnTo>
                <a:lnTo>
                  <a:pt x="0" y="406407"/>
                </a:lnTo>
                <a:lnTo>
                  <a:pt x="764904" y="406407"/>
                </a:lnTo>
                <a:lnTo>
                  <a:pt x="764904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r="-111469"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16" name="Group 16">
            <a:extLst>
              <a:ext uri="{FF2B5EF4-FFF2-40B4-BE49-F238E27FC236}">
                <a16:creationId xmlns:a16="http://schemas.microsoft.com/office/drawing/2014/main" id="{BF61C750-D242-B1CC-1C09-C79A5FFFBA97}"/>
              </a:ext>
            </a:extLst>
          </p:cNvPr>
          <p:cNvGrpSpPr/>
          <p:nvPr/>
        </p:nvGrpSpPr>
        <p:grpSpPr>
          <a:xfrm>
            <a:off x="1043202" y="6169502"/>
            <a:ext cx="8115300" cy="3594297"/>
            <a:chOff x="0" y="0"/>
            <a:chExt cx="1577092" cy="698500"/>
          </a:xfrm>
        </p:grpSpPr>
        <p:sp>
          <p:nvSpPr>
            <p:cNvPr id="17" name="Freeform 17">
              <a:extLst>
                <a:ext uri="{FF2B5EF4-FFF2-40B4-BE49-F238E27FC236}">
                  <a16:creationId xmlns:a16="http://schemas.microsoft.com/office/drawing/2014/main" id="{362C70A0-8CD1-3A2A-0F8A-B2D3E9BA328C}"/>
                </a:ext>
              </a:extLst>
            </p:cNvPr>
            <p:cNvSpPr/>
            <p:nvPr/>
          </p:nvSpPr>
          <p:spPr>
            <a:xfrm>
              <a:off x="0" y="0"/>
              <a:ext cx="1577092" cy="698500"/>
            </a:xfrm>
            <a:custGeom>
              <a:avLst/>
              <a:gdLst/>
              <a:ahLst/>
              <a:cxnLst/>
              <a:rect l="l" t="t" r="r" b="b"/>
              <a:pathLst>
                <a:path w="1577092" h="698500">
                  <a:moveTo>
                    <a:pt x="1577092" y="349250"/>
                  </a:moveTo>
                  <a:lnTo>
                    <a:pt x="1373892" y="698500"/>
                  </a:lnTo>
                  <a:lnTo>
                    <a:pt x="203200" y="698500"/>
                  </a:lnTo>
                  <a:lnTo>
                    <a:pt x="0" y="349250"/>
                  </a:lnTo>
                  <a:lnTo>
                    <a:pt x="203200" y="0"/>
                  </a:lnTo>
                  <a:lnTo>
                    <a:pt x="1373892" y="0"/>
                  </a:lnTo>
                  <a:lnTo>
                    <a:pt x="1577092" y="349250"/>
                  </a:lnTo>
                  <a:close/>
                </a:path>
              </a:pathLst>
            </a:custGeom>
            <a:gradFill rotWithShape="1">
              <a:gsLst>
                <a:gs pos="0">
                  <a:srgbClr val="002264">
                    <a:alpha val="100000"/>
                  </a:srgbClr>
                </a:gs>
                <a:gs pos="100000">
                  <a:srgbClr val="2D56A5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TextBox 18">
              <a:extLst>
                <a:ext uri="{FF2B5EF4-FFF2-40B4-BE49-F238E27FC236}">
                  <a16:creationId xmlns:a16="http://schemas.microsoft.com/office/drawing/2014/main" id="{1ACC46EC-475C-0C66-F962-9C5CE5F3C272}"/>
                </a:ext>
              </a:extLst>
            </p:cNvPr>
            <p:cNvSpPr txBox="1"/>
            <p:nvPr/>
          </p:nvSpPr>
          <p:spPr>
            <a:xfrm>
              <a:off x="114300" y="-38100"/>
              <a:ext cx="1348492" cy="7366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9" name="Group 19">
            <a:extLst>
              <a:ext uri="{FF2B5EF4-FFF2-40B4-BE49-F238E27FC236}">
                <a16:creationId xmlns:a16="http://schemas.microsoft.com/office/drawing/2014/main" id="{F98AD976-3556-AECB-C580-92A95B41F611}"/>
              </a:ext>
            </a:extLst>
          </p:cNvPr>
          <p:cNvGrpSpPr/>
          <p:nvPr/>
        </p:nvGrpSpPr>
        <p:grpSpPr>
          <a:xfrm>
            <a:off x="9263618" y="6149548"/>
            <a:ext cx="8115300" cy="3594297"/>
            <a:chOff x="0" y="0"/>
            <a:chExt cx="1577092" cy="698500"/>
          </a:xfrm>
        </p:grpSpPr>
        <p:sp>
          <p:nvSpPr>
            <p:cNvPr id="20" name="Freeform 20">
              <a:extLst>
                <a:ext uri="{FF2B5EF4-FFF2-40B4-BE49-F238E27FC236}">
                  <a16:creationId xmlns:a16="http://schemas.microsoft.com/office/drawing/2014/main" id="{2083303D-8416-5BAC-EC7A-305301836907}"/>
                </a:ext>
              </a:extLst>
            </p:cNvPr>
            <p:cNvSpPr/>
            <p:nvPr/>
          </p:nvSpPr>
          <p:spPr>
            <a:xfrm>
              <a:off x="0" y="0"/>
              <a:ext cx="1577092" cy="698500"/>
            </a:xfrm>
            <a:custGeom>
              <a:avLst/>
              <a:gdLst/>
              <a:ahLst/>
              <a:cxnLst/>
              <a:rect l="l" t="t" r="r" b="b"/>
              <a:pathLst>
                <a:path w="1577092" h="698500">
                  <a:moveTo>
                    <a:pt x="1577092" y="349250"/>
                  </a:moveTo>
                  <a:lnTo>
                    <a:pt x="1373892" y="698500"/>
                  </a:lnTo>
                  <a:lnTo>
                    <a:pt x="203200" y="698500"/>
                  </a:lnTo>
                  <a:lnTo>
                    <a:pt x="0" y="349250"/>
                  </a:lnTo>
                  <a:lnTo>
                    <a:pt x="203200" y="0"/>
                  </a:lnTo>
                  <a:lnTo>
                    <a:pt x="1373892" y="0"/>
                  </a:lnTo>
                  <a:lnTo>
                    <a:pt x="1577092" y="349250"/>
                  </a:lnTo>
                  <a:close/>
                </a:path>
              </a:pathLst>
            </a:custGeom>
            <a:gradFill rotWithShape="1">
              <a:gsLst>
                <a:gs pos="0">
                  <a:srgbClr val="002264">
                    <a:alpha val="100000"/>
                  </a:srgbClr>
                </a:gs>
                <a:gs pos="100000">
                  <a:srgbClr val="2D56A5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US"/>
            </a:p>
          </p:txBody>
        </p:sp>
        <p:sp>
          <p:nvSpPr>
            <p:cNvPr id="21" name="TextBox 21">
              <a:extLst>
                <a:ext uri="{FF2B5EF4-FFF2-40B4-BE49-F238E27FC236}">
                  <a16:creationId xmlns:a16="http://schemas.microsoft.com/office/drawing/2014/main" id="{A95B7D48-AA7C-2E36-EB33-EC8DEBCDC61D}"/>
                </a:ext>
              </a:extLst>
            </p:cNvPr>
            <p:cNvSpPr txBox="1"/>
            <p:nvPr/>
          </p:nvSpPr>
          <p:spPr>
            <a:xfrm>
              <a:off x="114300" y="-38100"/>
              <a:ext cx="1348492" cy="7366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22" name="Group 22">
            <a:extLst>
              <a:ext uri="{FF2B5EF4-FFF2-40B4-BE49-F238E27FC236}">
                <a16:creationId xmlns:a16="http://schemas.microsoft.com/office/drawing/2014/main" id="{0F5940CC-E6E3-F0B4-6930-688DE86F27E2}"/>
              </a:ext>
            </a:extLst>
          </p:cNvPr>
          <p:cNvGrpSpPr/>
          <p:nvPr/>
        </p:nvGrpSpPr>
        <p:grpSpPr>
          <a:xfrm>
            <a:off x="1286234" y="6350004"/>
            <a:ext cx="7747558" cy="3273366"/>
            <a:chOff x="0" y="0"/>
            <a:chExt cx="1653243" cy="698500"/>
          </a:xfrm>
        </p:grpSpPr>
        <p:sp>
          <p:nvSpPr>
            <p:cNvPr id="23" name="Freeform 23">
              <a:extLst>
                <a:ext uri="{FF2B5EF4-FFF2-40B4-BE49-F238E27FC236}">
                  <a16:creationId xmlns:a16="http://schemas.microsoft.com/office/drawing/2014/main" id="{87B39673-B7A9-EDC0-DD53-6E7569646255}"/>
                </a:ext>
              </a:extLst>
            </p:cNvPr>
            <p:cNvSpPr/>
            <p:nvPr/>
          </p:nvSpPr>
          <p:spPr>
            <a:xfrm>
              <a:off x="0" y="0"/>
              <a:ext cx="1653243" cy="698500"/>
            </a:xfrm>
            <a:custGeom>
              <a:avLst/>
              <a:gdLst/>
              <a:ahLst/>
              <a:cxnLst/>
              <a:rect l="l" t="t" r="r" b="b"/>
              <a:pathLst>
                <a:path w="1653243" h="698500">
                  <a:moveTo>
                    <a:pt x="1653243" y="349250"/>
                  </a:moveTo>
                  <a:lnTo>
                    <a:pt x="1450043" y="698500"/>
                  </a:lnTo>
                  <a:lnTo>
                    <a:pt x="203200" y="698500"/>
                  </a:lnTo>
                  <a:lnTo>
                    <a:pt x="0" y="349250"/>
                  </a:lnTo>
                  <a:lnTo>
                    <a:pt x="203200" y="0"/>
                  </a:lnTo>
                  <a:lnTo>
                    <a:pt x="1450043" y="0"/>
                  </a:lnTo>
                  <a:lnTo>
                    <a:pt x="1653243" y="349250"/>
                  </a:lnTo>
                  <a:close/>
                </a:path>
              </a:pathLst>
            </a:custGeom>
            <a:blipFill>
              <a:blip r:embed="rId7"/>
              <a:stretch>
                <a:fillRect t="-57691"/>
              </a:stretch>
            </a:blipFill>
            <a:ln w="123825" cap="sq">
              <a:gradFill>
                <a:gsLst>
                  <a:gs pos="0">
                    <a:srgbClr val="00060D">
                      <a:alpha val="100000"/>
                    </a:srgbClr>
                  </a:gs>
                  <a:gs pos="100000">
                    <a:srgbClr val="092C71">
                      <a:alpha val="0"/>
                    </a:srgbClr>
                  </a:gs>
                </a:gsLst>
                <a:lin ang="0"/>
              </a:gra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4" name="Group 24">
            <a:extLst>
              <a:ext uri="{FF2B5EF4-FFF2-40B4-BE49-F238E27FC236}">
                <a16:creationId xmlns:a16="http://schemas.microsoft.com/office/drawing/2014/main" id="{3225893F-044A-5D83-6351-462178BEBE05}"/>
              </a:ext>
            </a:extLst>
          </p:cNvPr>
          <p:cNvGrpSpPr/>
          <p:nvPr/>
        </p:nvGrpSpPr>
        <p:grpSpPr>
          <a:xfrm>
            <a:off x="9449520" y="6310014"/>
            <a:ext cx="7747558" cy="3273366"/>
            <a:chOff x="0" y="0"/>
            <a:chExt cx="1653243" cy="698500"/>
          </a:xfrm>
        </p:grpSpPr>
        <p:sp>
          <p:nvSpPr>
            <p:cNvPr id="25" name="Freeform 25">
              <a:extLst>
                <a:ext uri="{FF2B5EF4-FFF2-40B4-BE49-F238E27FC236}">
                  <a16:creationId xmlns:a16="http://schemas.microsoft.com/office/drawing/2014/main" id="{301CC346-903C-D845-98E3-2F0B299BD704}"/>
                </a:ext>
              </a:extLst>
            </p:cNvPr>
            <p:cNvSpPr/>
            <p:nvPr/>
          </p:nvSpPr>
          <p:spPr>
            <a:xfrm>
              <a:off x="0" y="0"/>
              <a:ext cx="1653243" cy="698500"/>
            </a:xfrm>
            <a:custGeom>
              <a:avLst/>
              <a:gdLst/>
              <a:ahLst/>
              <a:cxnLst/>
              <a:rect l="l" t="t" r="r" b="b"/>
              <a:pathLst>
                <a:path w="1653243" h="698500">
                  <a:moveTo>
                    <a:pt x="1653243" y="349250"/>
                  </a:moveTo>
                  <a:lnTo>
                    <a:pt x="1450043" y="698500"/>
                  </a:lnTo>
                  <a:lnTo>
                    <a:pt x="203200" y="698500"/>
                  </a:lnTo>
                  <a:lnTo>
                    <a:pt x="0" y="349250"/>
                  </a:lnTo>
                  <a:lnTo>
                    <a:pt x="203200" y="0"/>
                  </a:lnTo>
                  <a:lnTo>
                    <a:pt x="1450043" y="0"/>
                  </a:lnTo>
                  <a:lnTo>
                    <a:pt x="1653243" y="349250"/>
                  </a:lnTo>
                  <a:close/>
                </a:path>
              </a:pathLst>
            </a:custGeom>
            <a:blipFill>
              <a:blip r:embed="rId8"/>
              <a:stretch>
                <a:fillRect t="-28845" b="-28845"/>
              </a:stretch>
            </a:blipFill>
            <a:ln w="123825" cap="sq">
              <a:gradFill>
                <a:gsLst>
                  <a:gs pos="0">
                    <a:srgbClr val="00060D">
                      <a:alpha val="100000"/>
                    </a:srgbClr>
                  </a:gs>
                  <a:gs pos="100000">
                    <a:srgbClr val="092C71">
                      <a:alpha val="0"/>
                    </a:srgbClr>
                  </a:gs>
                </a:gsLst>
                <a:lin ang="0"/>
              </a:gra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6" name="Group 26">
            <a:extLst>
              <a:ext uri="{FF2B5EF4-FFF2-40B4-BE49-F238E27FC236}">
                <a16:creationId xmlns:a16="http://schemas.microsoft.com/office/drawing/2014/main" id="{39F1F3B3-FD0C-1816-DD9C-70AE27DE4910}"/>
              </a:ext>
            </a:extLst>
          </p:cNvPr>
          <p:cNvGrpSpPr/>
          <p:nvPr/>
        </p:nvGrpSpPr>
        <p:grpSpPr>
          <a:xfrm>
            <a:off x="0" y="10032423"/>
            <a:ext cx="18288000" cy="254577"/>
            <a:chOff x="0" y="0"/>
            <a:chExt cx="4816593" cy="67049"/>
          </a:xfrm>
        </p:grpSpPr>
        <p:sp>
          <p:nvSpPr>
            <p:cNvPr id="27" name="Freeform 27">
              <a:extLst>
                <a:ext uri="{FF2B5EF4-FFF2-40B4-BE49-F238E27FC236}">
                  <a16:creationId xmlns:a16="http://schemas.microsoft.com/office/drawing/2014/main" id="{F0B12FF5-FAB7-C42B-5BEE-8DD8BED6E411}"/>
                </a:ext>
              </a:extLst>
            </p:cNvPr>
            <p:cNvSpPr/>
            <p:nvPr/>
          </p:nvSpPr>
          <p:spPr>
            <a:xfrm>
              <a:off x="0" y="0"/>
              <a:ext cx="4816592" cy="67049"/>
            </a:xfrm>
            <a:custGeom>
              <a:avLst/>
              <a:gdLst/>
              <a:ahLst/>
              <a:cxnLst/>
              <a:rect l="l" t="t" r="r" b="b"/>
              <a:pathLst>
                <a:path w="4816592" h="67049">
                  <a:moveTo>
                    <a:pt x="0" y="0"/>
                  </a:moveTo>
                  <a:lnTo>
                    <a:pt x="4816592" y="0"/>
                  </a:lnTo>
                  <a:lnTo>
                    <a:pt x="4816592" y="67049"/>
                  </a:lnTo>
                  <a:lnTo>
                    <a:pt x="0" y="67049"/>
                  </a:lnTo>
                  <a:close/>
                </a:path>
              </a:pathLst>
            </a:custGeom>
            <a:gradFill rotWithShape="1">
              <a:gsLst>
                <a:gs pos="0">
                  <a:srgbClr val="002264">
                    <a:alpha val="100000"/>
                  </a:srgbClr>
                </a:gs>
                <a:gs pos="100000">
                  <a:srgbClr val="2D56A5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US"/>
            </a:p>
          </p:txBody>
        </p:sp>
        <p:sp>
          <p:nvSpPr>
            <p:cNvPr id="28" name="TextBox 28">
              <a:extLst>
                <a:ext uri="{FF2B5EF4-FFF2-40B4-BE49-F238E27FC236}">
                  <a16:creationId xmlns:a16="http://schemas.microsoft.com/office/drawing/2014/main" id="{95EB2047-DE83-5C28-735D-9FCAC7487CE1}"/>
                </a:ext>
              </a:extLst>
            </p:cNvPr>
            <p:cNvSpPr txBox="1"/>
            <p:nvPr/>
          </p:nvSpPr>
          <p:spPr>
            <a:xfrm>
              <a:off x="0" y="-38100"/>
              <a:ext cx="4816593" cy="10514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9" name="TextBox 29">
            <a:extLst>
              <a:ext uri="{FF2B5EF4-FFF2-40B4-BE49-F238E27FC236}">
                <a16:creationId xmlns:a16="http://schemas.microsoft.com/office/drawing/2014/main" id="{788DB1FF-E2C2-D1C2-F81F-719B75E3F3D7}"/>
              </a:ext>
            </a:extLst>
          </p:cNvPr>
          <p:cNvSpPr txBox="1"/>
          <p:nvPr/>
        </p:nvSpPr>
        <p:spPr>
          <a:xfrm>
            <a:off x="3542828" y="683531"/>
            <a:ext cx="12253955" cy="13012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704"/>
              </a:lnSpc>
              <a:spcBef>
                <a:spcPct val="0"/>
              </a:spcBef>
            </a:pPr>
            <a:r>
              <a:rPr lang="en-US" sz="7646" b="1" dirty="0">
                <a:solidFill>
                  <a:srgbClr val="10347A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RECOMMENDATIONS</a:t>
            </a:r>
          </a:p>
        </p:txBody>
      </p:sp>
      <p:sp>
        <p:nvSpPr>
          <p:cNvPr id="31" name="Rectangle 1">
            <a:extLst>
              <a:ext uri="{FF2B5EF4-FFF2-40B4-BE49-F238E27FC236}">
                <a16:creationId xmlns:a16="http://schemas.microsoft.com/office/drawing/2014/main" id="{210AD25D-BF48-7ADC-75A9-4AC2D7ABF472}"/>
              </a:ext>
            </a:extLst>
          </p:cNvPr>
          <p:cNvSpPr>
            <a:spLocks noChangeArrowheads="1"/>
          </p:cNvSpPr>
          <p:nvPr/>
        </p:nvSpPr>
        <p:spPr bwMode="auto">
          <a:xfrm>
            <a:off x="909081" y="1942637"/>
            <a:ext cx="16735731" cy="46166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457200" indent="-45720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.</a:t>
            </a:r>
            <a:r>
              <a:rPr lang="en-US" sz="2800" dirty="0">
                <a:solidFill>
                  <a:schemeClr val="tx2">
                    <a:lumMod val="75000"/>
                  </a:schemeClr>
                </a:solidFill>
                <a:latin typeface="Roboto"/>
                <a:ea typeface="Roboto"/>
                <a:cs typeface="Roboto"/>
                <a:sym typeface="Roboto"/>
              </a:rPr>
              <a:t> Enhance low sales weekdays on </a:t>
            </a:r>
            <a:r>
              <a:rPr lang="en-US" sz="2800" b="1" dirty="0">
                <a:solidFill>
                  <a:schemeClr val="tx2"/>
                </a:solidFill>
                <a:latin typeface="Roboto"/>
                <a:ea typeface="Roboto"/>
                <a:cs typeface="Roboto"/>
                <a:sym typeface="Roboto"/>
              </a:rPr>
              <a:t>Thursday, Friday </a:t>
            </a:r>
            <a:r>
              <a:rPr lang="en-US" sz="2800" dirty="0">
                <a:solidFill>
                  <a:schemeClr val="tx2">
                    <a:lumMod val="75000"/>
                  </a:schemeClr>
                </a:solidFill>
                <a:latin typeface="Roboto"/>
                <a:ea typeface="Roboto"/>
                <a:cs typeface="Roboto"/>
                <a:sym typeface="Roboto"/>
              </a:rPr>
              <a:t>( discounts, promotions) </a:t>
            </a:r>
          </a:p>
          <a:p>
            <a:pPr marL="457200" indent="-45720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800" dirty="0">
                <a:solidFill>
                  <a:schemeClr val="tx2">
                    <a:lumMod val="75000"/>
                  </a:schemeClr>
                </a:solidFill>
                <a:latin typeface="Roboto"/>
                <a:ea typeface="Roboto"/>
                <a:cs typeface="Roboto"/>
                <a:sym typeface="Roboto"/>
              </a:rPr>
              <a:t>The </a:t>
            </a:r>
            <a:r>
              <a:rPr lang="en-US" sz="2800" b="1" dirty="0">
                <a:solidFill>
                  <a:schemeClr val="tx2">
                    <a:lumMod val="75000"/>
                  </a:schemeClr>
                </a:solidFill>
                <a:latin typeface="Roboto"/>
                <a:ea typeface="Roboto"/>
                <a:cs typeface="Roboto"/>
                <a:sym typeface="Roboto"/>
              </a:rPr>
              <a:t>less products </a:t>
            </a:r>
            <a:r>
              <a:rPr lang="en-US" sz="2800" dirty="0">
                <a:solidFill>
                  <a:schemeClr val="tx2">
                    <a:lumMod val="75000"/>
                  </a:schemeClr>
                </a:solidFill>
                <a:latin typeface="Roboto"/>
                <a:ea typeface="Roboto"/>
                <a:cs typeface="Roboto"/>
                <a:sym typeface="Roboto"/>
              </a:rPr>
              <a:t>to be investigated for client support issue, maintenance issue, upgrading </a:t>
            </a:r>
            <a:r>
              <a:rPr lang="en-US" sz="2800" b="1" dirty="0">
                <a:solidFill>
                  <a:schemeClr val="tx2">
                    <a:lumMod val="75000"/>
                  </a:schemeClr>
                </a:solidFill>
                <a:latin typeface="Roboto"/>
                <a:ea typeface="Roboto"/>
                <a:cs typeface="Roboto"/>
                <a:sym typeface="Roboto"/>
              </a:rPr>
              <a:t>(ACME serrated blade, Grip  seal envelopes, xerox 20) along with bundles with top sale products.</a:t>
            </a: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2"/>
              </a:solidFill>
              <a:effectLst/>
              <a:latin typeface="Arial" panose="020B0604020202020204" pitchFamily="34" charset="0"/>
            </a:endParaRPr>
          </a:p>
          <a:p>
            <a:pPr marL="457200" marR="0" lvl="0" indent="-4572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Trends &amp; Seasonality</a:t>
            </a: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2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Leverage historical sales patterns to plan inventory and promotions proactively.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Prepare for peak demand periods to minimize stockouts </a:t>
            </a:r>
            <a:r>
              <a:rPr kumimoji="0" lang="ar-EG" altLang="en-US" sz="28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)</a:t>
            </a: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Q3&amp; Q4) 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and maximize revenue 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sz="2800" dirty="0">
                <a:solidFill>
                  <a:schemeClr val="tx2"/>
                </a:solidFill>
                <a:latin typeface="Arial" panose="020B0604020202020204" pitchFamily="34" charset="0"/>
              </a:rPr>
              <a:t>Consider discounts, bundles, or loyalty incentives to stimulate demand </a:t>
            </a:r>
            <a:r>
              <a:rPr lang="en-US" sz="2800" b="1" dirty="0">
                <a:solidFill>
                  <a:schemeClr val="tx2"/>
                </a:solidFill>
                <a:latin typeface="Arial" panose="020B0604020202020204" pitchFamily="34" charset="0"/>
              </a:rPr>
              <a:t>(Q1 &amp; Q2)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2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1056510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1F55BA-443E-F2AF-CE1A-9DD3AAA528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D3413D35-49D1-F696-8987-A941BDDB47E4}"/>
              </a:ext>
            </a:extLst>
          </p:cNvPr>
          <p:cNvSpPr/>
          <p:nvPr/>
        </p:nvSpPr>
        <p:spPr>
          <a:xfrm>
            <a:off x="80164" y="-1152663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2813" t="-22813"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F0E1B48D-F13F-AFB3-1F32-982058A562D9}"/>
              </a:ext>
            </a:extLst>
          </p:cNvPr>
          <p:cNvSpPr/>
          <p:nvPr/>
        </p:nvSpPr>
        <p:spPr>
          <a:xfrm flipH="1" flipV="1">
            <a:off x="13297050" y="-2137660"/>
            <a:ext cx="4989436" cy="5661772"/>
          </a:xfrm>
          <a:custGeom>
            <a:avLst/>
            <a:gdLst/>
            <a:ahLst/>
            <a:cxnLst/>
            <a:rect l="l" t="t" r="r" b="b"/>
            <a:pathLst>
              <a:path w="4989436" h="5661772">
                <a:moveTo>
                  <a:pt x="4989437" y="5661772"/>
                </a:moveTo>
                <a:lnTo>
                  <a:pt x="0" y="5661772"/>
                </a:lnTo>
                <a:lnTo>
                  <a:pt x="0" y="0"/>
                </a:lnTo>
                <a:lnTo>
                  <a:pt x="4989437" y="0"/>
                </a:lnTo>
                <a:lnTo>
                  <a:pt x="4989437" y="5661772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>
            <a:extLst>
              <a:ext uri="{FF2B5EF4-FFF2-40B4-BE49-F238E27FC236}">
                <a16:creationId xmlns:a16="http://schemas.microsoft.com/office/drawing/2014/main" id="{AE6AF651-B9B2-7B3C-B174-40AB4000062D}"/>
              </a:ext>
            </a:extLst>
          </p:cNvPr>
          <p:cNvSpPr/>
          <p:nvPr/>
        </p:nvSpPr>
        <p:spPr>
          <a:xfrm flipV="1">
            <a:off x="1513" y="-2137660"/>
            <a:ext cx="4989436" cy="5661772"/>
          </a:xfrm>
          <a:custGeom>
            <a:avLst/>
            <a:gdLst/>
            <a:ahLst/>
            <a:cxnLst/>
            <a:rect l="l" t="t" r="r" b="b"/>
            <a:pathLst>
              <a:path w="4989436" h="5661772">
                <a:moveTo>
                  <a:pt x="0" y="5661772"/>
                </a:moveTo>
                <a:lnTo>
                  <a:pt x="4989437" y="5661772"/>
                </a:lnTo>
                <a:lnTo>
                  <a:pt x="4989437" y="0"/>
                </a:lnTo>
                <a:lnTo>
                  <a:pt x="0" y="0"/>
                </a:lnTo>
                <a:lnTo>
                  <a:pt x="0" y="5661772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Freeform 5">
            <a:extLst>
              <a:ext uri="{FF2B5EF4-FFF2-40B4-BE49-F238E27FC236}">
                <a16:creationId xmlns:a16="http://schemas.microsoft.com/office/drawing/2014/main" id="{2ADB4B49-56D5-4EF1-DC74-7056F10BD1CA}"/>
              </a:ext>
            </a:extLst>
          </p:cNvPr>
          <p:cNvSpPr/>
          <p:nvPr/>
        </p:nvSpPr>
        <p:spPr>
          <a:xfrm flipH="1">
            <a:off x="16496883" y="5108189"/>
            <a:ext cx="4989436" cy="5661772"/>
          </a:xfrm>
          <a:custGeom>
            <a:avLst/>
            <a:gdLst/>
            <a:ahLst/>
            <a:cxnLst/>
            <a:rect l="l" t="t" r="r" b="b"/>
            <a:pathLst>
              <a:path w="4989436" h="5661772">
                <a:moveTo>
                  <a:pt x="4989437" y="0"/>
                </a:moveTo>
                <a:lnTo>
                  <a:pt x="0" y="0"/>
                </a:lnTo>
                <a:lnTo>
                  <a:pt x="0" y="5661771"/>
                </a:lnTo>
                <a:lnTo>
                  <a:pt x="4989437" y="5661771"/>
                </a:lnTo>
                <a:lnTo>
                  <a:pt x="4989437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Freeform 6">
            <a:extLst>
              <a:ext uri="{FF2B5EF4-FFF2-40B4-BE49-F238E27FC236}">
                <a16:creationId xmlns:a16="http://schemas.microsoft.com/office/drawing/2014/main" id="{2557E7C2-EDAB-12C4-EC0C-161F4547F0AE}"/>
              </a:ext>
            </a:extLst>
          </p:cNvPr>
          <p:cNvSpPr/>
          <p:nvPr/>
        </p:nvSpPr>
        <p:spPr>
          <a:xfrm>
            <a:off x="-3198320" y="5108189"/>
            <a:ext cx="4989436" cy="5661772"/>
          </a:xfrm>
          <a:custGeom>
            <a:avLst/>
            <a:gdLst/>
            <a:ahLst/>
            <a:cxnLst/>
            <a:rect l="l" t="t" r="r" b="b"/>
            <a:pathLst>
              <a:path w="4989436" h="5661772">
                <a:moveTo>
                  <a:pt x="0" y="0"/>
                </a:moveTo>
                <a:lnTo>
                  <a:pt x="4989437" y="0"/>
                </a:lnTo>
                <a:lnTo>
                  <a:pt x="4989437" y="5661771"/>
                </a:lnTo>
                <a:lnTo>
                  <a:pt x="0" y="566177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E8871C1B-060C-6F17-17A8-069026EA3A06}"/>
              </a:ext>
            </a:extLst>
          </p:cNvPr>
          <p:cNvSpPr txBox="1"/>
          <p:nvPr/>
        </p:nvSpPr>
        <p:spPr>
          <a:xfrm>
            <a:off x="2906814" y="-210669"/>
            <a:ext cx="12253955" cy="13012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704"/>
              </a:lnSpc>
              <a:spcBef>
                <a:spcPct val="0"/>
              </a:spcBef>
            </a:pPr>
            <a:r>
              <a:rPr lang="en-US" sz="7646" b="1" dirty="0">
                <a:solidFill>
                  <a:srgbClr val="00060D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STRATEGIC</a:t>
            </a:r>
          </a:p>
        </p:txBody>
      </p:sp>
      <p:grpSp>
        <p:nvGrpSpPr>
          <p:cNvPr id="8" name="Group 8">
            <a:extLst>
              <a:ext uri="{FF2B5EF4-FFF2-40B4-BE49-F238E27FC236}">
                <a16:creationId xmlns:a16="http://schemas.microsoft.com/office/drawing/2014/main" id="{AA82A94B-96E1-FF94-FB57-B4F979B6FF11}"/>
              </a:ext>
            </a:extLst>
          </p:cNvPr>
          <p:cNvGrpSpPr/>
          <p:nvPr/>
        </p:nvGrpSpPr>
        <p:grpSpPr>
          <a:xfrm rot="1816035">
            <a:off x="-566561" y="-953124"/>
            <a:ext cx="1473413" cy="3404505"/>
            <a:chOff x="0" y="0"/>
            <a:chExt cx="388059" cy="896660"/>
          </a:xfrm>
        </p:grpSpPr>
        <p:sp>
          <p:nvSpPr>
            <p:cNvPr id="9" name="Freeform 9">
              <a:extLst>
                <a:ext uri="{FF2B5EF4-FFF2-40B4-BE49-F238E27FC236}">
                  <a16:creationId xmlns:a16="http://schemas.microsoft.com/office/drawing/2014/main" id="{DB188DFD-F5CB-CA39-455E-F2A4766D8499}"/>
                </a:ext>
              </a:extLst>
            </p:cNvPr>
            <p:cNvSpPr/>
            <p:nvPr/>
          </p:nvSpPr>
          <p:spPr>
            <a:xfrm>
              <a:off x="0" y="0"/>
              <a:ext cx="388059" cy="896660"/>
            </a:xfrm>
            <a:custGeom>
              <a:avLst/>
              <a:gdLst/>
              <a:ahLst/>
              <a:cxnLst/>
              <a:rect l="l" t="t" r="r" b="b"/>
              <a:pathLst>
                <a:path w="388059" h="896660">
                  <a:moveTo>
                    <a:pt x="0" y="0"/>
                  </a:moveTo>
                  <a:lnTo>
                    <a:pt x="388059" y="0"/>
                  </a:lnTo>
                  <a:lnTo>
                    <a:pt x="388059" y="896660"/>
                  </a:lnTo>
                  <a:lnTo>
                    <a:pt x="0" y="896660"/>
                  </a:lnTo>
                  <a:close/>
                </a:path>
              </a:pathLst>
            </a:custGeom>
            <a:gradFill rotWithShape="1">
              <a:gsLst>
                <a:gs pos="0">
                  <a:srgbClr val="002264">
                    <a:alpha val="100000"/>
                  </a:srgbClr>
                </a:gs>
                <a:gs pos="100000">
                  <a:srgbClr val="2D56A5">
                    <a:alpha val="100000"/>
                  </a:srgbClr>
                </a:gs>
              </a:gsLst>
              <a:lin ang="5400000"/>
            </a:gradFill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TextBox 10">
              <a:extLst>
                <a:ext uri="{FF2B5EF4-FFF2-40B4-BE49-F238E27FC236}">
                  <a16:creationId xmlns:a16="http://schemas.microsoft.com/office/drawing/2014/main" id="{1B3CAA1C-736A-D7D5-A647-3A82C6341E0F}"/>
                </a:ext>
              </a:extLst>
            </p:cNvPr>
            <p:cNvSpPr txBox="1"/>
            <p:nvPr/>
          </p:nvSpPr>
          <p:spPr>
            <a:xfrm>
              <a:off x="0" y="-38100"/>
              <a:ext cx="388059" cy="93476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1" name="Group 11">
            <a:extLst>
              <a:ext uri="{FF2B5EF4-FFF2-40B4-BE49-F238E27FC236}">
                <a16:creationId xmlns:a16="http://schemas.microsoft.com/office/drawing/2014/main" id="{D8E93D6B-533D-F3D0-37A2-787FDB5EB700}"/>
              </a:ext>
            </a:extLst>
          </p:cNvPr>
          <p:cNvGrpSpPr/>
          <p:nvPr/>
        </p:nvGrpSpPr>
        <p:grpSpPr>
          <a:xfrm rot="-1818000">
            <a:off x="17380520" y="-953124"/>
            <a:ext cx="1473413" cy="3404505"/>
            <a:chOff x="0" y="0"/>
            <a:chExt cx="388059" cy="896660"/>
          </a:xfrm>
        </p:grpSpPr>
        <p:sp>
          <p:nvSpPr>
            <p:cNvPr id="12" name="Freeform 12">
              <a:extLst>
                <a:ext uri="{FF2B5EF4-FFF2-40B4-BE49-F238E27FC236}">
                  <a16:creationId xmlns:a16="http://schemas.microsoft.com/office/drawing/2014/main" id="{6DEFFCBE-D30E-B84E-91C7-CB53CB4EE753}"/>
                </a:ext>
              </a:extLst>
            </p:cNvPr>
            <p:cNvSpPr/>
            <p:nvPr/>
          </p:nvSpPr>
          <p:spPr>
            <a:xfrm>
              <a:off x="0" y="0"/>
              <a:ext cx="388059" cy="896660"/>
            </a:xfrm>
            <a:custGeom>
              <a:avLst/>
              <a:gdLst/>
              <a:ahLst/>
              <a:cxnLst/>
              <a:rect l="l" t="t" r="r" b="b"/>
              <a:pathLst>
                <a:path w="388059" h="896660">
                  <a:moveTo>
                    <a:pt x="0" y="0"/>
                  </a:moveTo>
                  <a:lnTo>
                    <a:pt x="388059" y="0"/>
                  </a:lnTo>
                  <a:lnTo>
                    <a:pt x="388059" y="896660"/>
                  </a:lnTo>
                  <a:lnTo>
                    <a:pt x="0" y="896660"/>
                  </a:lnTo>
                  <a:close/>
                </a:path>
              </a:pathLst>
            </a:custGeom>
            <a:gradFill rotWithShape="1">
              <a:gsLst>
                <a:gs pos="0">
                  <a:srgbClr val="002264">
                    <a:alpha val="100000"/>
                  </a:srgbClr>
                </a:gs>
                <a:gs pos="100000">
                  <a:srgbClr val="2D56A5">
                    <a:alpha val="100000"/>
                  </a:srgbClr>
                </a:gs>
              </a:gsLst>
              <a:lin ang="5400000"/>
            </a:gradFill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TextBox 13">
              <a:extLst>
                <a:ext uri="{FF2B5EF4-FFF2-40B4-BE49-F238E27FC236}">
                  <a16:creationId xmlns:a16="http://schemas.microsoft.com/office/drawing/2014/main" id="{99F95C30-B358-CF3B-17C7-378BFC89D889}"/>
                </a:ext>
              </a:extLst>
            </p:cNvPr>
            <p:cNvSpPr txBox="1"/>
            <p:nvPr/>
          </p:nvSpPr>
          <p:spPr>
            <a:xfrm>
              <a:off x="0" y="-38100"/>
              <a:ext cx="388059" cy="93476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4" name="Freeform 14">
            <a:extLst>
              <a:ext uri="{FF2B5EF4-FFF2-40B4-BE49-F238E27FC236}">
                <a16:creationId xmlns:a16="http://schemas.microsoft.com/office/drawing/2014/main" id="{19C006E3-707F-FE2C-8229-326A2BBD980F}"/>
              </a:ext>
            </a:extLst>
          </p:cNvPr>
          <p:cNvSpPr/>
          <p:nvPr/>
        </p:nvSpPr>
        <p:spPr>
          <a:xfrm>
            <a:off x="3895720" y="1028700"/>
            <a:ext cx="764904" cy="406407"/>
          </a:xfrm>
          <a:custGeom>
            <a:avLst/>
            <a:gdLst/>
            <a:ahLst/>
            <a:cxnLst/>
            <a:rect l="l" t="t" r="r" b="b"/>
            <a:pathLst>
              <a:path w="764904" h="406407">
                <a:moveTo>
                  <a:pt x="0" y="0"/>
                </a:moveTo>
                <a:lnTo>
                  <a:pt x="764904" y="0"/>
                </a:lnTo>
                <a:lnTo>
                  <a:pt x="764904" y="406407"/>
                </a:lnTo>
                <a:lnTo>
                  <a:pt x="0" y="406407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r="-111469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5" name="Freeform 15">
            <a:extLst>
              <a:ext uri="{FF2B5EF4-FFF2-40B4-BE49-F238E27FC236}">
                <a16:creationId xmlns:a16="http://schemas.microsoft.com/office/drawing/2014/main" id="{2E8D476D-1C6C-5C44-2869-187B803C0F38}"/>
              </a:ext>
            </a:extLst>
          </p:cNvPr>
          <p:cNvSpPr/>
          <p:nvPr/>
        </p:nvSpPr>
        <p:spPr>
          <a:xfrm flipH="1">
            <a:off x="13627376" y="1028700"/>
            <a:ext cx="764904" cy="406407"/>
          </a:xfrm>
          <a:custGeom>
            <a:avLst/>
            <a:gdLst/>
            <a:ahLst/>
            <a:cxnLst/>
            <a:rect l="l" t="t" r="r" b="b"/>
            <a:pathLst>
              <a:path w="764904" h="406407">
                <a:moveTo>
                  <a:pt x="764904" y="0"/>
                </a:moveTo>
                <a:lnTo>
                  <a:pt x="0" y="0"/>
                </a:lnTo>
                <a:lnTo>
                  <a:pt x="0" y="406407"/>
                </a:lnTo>
                <a:lnTo>
                  <a:pt x="764904" y="406407"/>
                </a:lnTo>
                <a:lnTo>
                  <a:pt x="764904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r="-111469"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16" name="Group 16">
            <a:extLst>
              <a:ext uri="{FF2B5EF4-FFF2-40B4-BE49-F238E27FC236}">
                <a16:creationId xmlns:a16="http://schemas.microsoft.com/office/drawing/2014/main" id="{3AB86FB6-1BF1-F557-50E5-3428DC623F75}"/>
              </a:ext>
            </a:extLst>
          </p:cNvPr>
          <p:cNvGrpSpPr/>
          <p:nvPr/>
        </p:nvGrpSpPr>
        <p:grpSpPr>
          <a:xfrm>
            <a:off x="1043202" y="6169502"/>
            <a:ext cx="8115300" cy="3594297"/>
            <a:chOff x="0" y="0"/>
            <a:chExt cx="1577092" cy="698500"/>
          </a:xfrm>
        </p:grpSpPr>
        <p:sp>
          <p:nvSpPr>
            <p:cNvPr id="17" name="Freeform 17">
              <a:extLst>
                <a:ext uri="{FF2B5EF4-FFF2-40B4-BE49-F238E27FC236}">
                  <a16:creationId xmlns:a16="http://schemas.microsoft.com/office/drawing/2014/main" id="{A9F1306C-C233-A0DE-4B17-9DAD8FFD9597}"/>
                </a:ext>
              </a:extLst>
            </p:cNvPr>
            <p:cNvSpPr/>
            <p:nvPr/>
          </p:nvSpPr>
          <p:spPr>
            <a:xfrm>
              <a:off x="0" y="0"/>
              <a:ext cx="1577092" cy="698500"/>
            </a:xfrm>
            <a:custGeom>
              <a:avLst/>
              <a:gdLst/>
              <a:ahLst/>
              <a:cxnLst/>
              <a:rect l="l" t="t" r="r" b="b"/>
              <a:pathLst>
                <a:path w="1577092" h="698500">
                  <a:moveTo>
                    <a:pt x="1577092" y="349250"/>
                  </a:moveTo>
                  <a:lnTo>
                    <a:pt x="1373892" y="698500"/>
                  </a:lnTo>
                  <a:lnTo>
                    <a:pt x="203200" y="698500"/>
                  </a:lnTo>
                  <a:lnTo>
                    <a:pt x="0" y="349250"/>
                  </a:lnTo>
                  <a:lnTo>
                    <a:pt x="203200" y="0"/>
                  </a:lnTo>
                  <a:lnTo>
                    <a:pt x="1373892" y="0"/>
                  </a:lnTo>
                  <a:lnTo>
                    <a:pt x="1577092" y="349250"/>
                  </a:lnTo>
                  <a:close/>
                </a:path>
              </a:pathLst>
            </a:custGeom>
            <a:gradFill rotWithShape="1">
              <a:gsLst>
                <a:gs pos="0">
                  <a:srgbClr val="002264">
                    <a:alpha val="100000"/>
                  </a:srgbClr>
                </a:gs>
                <a:gs pos="100000">
                  <a:srgbClr val="2D56A5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TextBox 18">
              <a:extLst>
                <a:ext uri="{FF2B5EF4-FFF2-40B4-BE49-F238E27FC236}">
                  <a16:creationId xmlns:a16="http://schemas.microsoft.com/office/drawing/2014/main" id="{70FA95E6-CB30-AB0F-AE80-43601250E740}"/>
                </a:ext>
              </a:extLst>
            </p:cNvPr>
            <p:cNvSpPr txBox="1"/>
            <p:nvPr/>
          </p:nvSpPr>
          <p:spPr>
            <a:xfrm>
              <a:off x="114300" y="-38100"/>
              <a:ext cx="1348492" cy="7366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9" name="Group 19">
            <a:extLst>
              <a:ext uri="{FF2B5EF4-FFF2-40B4-BE49-F238E27FC236}">
                <a16:creationId xmlns:a16="http://schemas.microsoft.com/office/drawing/2014/main" id="{6B54EC1B-E2E8-E58A-1FE2-76D2AE6E5A6E}"/>
              </a:ext>
            </a:extLst>
          </p:cNvPr>
          <p:cNvGrpSpPr/>
          <p:nvPr/>
        </p:nvGrpSpPr>
        <p:grpSpPr>
          <a:xfrm>
            <a:off x="9263618" y="6149548"/>
            <a:ext cx="8115300" cy="3594297"/>
            <a:chOff x="0" y="0"/>
            <a:chExt cx="1577092" cy="698500"/>
          </a:xfrm>
        </p:grpSpPr>
        <p:sp>
          <p:nvSpPr>
            <p:cNvPr id="20" name="Freeform 20">
              <a:extLst>
                <a:ext uri="{FF2B5EF4-FFF2-40B4-BE49-F238E27FC236}">
                  <a16:creationId xmlns:a16="http://schemas.microsoft.com/office/drawing/2014/main" id="{F71BEA0F-8E12-C3EF-7AF8-00D12F842E51}"/>
                </a:ext>
              </a:extLst>
            </p:cNvPr>
            <p:cNvSpPr/>
            <p:nvPr/>
          </p:nvSpPr>
          <p:spPr>
            <a:xfrm>
              <a:off x="0" y="0"/>
              <a:ext cx="1577092" cy="698500"/>
            </a:xfrm>
            <a:custGeom>
              <a:avLst/>
              <a:gdLst/>
              <a:ahLst/>
              <a:cxnLst/>
              <a:rect l="l" t="t" r="r" b="b"/>
              <a:pathLst>
                <a:path w="1577092" h="698500">
                  <a:moveTo>
                    <a:pt x="1577092" y="349250"/>
                  </a:moveTo>
                  <a:lnTo>
                    <a:pt x="1373892" y="698500"/>
                  </a:lnTo>
                  <a:lnTo>
                    <a:pt x="203200" y="698500"/>
                  </a:lnTo>
                  <a:lnTo>
                    <a:pt x="0" y="349250"/>
                  </a:lnTo>
                  <a:lnTo>
                    <a:pt x="203200" y="0"/>
                  </a:lnTo>
                  <a:lnTo>
                    <a:pt x="1373892" y="0"/>
                  </a:lnTo>
                  <a:lnTo>
                    <a:pt x="1577092" y="349250"/>
                  </a:lnTo>
                  <a:close/>
                </a:path>
              </a:pathLst>
            </a:custGeom>
            <a:gradFill rotWithShape="1">
              <a:gsLst>
                <a:gs pos="0">
                  <a:srgbClr val="002264">
                    <a:alpha val="100000"/>
                  </a:srgbClr>
                </a:gs>
                <a:gs pos="100000">
                  <a:srgbClr val="2D56A5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US"/>
            </a:p>
          </p:txBody>
        </p:sp>
        <p:sp>
          <p:nvSpPr>
            <p:cNvPr id="21" name="TextBox 21">
              <a:extLst>
                <a:ext uri="{FF2B5EF4-FFF2-40B4-BE49-F238E27FC236}">
                  <a16:creationId xmlns:a16="http://schemas.microsoft.com/office/drawing/2014/main" id="{6C30408F-CD52-E4C1-5A71-F41BFF0D9B8E}"/>
                </a:ext>
              </a:extLst>
            </p:cNvPr>
            <p:cNvSpPr txBox="1"/>
            <p:nvPr/>
          </p:nvSpPr>
          <p:spPr>
            <a:xfrm>
              <a:off x="114300" y="-38100"/>
              <a:ext cx="1348492" cy="7366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22" name="Group 22">
            <a:extLst>
              <a:ext uri="{FF2B5EF4-FFF2-40B4-BE49-F238E27FC236}">
                <a16:creationId xmlns:a16="http://schemas.microsoft.com/office/drawing/2014/main" id="{2C4DCAC3-6056-789A-101B-C75898A84441}"/>
              </a:ext>
            </a:extLst>
          </p:cNvPr>
          <p:cNvGrpSpPr/>
          <p:nvPr/>
        </p:nvGrpSpPr>
        <p:grpSpPr>
          <a:xfrm>
            <a:off x="1286234" y="6350004"/>
            <a:ext cx="7747558" cy="3273366"/>
            <a:chOff x="0" y="0"/>
            <a:chExt cx="1653243" cy="698500"/>
          </a:xfrm>
        </p:grpSpPr>
        <p:sp>
          <p:nvSpPr>
            <p:cNvPr id="23" name="Freeform 23">
              <a:extLst>
                <a:ext uri="{FF2B5EF4-FFF2-40B4-BE49-F238E27FC236}">
                  <a16:creationId xmlns:a16="http://schemas.microsoft.com/office/drawing/2014/main" id="{DD058C9D-31BB-CBAA-A936-907CE5E597C9}"/>
                </a:ext>
              </a:extLst>
            </p:cNvPr>
            <p:cNvSpPr/>
            <p:nvPr/>
          </p:nvSpPr>
          <p:spPr>
            <a:xfrm>
              <a:off x="0" y="0"/>
              <a:ext cx="1653243" cy="698500"/>
            </a:xfrm>
            <a:custGeom>
              <a:avLst/>
              <a:gdLst/>
              <a:ahLst/>
              <a:cxnLst/>
              <a:rect l="l" t="t" r="r" b="b"/>
              <a:pathLst>
                <a:path w="1653243" h="698500">
                  <a:moveTo>
                    <a:pt x="1653243" y="349250"/>
                  </a:moveTo>
                  <a:lnTo>
                    <a:pt x="1450043" y="698500"/>
                  </a:lnTo>
                  <a:lnTo>
                    <a:pt x="203200" y="698500"/>
                  </a:lnTo>
                  <a:lnTo>
                    <a:pt x="0" y="349250"/>
                  </a:lnTo>
                  <a:lnTo>
                    <a:pt x="203200" y="0"/>
                  </a:lnTo>
                  <a:lnTo>
                    <a:pt x="1450043" y="0"/>
                  </a:lnTo>
                  <a:lnTo>
                    <a:pt x="1653243" y="349250"/>
                  </a:lnTo>
                  <a:close/>
                </a:path>
              </a:pathLst>
            </a:custGeom>
            <a:blipFill>
              <a:blip r:embed="rId7"/>
              <a:stretch>
                <a:fillRect t="-57691"/>
              </a:stretch>
            </a:blipFill>
            <a:ln w="123825" cap="sq">
              <a:gradFill>
                <a:gsLst>
                  <a:gs pos="0">
                    <a:srgbClr val="00060D">
                      <a:alpha val="100000"/>
                    </a:srgbClr>
                  </a:gs>
                  <a:gs pos="100000">
                    <a:srgbClr val="092C71">
                      <a:alpha val="0"/>
                    </a:srgbClr>
                  </a:gs>
                </a:gsLst>
                <a:lin ang="0"/>
              </a:gra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4" name="Group 24">
            <a:extLst>
              <a:ext uri="{FF2B5EF4-FFF2-40B4-BE49-F238E27FC236}">
                <a16:creationId xmlns:a16="http://schemas.microsoft.com/office/drawing/2014/main" id="{B7C156A4-2E0E-302D-53F9-675BBA957380}"/>
              </a:ext>
            </a:extLst>
          </p:cNvPr>
          <p:cNvGrpSpPr/>
          <p:nvPr/>
        </p:nvGrpSpPr>
        <p:grpSpPr>
          <a:xfrm>
            <a:off x="9449520" y="6310014"/>
            <a:ext cx="7747558" cy="3273366"/>
            <a:chOff x="0" y="0"/>
            <a:chExt cx="1653243" cy="698500"/>
          </a:xfrm>
        </p:grpSpPr>
        <p:sp>
          <p:nvSpPr>
            <p:cNvPr id="25" name="Freeform 25">
              <a:extLst>
                <a:ext uri="{FF2B5EF4-FFF2-40B4-BE49-F238E27FC236}">
                  <a16:creationId xmlns:a16="http://schemas.microsoft.com/office/drawing/2014/main" id="{72527B32-63C4-C9BC-B737-2DDD847ADE1A}"/>
                </a:ext>
              </a:extLst>
            </p:cNvPr>
            <p:cNvSpPr/>
            <p:nvPr/>
          </p:nvSpPr>
          <p:spPr>
            <a:xfrm>
              <a:off x="0" y="0"/>
              <a:ext cx="1653243" cy="698500"/>
            </a:xfrm>
            <a:custGeom>
              <a:avLst/>
              <a:gdLst/>
              <a:ahLst/>
              <a:cxnLst/>
              <a:rect l="l" t="t" r="r" b="b"/>
              <a:pathLst>
                <a:path w="1653243" h="698500">
                  <a:moveTo>
                    <a:pt x="1653243" y="349250"/>
                  </a:moveTo>
                  <a:lnTo>
                    <a:pt x="1450043" y="698500"/>
                  </a:lnTo>
                  <a:lnTo>
                    <a:pt x="203200" y="698500"/>
                  </a:lnTo>
                  <a:lnTo>
                    <a:pt x="0" y="349250"/>
                  </a:lnTo>
                  <a:lnTo>
                    <a:pt x="203200" y="0"/>
                  </a:lnTo>
                  <a:lnTo>
                    <a:pt x="1450043" y="0"/>
                  </a:lnTo>
                  <a:lnTo>
                    <a:pt x="1653243" y="349250"/>
                  </a:lnTo>
                  <a:close/>
                </a:path>
              </a:pathLst>
            </a:custGeom>
            <a:blipFill>
              <a:blip r:embed="rId8"/>
              <a:stretch>
                <a:fillRect t="-28845" b="-28845"/>
              </a:stretch>
            </a:blipFill>
            <a:ln w="123825" cap="sq">
              <a:gradFill>
                <a:gsLst>
                  <a:gs pos="0">
                    <a:srgbClr val="00060D">
                      <a:alpha val="100000"/>
                    </a:srgbClr>
                  </a:gs>
                  <a:gs pos="100000">
                    <a:srgbClr val="092C71">
                      <a:alpha val="0"/>
                    </a:srgbClr>
                  </a:gs>
                </a:gsLst>
                <a:lin ang="0"/>
              </a:gra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6" name="Group 26">
            <a:extLst>
              <a:ext uri="{FF2B5EF4-FFF2-40B4-BE49-F238E27FC236}">
                <a16:creationId xmlns:a16="http://schemas.microsoft.com/office/drawing/2014/main" id="{D188DDB5-0ED8-4F17-7037-F341D0D16A1A}"/>
              </a:ext>
            </a:extLst>
          </p:cNvPr>
          <p:cNvGrpSpPr/>
          <p:nvPr/>
        </p:nvGrpSpPr>
        <p:grpSpPr>
          <a:xfrm>
            <a:off x="0" y="10032423"/>
            <a:ext cx="18288000" cy="254577"/>
            <a:chOff x="0" y="0"/>
            <a:chExt cx="4816593" cy="67049"/>
          </a:xfrm>
        </p:grpSpPr>
        <p:sp>
          <p:nvSpPr>
            <p:cNvPr id="27" name="Freeform 27">
              <a:extLst>
                <a:ext uri="{FF2B5EF4-FFF2-40B4-BE49-F238E27FC236}">
                  <a16:creationId xmlns:a16="http://schemas.microsoft.com/office/drawing/2014/main" id="{DC759C1E-AAED-BD93-57DE-82319170CC3F}"/>
                </a:ext>
              </a:extLst>
            </p:cNvPr>
            <p:cNvSpPr/>
            <p:nvPr/>
          </p:nvSpPr>
          <p:spPr>
            <a:xfrm>
              <a:off x="0" y="0"/>
              <a:ext cx="4816592" cy="67049"/>
            </a:xfrm>
            <a:custGeom>
              <a:avLst/>
              <a:gdLst/>
              <a:ahLst/>
              <a:cxnLst/>
              <a:rect l="l" t="t" r="r" b="b"/>
              <a:pathLst>
                <a:path w="4816592" h="67049">
                  <a:moveTo>
                    <a:pt x="0" y="0"/>
                  </a:moveTo>
                  <a:lnTo>
                    <a:pt x="4816592" y="0"/>
                  </a:lnTo>
                  <a:lnTo>
                    <a:pt x="4816592" y="67049"/>
                  </a:lnTo>
                  <a:lnTo>
                    <a:pt x="0" y="67049"/>
                  </a:lnTo>
                  <a:close/>
                </a:path>
              </a:pathLst>
            </a:custGeom>
            <a:gradFill rotWithShape="1">
              <a:gsLst>
                <a:gs pos="0">
                  <a:srgbClr val="002264">
                    <a:alpha val="100000"/>
                  </a:srgbClr>
                </a:gs>
                <a:gs pos="100000">
                  <a:srgbClr val="2D56A5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US"/>
            </a:p>
          </p:txBody>
        </p:sp>
        <p:sp>
          <p:nvSpPr>
            <p:cNvPr id="28" name="TextBox 28">
              <a:extLst>
                <a:ext uri="{FF2B5EF4-FFF2-40B4-BE49-F238E27FC236}">
                  <a16:creationId xmlns:a16="http://schemas.microsoft.com/office/drawing/2014/main" id="{30282EE4-A469-F76D-7745-4BC75B5E1B9D}"/>
                </a:ext>
              </a:extLst>
            </p:cNvPr>
            <p:cNvSpPr txBox="1"/>
            <p:nvPr/>
          </p:nvSpPr>
          <p:spPr>
            <a:xfrm>
              <a:off x="0" y="-38100"/>
              <a:ext cx="4816593" cy="10514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9" name="TextBox 29">
            <a:extLst>
              <a:ext uri="{FF2B5EF4-FFF2-40B4-BE49-F238E27FC236}">
                <a16:creationId xmlns:a16="http://schemas.microsoft.com/office/drawing/2014/main" id="{F347D6FC-3FBD-7E85-AA84-CCFF6A40EB03}"/>
              </a:ext>
            </a:extLst>
          </p:cNvPr>
          <p:cNvSpPr txBox="1"/>
          <p:nvPr/>
        </p:nvSpPr>
        <p:spPr>
          <a:xfrm>
            <a:off x="3601098" y="784500"/>
            <a:ext cx="12253955" cy="13012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704"/>
              </a:lnSpc>
              <a:spcBef>
                <a:spcPct val="0"/>
              </a:spcBef>
            </a:pPr>
            <a:r>
              <a:rPr lang="en-US" sz="7646" b="1" dirty="0">
                <a:solidFill>
                  <a:srgbClr val="10347A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RECOMMENDATIONS</a:t>
            </a:r>
          </a:p>
        </p:txBody>
      </p:sp>
      <p:sp>
        <p:nvSpPr>
          <p:cNvPr id="31" name="Rectangle 1">
            <a:extLst>
              <a:ext uri="{FF2B5EF4-FFF2-40B4-BE49-F238E27FC236}">
                <a16:creationId xmlns:a16="http://schemas.microsoft.com/office/drawing/2014/main" id="{308F1C26-9EA6-E962-CE65-69CD333A60A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64421" y="2966475"/>
            <a:ext cx="12514964" cy="26776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>
                <a:solidFill>
                  <a:schemeClr val="tx2"/>
                </a:solidFill>
              </a:rPr>
              <a:t>Actionable Next Steps</a:t>
            </a:r>
            <a:endParaRPr lang="en-US" sz="2800" dirty="0">
              <a:solidFill>
                <a:schemeClr val="tx2"/>
              </a:solidFill>
            </a:endParaRP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800" dirty="0">
                <a:solidFill>
                  <a:schemeClr val="tx2"/>
                </a:solidFill>
              </a:rPr>
              <a:t>Conduct targeted marketing campaigns for underperforming regions or products.</a:t>
            </a:r>
          </a:p>
          <a:p>
            <a:pPr marL="457200" indent="-457200">
              <a:buFont typeface="Wingdings" panose="05000000000000000000" pitchFamily="2" charset="2"/>
              <a:buChar char="ü"/>
            </a:pPr>
            <a:r>
              <a:rPr lang="en-US" sz="2800" dirty="0">
                <a:solidFill>
                  <a:schemeClr val="tx2"/>
                </a:solidFill>
              </a:rPr>
              <a:t>Align inventory planning with demand to reduce holding costs.</a:t>
            </a:r>
          </a:p>
          <a:p>
            <a:pPr marL="457200" indent="-457200">
              <a:buFont typeface="Wingdings" panose="05000000000000000000" pitchFamily="2" charset="2"/>
              <a:buChar char="ü"/>
            </a:pPr>
            <a:r>
              <a:rPr lang="en-US" sz="2800" dirty="0">
                <a:solidFill>
                  <a:schemeClr val="tx2"/>
                </a:solidFill>
              </a:rPr>
              <a:t>Regularly review KPIs to measure the impact of implemented strategies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2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9071754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2813" t="-22813"/>
            </a:stretch>
          </a:blipFill>
        </p:spPr>
        <p:txBody>
          <a:bodyPr/>
          <a:lstStyle/>
          <a:p>
            <a:r>
              <a:rPr lang="en-US" dirty="0"/>
              <a:t>h</a:t>
            </a:r>
          </a:p>
        </p:txBody>
      </p:sp>
      <p:sp>
        <p:nvSpPr>
          <p:cNvPr id="3" name="Freeform 3"/>
          <p:cNvSpPr/>
          <p:nvPr/>
        </p:nvSpPr>
        <p:spPr>
          <a:xfrm flipH="1" flipV="1">
            <a:off x="15175910" y="-1598777"/>
            <a:ext cx="7336774" cy="8325417"/>
          </a:xfrm>
          <a:custGeom>
            <a:avLst/>
            <a:gdLst/>
            <a:ahLst/>
            <a:cxnLst/>
            <a:rect l="l" t="t" r="r" b="b"/>
            <a:pathLst>
              <a:path w="7336774" h="8325417">
                <a:moveTo>
                  <a:pt x="7336774" y="8325417"/>
                </a:moveTo>
                <a:lnTo>
                  <a:pt x="0" y="8325417"/>
                </a:lnTo>
                <a:lnTo>
                  <a:pt x="0" y="0"/>
                </a:lnTo>
                <a:lnTo>
                  <a:pt x="7336774" y="0"/>
                </a:lnTo>
                <a:lnTo>
                  <a:pt x="7336774" y="8325417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/>
          <p:cNvSpPr/>
          <p:nvPr/>
        </p:nvSpPr>
        <p:spPr>
          <a:xfrm>
            <a:off x="-1855456" y="4492350"/>
            <a:ext cx="7336774" cy="8325417"/>
          </a:xfrm>
          <a:custGeom>
            <a:avLst/>
            <a:gdLst/>
            <a:ahLst/>
            <a:cxnLst/>
            <a:rect l="l" t="t" r="r" b="b"/>
            <a:pathLst>
              <a:path w="7336774" h="8325417">
                <a:moveTo>
                  <a:pt x="0" y="0"/>
                </a:moveTo>
                <a:lnTo>
                  <a:pt x="7336774" y="0"/>
                </a:lnTo>
                <a:lnTo>
                  <a:pt x="7336774" y="8325417"/>
                </a:lnTo>
                <a:lnTo>
                  <a:pt x="0" y="832541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5" name="Freeform 15"/>
          <p:cNvSpPr/>
          <p:nvPr/>
        </p:nvSpPr>
        <p:spPr>
          <a:xfrm>
            <a:off x="6700219" y="622293"/>
            <a:ext cx="764904" cy="406407"/>
          </a:xfrm>
          <a:custGeom>
            <a:avLst/>
            <a:gdLst/>
            <a:ahLst/>
            <a:cxnLst/>
            <a:rect l="l" t="t" r="r" b="b"/>
            <a:pathLst>
              <a:path w="764904" h="406407">
                <a:moveTo>
                  <a:pt x="0" y="0"/>
                </a:moveTo>
                <a:lnTo>
                  <a:pt x="764904" y="0"/>
                </a:lnTo>
                <a:lnTo>
                  <a:pt x="764904" y="406407"/>
                </a:lnTo>
                <a:lnTo>
                  <a:pt x="0" y="406407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r="-111469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6" name="Freeform 16"/>
          <p:cNvSpPr/>
          <p:nvPr/>
        </p:nvSpPr>
        <p:spPr>
          <a:xfrm>
            <a:off x="15979740" y="9055097"/>
            <a:ext cx="764904" cy="406407"/>
          </a:xfrm>
          <a:custGeom>
            <a:avLst/>
            <a:gdLst/>
            <a:ahLst/>
            <a:cxnLst/>
            <a:rect l="l" t="t" r="r" b="b"/>
            <a:pathLst>
              <a:path w="764904" h="406407">
                <a:moveTo>
                  <a:pt x="0" y="0"/>
                </a:moveTo>
                <a:lnTo>
                  <a:pt x="764904" y="0"/>
                </a:lnTo>
                <a:lnTo>
                  <a:pt x="764904" y="406406"/>
                </a:lnTo>
                <a:lnTo>
                  <a:pt x="0" y="40640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r="-111469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8" name="TextBox 18"/>
          <p:cNvSpPr txBox="1"/>
          <p:nvPr/>
        </p:nvSpPr>
        <p:spPr>
          <a:xfrm>
            <a:off x="333516" y="-28314"/>
            <a:ext cx="7600644" cy="13012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704"/>
              </a:lnSpc>
              <a:spcBef>
                <a:spcPct val="0"/>
              </a:spcBef>
            </a:pPr>
            <a:r>
              <a:rPr lang="en-US" sz="7646" b="1" dirty="0">
                <a:solidFill>
                  <a:srgbClr val="10347A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Deliverables</a:t>
            </a: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63981361-A2BF-9359-7990-46EAF0A7CD8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538869" y="1895193"/>
            <a:ext cx="4709531" cy="6067707"/>
          </a:xfrm>
          <a:prstGeom prst="rect">
            <a:avLst/>
          </a:prstGeom>
          <a:ln>
            <a:solidFill>
              <a:schemeClr val="tx2"/>
            </a:solidFill>
          </a:ln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6A62AB2-B7A8-52B7-10FD-0D9A356A07D8}"/>
              </a:ext>
            </a:extLst>
          </p:cNvPr>
          <p:cNvSpPr txBox="1"/>
          <p:nvPr/>
        </p:nvSpPr>
        <p:spPr>
          <a:xfrm>
            <a:off x="4953000" y="8555111"/>
            <a:ext cx="1022291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solidFill>
                  <a:schemeClr val="tx2"/>
                </a:solidFill>
              </a:rPr>
              <a:t>GitHub link</a:t>
            </a:r>
          </a:p>
          <a:p>
            <a:pPr algn="ctr"/>
            <a:r>
              <a:rPr lang="en-US" sz="3600" b="1" dirty="0">
                <a:solidFill>
                  <a:schemeClr val="tx2"/>
                </a:solidFill>
              </a:rPr>
              <a:t>https://github.com/sarahelmyto/Depi-project-G.C</a:t>
            </a:r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id="{5597EF65-0256-6815-5493-D440D46C0CD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61578" y="8666933"/>
            <a:ext cx="457200" cy="457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B934934-C60E-71B9-B10F-B849FAA35609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700219" y="1895193"/>
            <a:ext cx="4753638" cy="6220693"/>
          </a:xfrm>
          <a:prstGeom prst="rect">
            <a:avLst/>
          </a:prstGeom>
          <a:ln>
            <a:solidFill>
              <a:schemeClr val="tx2"/>
            </a:solidFill>
          </a:ln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E22FE283-A933-4125-DC6D-1AE6FB6394A5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1805127" y="1895192"/>
            <a:ext cx="4939517" cy="6220693"/>
          </a:xfrm>
          <a:prstGeom prst="rect">
            <a:avLst/>
          </a:prstGeom>
          <a:ln>
            <a:solidFill>
              <a:schemeClr val="tx2"/>
            </a:solidFill>
          </a:ln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2813" t="-22813"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3" name="Group 3"/>
          <p:cNvGrpSpPr/>
          <p:nvPr/>
        </p:nvGrpSpPr>
        <p:grpSpPr>
          <a:xfrm>
            <a:off x="7170349" y="10032423"/>
            <a:ext cx="11117651" cy="254577"/>
            <a:chOff x="0" y="0"/>
            <a:chExt cx="2928106" cy="67049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928106" cy="67049"/>
            </a:xfrm>
            <a:custGeom>
              <a:avLst/>
              <a:gdLst/>
              <a:ahLst/>
              <a:cxnLst/>
              <a:rect l="l" t="t" r="r" b="b"/>
              <a:pathLst>
                <a:path w="2928106" h="67049">
                  <a:moveTo>
                    <a:pt x="0" y="0"/>
                  </a:moveTo>
                  <a:lnTo>
                    <a:pt x="2928106" y="0"/>
                  </a:lnTo>
                  <a:lnTo>
                    <a:pt x="2928106" y="67049"/>
                  </a:lnTo>
                  <a:lnTo>
                    <a:pt x="0" y="67049"/>
                  </a:lnTo>
                  <a:close/>
                </a:path>
              </a:pathLst>
            </a:custGeom>
            <a:gradFill rotWithShape="1">
              <a:gsLst>
                <a:gs pos="0">
                  <a:srgbClr val="002264">
                    <a:alpha val="100000"/>
                  </a:srgbClr>
                </a:gs>
                <a:gs pos="100000">
                  <a:srgbClr val="2D56A5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US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2928106" cy="10514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0" y="0"/>
            <a:ext cx="18288000" cy="254577"/>
            <a:chOff x="0" y="0"/>
            <a:chExt cx="4816593" cy="67049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4816592" cy="67049"/>
            </a:xfrm>
            <a:custGeom>
              <a:avLst/>
              <a:gdLst/>
              <a:ahLst/>
              <a:cxnLst/>
              <a:rect l="l" t="t" r="r" b="b"/>
              <a:pathLst>
                <a:path w="4816592" h="67049">
                  <a:moveTo>
                    <a:pt x="0" y="0"/>
                  </a:moveTo>
                  <a:lnTo>
                    <a:pt x="4816592" y="0"/>
                  </a:lnTo>
                  <a:lnTo>
                    <a:pt x="4816592" y="67049"/>
                  </a:lnTo>
                  <a:lnTo>
                    <a:pt x="0" y="67049"/>
                  </a:lnTo>
                  <a:close/>
                </a:path>
              </a:pathLst>
            </a:custGeom>
            <a:gradFill rotWithShape="1">
              <a:gsLst>
                <a:gs pos="0">
                  <a:srgbClr val="002264">
                    <a:alpha val="100000"/>
                  </a:srgbClr>
                </a:gs>
                <a:gs pos="100000">
                  <a:srgbClr val="2D56A5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4816593" cy="10514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3281682" y="-1585282"/>
            <a:ext cx="6019535" cy="2448388"/>
            <a:chOff x="0" y="0"/>
            <a:chExt cx="1717312" cy="6985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717311" cy="698500"/>
            </a:xfrm>
            <a:custGeom>
              <a:avLst/>
              <a:gdLst/>
              <a:ahLst/>
              <a:cxnLst/>
              <a:rect l="l" t="t" r="r" b="b"/>
              <a:pathLst>
                <a:path w="1717311" h="698500">
                  <a:moveTo>
                    <a:pt x="1717311" y="349250"/>
                  </a:moveTo>
                  <a:lnTo>
                    <a:pt x="1514112" y="698500"/>
                  </a:lnTo>
                  <a:lnTo>
                    <a:pt x="203200" y="698500"/>
                  </a:lnTo>
                  <a:lnTo>
                    <a:pt x="0" y="349250"/>
                  </a:lnTo>
                  <a:lnTo>
                    <a:pt x="203200" y="0"/>
                  </a:lnTo>
                  <a:lnTo>
                    <a:pt x="1514112" y="0"/>
                  </a:lnTo>
                  <a:lnTo>
                    <a:pt x="1717311" y="349250"/>
                  </a:lnTo>
                  <a:close/>
                </a:path>
              </a:pathLst>
            </a:custGeom>
            <a:gradFill rotWithShape="1">
              <a:gsLst>
                <a:gs pos="0">
                  <a:srgbClr val="002264">
                    <a:alpha val="100000"/>
                  </a:srgbClr>
                </a:gs>
                <a:gs pos="100000">
                  <a:srgbClr val="2D56A5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14300" y="-38100"/>
              <a:ext cx="1488712" cy="7366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16473017" y="-428521"/>
            <a:ext cx="6019535" cy="2448388"/>
            <a:chOff x="0" y="0"/>
            <a:chExt cx="1717312" cy="69850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1717311" cy="698500"/>
            </a:xfrm>
            <a:custGeom>
              <a:avLst/>
              <a:gdLst/>
              <a:ahLst/>
              <a:cxnLst/>
              <a:rect l="l" t="t" r="r" b="b"/>
              <a:pathLst>
                <a:path w="1717311" h="698500">
                  <a:moveTo>
                    <a:pt x="1717311" y="349250"/>
                  </a:moveTo>
                  <a:lnTo>
                    <a:pt x="1514112" y="698500"/>
                  </a:lnTo>
                  <a:lnTo>
                    <a:pt x="203200" y="698500"/>
                  </a:lnTo>
                  <a:lnTo>
                    <a:pt x="0" y="349250"/>
                  </a:lnTo>
                  <a:lnTo>
                    <a:pt x="203200" y="0"/>
                  </a:lnTo>
                  <a:lnTo>
                    <a:pt x="1514112" y="0"/>
                  </a:lnTo>
                  <a:lnTo>
                    <a:pt x="1717311" y="349250"/>
                  </a:lnTo>
                  <a:close/>
                </a:path>
              </a:pathLst>
            </a:custGeom>
            <a:gradFill rotWithShape="1">
              <a:gsLst>
                <a:gs pos="0">
                  <a:srgbClr val="002264">
                    <a:alpha val="100000"/>
                  </a:srgbClr>
                </a:gs>
                <a:gs pos="100000">
                  <a:srgbClr val="2D56A5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14300" y="-38100"/>
              <a:ext cx="1488712" cy="7366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-1319007" y="-1008442"/>
            <a:ext cx="6786560" cy="3341872"/>
            <a:chOff x="0" y="0"/>
            <a:chExt cx="1418490" cy="698500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1418490" cy="698500"/>
            </a:xfrm>
            <a:custGeom>
              <a:avLst/>
              <a:gdLst/>
              <a:ahLst/>
              <a:cxnLst/>
              <a:rect l="l" t="t" r="r" b="b"/>
              <a:pathLst>
                <a:path w="1418490" h="698500">
                  <a:moveTo>
                    <a:pt x="1418490" y="349250"/>
                  </a:moveTo>
                  <a:lnTo>
                    <a:pt x="1215290" y="698500"/>
                  </a:lnTo>
                  <a:lnTo>
                    <a:pt x="203200" y="698500"/>
                  </a:lnTo>
                  <a:lnTo>
                    <a:pt x="0" y="349250"/>
                  </a:lnTo>
                  <a:lnTo>
                    <a:pt x="203200" y="0"/>
                  </a:lnTo>
                  <a:lnTo>
                    <a:pt x="1215290" y="0"/>
                  </a:lnTo>
                  <a:lnTo>
                    <a:pt x="1418490" y="349250"/>
                  </a:lnTo>
                  <a:close/>
                </a:path>
              </a:pathLst>
            </a:custGeom>
            <a:gradFill rotWithShape="1">
              <a:gsLst>
                <a:gs pos="0">
                  <a:srgbClr val="002264">
                    <a:alpha val="100000"/>
                  </a:srgbClr>
                </a:gs>
                <a:gs pos="100000">
                  <a:srgbClr val="2D56A5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14300" y="-38100"/>
              <a:ext cx="1189890" cy="7366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8" name="Freeform 18"/>
          <p:cNvSpPr/>
          <p:nvPr/>
        </p:nvSpPr>
        <p:spPr>
          <a:xfrm rot="5400000">
            <a:off x="1066613" y="484448"/>
            <a:ext cx="663947" cy="739774"/>
          </a:xfrm>
          <a:custGeom>
            <a:avLst/>
            <a:gdLst/>
            <a:ahLst/>
            <a:cxnLst/>
            <a:rect l="l" t="t" r="r" b="b"/>
            <a:pathLst>
              <a:path w="663947" h="739774">
                <a:moveTo>
                  <a:pt x="0" y="0"/>
                </a:moveTo>
                <a:lnTo>
                  <a:pt x="663948" y="0"/>
                </a:lnTo>
                <a:lnTo>
                  <a:pt x="663948" y="739774"/>
                </a:lnTo>
                <a:lnTo>
                  <a:pt x="0" y="73977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9" name="Freeform 19"/>
          <p:cNvSpPr/>
          <p:nvPr/>
        </p:nvSpPr>
        <p:spPr>
          <a:xfrm>
            <a:off x="7170349" y="1264529"/>
            <a:ext cx="764904" cy="406407"/>
          </a:xfrm>
          <a:custGeom>
            <a:avLst/>
            <a:gdLst/>
            <a:ahLst/>
            <a:cxnLst/>
            <a:rect l="l" t="t" r="r" b="b"/>
            <a:pathLst>
              <a:path w="764904" h="406407">
                <a:moveTo>
                  <a:pt x="0" y="0"/>
                </a:moveTo>
                <a:lnTo>
                  <a:pt x="764904" y="0"/>
                </a:lnTo>
                <a:lnTo>
                  <a:pt x="764904" y="406407"/>
                </a:lnTo>
                <a:lnTo>
                  <a:pt x="0" y="406407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r="-111469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0" name="Freeform 20"/>
          <p:cNvSpPr/>
          <p:nvPr/>
        </p:nvSpPr>
        <p:spPr>
          <a:xfrm>
            <a:off x="17259300" y="9195638"/>
            <a:ext cx="764904" cy="406407"/>
          </a:xfrm>
          <a:custGeom>
            <a:avLst/>
            <a:gdLst/>
            <a:ahLst/>
            <a:cxnLst/>
            <a:rect l="l" t="t" r="r" b="b"/>
            <a:pathLst>
              <a:path w="764904" h="406407">
                <a:moveTo>
                  <a:pt x="0" y="0"/>
                </a:moveTo>
                <a:lnTo>
                  <a:pt x="764904" y="0"/>
                </a:lnTo>
                <a:lnTo>
                  <a:pt x="764904" y="406406"/>
                </a:lnTo>
                <a:lnTo>
                  <a:pt x="0" y="40640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r="-111469"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22" name="Group 22"/>
          <p:cNvGrpSpPr/>
          <p:nvPr/>
        </p:nvGrpSpPr>
        <p:grpSpPr>
          <a:xfrm rot="1816035">
            <a:off x="5340922" y="7705287"/>
            <a:ext cx="2100914" cy="3607141"/>
            <a:chOff x="0" y="0"/>
            <a:chExt cx="553327" cy="950029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553327" cy="950029"/>
            </a:xfrm>
            <a:custGeom>
              <a:avLst/>
              <a:gdLst/>
              <a:ahLst/>
              <a:cxnLst/>
              <a:rect l="l" t="t" r="r" b="b"/>
              <a:pathLst>
                <a:path w="553327" h="950029">
                  <a:moveTo>
                    <a:pt x="0" y="0"/>
                  </a:moveTo>
                  <a:lnTo>
                    <a:pt x="553327" y="0"/>
                  </a:lnTo>
                  <a:lnTo>
                    <a:pt x="553327" y="950029"/>
                  </a:lnTo>
                  <a:lnTo>
                    <a:pt x="0" y="950029"/>
                  </a:lnTo>
                  <a:close/>
                </a:path>
              </a:pathLst>
            </a:custGeom>
            <a:gradFill rotWithShape="1">
              <a:gsLst>
                <a:gs pos="0">
                  <a:srgbClr val="002264">
                    <a:alpha val="100000"/>
                  </a:srgbClr>
                </a:gs>
                <a:gs pos="100000">
                  <a:srgbClr val="2D56A5">
                    <a:alpha val="100000"/>
                  </a:srgbClr>
                </a:gs>
              </a:gsLst>
              <a:lin ang="5400000"/>
            </a:gradFill>
          </p:spPr>
          <p:txBody>
            <a:bodyPr/>
            <a:lstStyle/>
            <a:p>
              <a:endParaRPr lang="en-US"/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0" y="-38100"/>
              <a:ext cx="553327" cy="98812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5125191" y="9195638"/>
            <a:ext cx="5586387" cy="4800801"/>
            <a:chOff x="0" y="0"/>
            <a:chExt cx="812800" cy="698500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812800" cy="698500"/>
            </a:xfrm>
            <a:custGeom>
              <a:avLst/>
              <a:gdLst/>
              <a:ahLst/>
              <a:cxnLst/>
              <a:rect l="l" t="t" r="r" b="b"/>
              <a:pathLst>
                <a:path w="812800" h="698500">
                  <a:moveTo>
                    <a:pt x="812800" y="349250"/>
                  </a:moveTo>
                  <a:lnTo>
                    <a:pt x="609600" y="698500"/>
                  </a:lnTo>
                  <a:lnTo>
                    <a:pt x="203200" y="698500"/>
                  </a:lnTo>
                  <a:lnTo>
                    <a:pt x="0" y="349250"/>
                  </a:lnTo>
                  <a:lnTo>
                    <a:pt x="203200" y="0"/>
                  </a:lnTo>
                  <a:lnTo>
                    <a:pt x="609600" y="0"/>
                  </a:lnTo>
                  <a:lnTo>
                    <a:pt x="812800" y="34925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0" cap="sq">
              <a:solidFill>
                <a:srgbClr val="FFFFFF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114300" y="-38100"/>
              <a:ext cx="584200" cy="7366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-2941230" y="2656107"/>
            <a:ext cx="9520352" cy="7630893"/>
            <a:chOff x="0" y="0"/>
            <a:chExt cx="871453" cy="698500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871453" cy="698500"/>
            </a:xfrm>
            <a:custGeom>
              <a:avLst/>
              <a:gdLst/>
              <a:ahLst/>
              <a:cxnLst/>
              <a:rect l="l" t="t" r="r" b="b"/>
              <a:pathLst>
                <a:path w="871453" h="698500">
                  <a:moveTo>
                    <a:pt x="871453" y="349250"/>
                  </a:moveTo>
                  <a:lnTo>
                    <a:pt x="668253" y="698500"/>
                  </a:lnTo>
                  <a:lnTo>
                    <a:pt x="203200" y="698500"/>
                  </a:lnTo>
                  <a:lnTo>
                    <a:pt x="0" y="349250"/>
                  </a:lnTo>
                  <a:lnTo>
                    <a:pt x="203200" y="0"/>
                  </a:lnTo>
                  <a:lnTo>
                    <a:pt x="668253" y="0"/>
                  </a:lnTo>
                  <a:lnTo>
                    <a:pt x="871453" y="349250"/>
                  </a:lnTo>
                  <a:close/>
                </a:path>
              </a:pathLst>
            </a:custGeom>
            <a:gradFill rotWithShape="1">
              <a:gsLst>
                <a:gs pos="0">
                  <a:srgbClr val="002264">
                    <a:alpha val="100000"/>
                  </a:srgbClr>
                </a:gs>
                <a:gs pos="100000">
                  <a:srgbClr val="2D56A5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US"/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114300" y="-38100"/>
              <a:ext cx="642853" cy="7366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-2787589" y="3059494"/>
            <a:ext cx="8881613" cy="7118921"/>
            <a:chOff x="0" y="0"/>
            <a:chExt cx="871453" cy="698500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871453" cy="698500"/>
            </a:xfrm>
            <a:custGeom>
              <a:avLst/>
              <a:gdLst/>
              <a:ahLst/>
              <a:cxnLst/>
              <a:rect l="l" t="t" r="r" b="b"/>
              <a:pathLst>
                <a:path w="871453" h="698500">
                  <a:moveTo>
                    <a:pt x="871453" y="349250"/>
                  </a:moveTo>
                  <a:lnTo>
                    <a:pt x="668253" y="698500"/>
                  </a:lnTo>
                  <a:lnTo>
                    <a:pt x="203200" y="698500"/>
                  </a:lnTo>
                  <a:lnTo>
                    <a:pt x="0" y="349250"/>
                  </a:lnTo>
                  <a:lnTo>
                    <a:pt x="203200" y="0"/>
                  </a:lnTo>
                  <a:lnTo>
                    <a:pt x="668253" y="0"/>
                  </a:lnTo>
                  <a:lnTo>
                    <a:pt x="871453" y="349250"/>
                  </a:lnTo>
                  <a:close/>
                </a:path>
              </a:pathLst>
            </a:custGeom>
            <a:blipFill>
              <a:blip r:embed="rId7"/>
              <a:stretch>
                <a:fillRect l="-48219" t="-11899" b="-15001"/>
              </a:stretch>
            </a:blipFill>
            <a:ln w="123825" cap="sq">
              <a:gradFill>
                <a:gsLst>
                  <a:gs pos="0">
                    <a:srgbClr val="00060D">
                      <a:alpha val="100000"/>
                    </a:srgbClr>
                  </a:gs>
                  <a:gs pos="100000">
                    <a:srgbClr val="092C71">
                      <a:alpha val="0"/>
                    </a:srgbClr>
                  </a:gs>
                </a:gsLst>
                <a:lin ang="0"/>
              </a:gra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3780905" y="4066836"/>
            <a:ext cx="5596435" cy="4809436"/>
            <a:chOff x="0" y="0"/>
            <a:chExt cx="812800" cy="698500"/>
          </a:xfrm>
        </p:grpSpPr>
        <p:sp>
          <p:nvSpPr>
            <p:cNvPr id="34" name="Freeform 34"/>
            <p:cNvSpPr/>
            <p:nvPr/>
          </p:nvSpPr>
          <p:spPr>
            <a:xfrm>
              <a:off x="0" y="0"/>
              <a:ext cx="812800" cy="698500"/>
            </a:xfrm>
            <a:custGeom>
              <a:avLst/>
              <a:gdLst/>
              <a:ahLst/>
              <a:cxnLst/>
              <a:rect l="l" t="t" r="r" b="b"/>
              <a:pathLst>
                <a:path w="812800" h="698500">
                  <a:moveTo>
                    <a:pt x="812800" y="349250"/>
                  </a:moveTo>
                  <a:lnTo>
                    <a:pt x="609600" y="698500"/>
                  </a:lnTo>
                  <a:lnTo>
                    <a:pt x="203200" y="698500"/>
                  </a:lnTo>
                  <a:lnTo>
                    <a:pt x="0" y="349250"/>
                  </a:lnTo>
                  <a:lnTo>
                    <a:pt x="203200" y="0"/>
                  </a:lnTo>
                  <a:lnTo>
                    <a:pt x="609600" y="0"/>
                  </a:lnTo>
                  <a:lnTo>
                    <a:pt x="812800" y="349250"/>
                  </a:lnTo>
                  <a:close/>
                </a:path>
              </a:pathLst>
            </a:custGeom>
            <a:gradFill rotWithShape="1">
              <a:gsLst>
                <a:gs pos="0">
                  <a:srgbClr val="002264">
                    <a:alpha val="100000"/>
                  </a:srgbClr>
                </a:gs>
                <a:gs pos="100000">
                  <a:srgbClr val="2D56A5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US"/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114300" y="-38100"/>
              <a:ext cx="584200" cy="7366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4022618" y="4272057"/>
            <a:ext cx="5113008" cy="4393991"/>
            <a:chOff x="0" y="0"/>
            <a:chExt cx="812800" cy="698500"/>
          </a:xfrm>
        </p:grpSpPr>
        <p:sp>
          <p:nvSpPr>
            <p:cNvPr id="37" name="Freeform 37"/>
            <p:cNvSpPr/>
            <p:nvPr/>
          </p:nvSpPr>
          <p:spPr>
            <a:xfrm flipH="1">
              <a:off x="0" y="0"/>
              <a:ext cx="812800" cy="698500"/>
            </a:xfrm>
            <a:custGeom>
              <a:avLst/>
              <a:gdLst/>
              <a:ahLst/>
              <a:cxnLst/>
              <a:rect l="l" t="t" r="r" b="b"/>
              <a:pathLst>
                <a:path w="812800" h="698500">
                  <a:moveTo>
                    <a:pt x="0" y="349250"/>
                  </a:moveTo>
                  <a:lnTo>
                    <a:pt x="203200" y="698500"/>
                  </a:lnTo>
                  <a:lnTo>
                    <a:pt x="609600" y="698500"/>
                  </a:lnTo>
                  <a:lnTo>
                    <a:pt x="812800" y="349250"/>
                  </a:lnTo>
                  <a:lnTo>
                    <a:pt x="609600" y="0"/>
                  </a:lnTo>
                  <a:lnTo>
                    <a:pt x="203200" y="0"/>
                  </a:lnTo>
                  <a:lnTo>
                    <a:pt x="0" y="349250"/>
                  </a:lnTo>
                  <a:close/>
                </a:path>
              </a:pathLst>
            </a:custGeom>
            <a:blipFill>
              <a:blip r:embed="rId8"/>
              <a:stretch>
                <a:fillRect l="-14493" r="-14493"/>
              </a:stretch>
            </a:blipFill>
            <a:ln w="123825" cap="sq">
              <a:gradFill>
                <a:gsLst>
                  <a:gs pos="0">
                    <a:srgbClr val="00060D">
                      <a:alpha val="100000"/>
                    </a:srgbClr>
                  </a:gs>
                  <a:gs pos="100000">
                    <a:srgbClr val="092C71">
                      <a:alpha val="0"/>
                    </a:srgbClr>
                  </a:gs>
                </a:gsLst>
                <a:lin ang="0"/>
              </a:gra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38" name="TextBox 38"/>
          <p:cNvSpPr txBox="1"/>
          <p:nvPr/>
        </p:nvSpPr>
        <p:spPr>
          <a:xfrm>
            <a:off x="10423424" y="1800792"/>
            <a:ext cx="6788251" cy="18487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009"/>
              </a:lnSpc>
              <a:spcBef>
                <a:spcPct val="0"/>
              </a:spcBef>
            </a:pPr>
            <a:r>
              <a:rPr lang="en-US" sz="10721" b="1">
                <a:solidFill>
                  <a:srgbClr val="00060D"/>
                </a:solidFill>
                <a:latin typeface="Montaser Arabic Semi-Bold"/>
                <a:ea typeface="Montaser Arabic Semi-Bold"/>
                <a:cs typeface="Montaser Arabic Semi-Bold"/>
                <a:sym typeface="Montaser Arabic Semi-Bold"/>
              </a:rPr>
              <a:t>THANK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10423424" y="3120620"/>
            <a:ext cx="6788251" cy="18487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009"/>
              </a:lnSpc>
              <a:spcBef>
                <a:spcPct val="0"/>
              </a:spcBef>
            </a:pPr>
            <a:r>
              <a:rPr lang="en-US" sz="10721" b="1">
                <a:solidFill>
                  <a:srgbClr val="10347A"/>
                </a:solidFill>
                <a:latin typeface="Montaser Arabic Semi-Bold"/>
                <a:ea typeface="Montaser Arabic Semi-Bold"/>
                <a:cs typeface="Montaser Arabic Semi-Bold"/>
                <a:sym typeface="Montaser Arabic Semi-Bold"/>
              </a:rPr>
              <a:t>YOU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10423424" y="5243359"/>
            <a:ext cx="6788251" cy="24109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844"/>
              </a:lnSpc>
            </a:pPr>
            <a:r>
              <a:rPr lang="en-US" sz="2745">
                <a:solidFill>
                  <a:srgbClr val="00060D"/>
                </a:solidFill>
                <a:latin typeface="Roboto"/>
                <a:ea typeface="Roboto"/>
                <a:cs typeface="Roboto"/>
                <a:sym typeface="Roboto"/>
              </a:rPr>
              <a:t>We truly appreciate your participation and interest. Should you have any further questions or need assistance, feel free to reach out. We look forward to working together towards continued success.</a:t>
            </a:r>
          </a:p>
        </p:txBody>
      </p:sp>
      <p:pic>
        <p:nvPicPr>
          <p:cNvPr id="45" name="Picture 44">
            <a:extLst>
              <a:ext uri="{FF2B5EF4-FFF2-40B4-BE49-F238E27FC236}">
                <a16:creationId xmlns:a16="http://schemas.microsoft.com/office/drawing/2014/main" id="{E024F50D-AB8B-D020-F22E-63A4FD3DCA1F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650884" y="563493"/>
            <a:ext cx="3106501" cy="1398493"/>
          </a:xfrm>
          <a:prstGeom prst="rect">
            <a:avLst/>
          </a:prstGeom>
        </p:spPr>
      </p:pic>
      <p:pic>
        <p:nvPicPr>
          <p:cNvPr id="46" name="Picture 45">
            <a:extLst>
              <a:ext uri="{FF2B5EF4-FFF2-40B4-BE49-F238E27FC236}">
                <a16:creationId xmlns:a16="http://schemas.microsoft.com/office/drawing/2014/main" id="{826B5D13-016E-4AF0-ACAC-4ACF8C09FD97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428724" y="562618"/>
            <a:ext cx="2696675" cy="1226372"/>
          </a:xfrm>
          <a:prstGeom prst="rect">
            <a:avLst/>
          </a:prstGeom>
        </p:spPr>
      </p:pic>
      <p:pic>
        <p:nvPicPr>
          <p:cNvPr id="47" name="Picture 46">
            <a:extLst>
              <a:ext uri="{FF2B5EF4-FFF2-40B4-BE49-F238E27FC236}">
                <a16:creationId xmlns:a16="http://schemas.microsoft.com/office/drawing/2014/main" id="{33DF6EE7-AD6E-2A06-BE1E-EB9084AD90CC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6118611" y="8512878"/>
            <a:ext cx="2124344" cy="1378747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Circuit</Template>
  <TotalTime>1309</TotalTime>
  <Words>1263</Words>
  <Application>Microsoft Office PowerPoint</Application>
  <PresentationFormat>Custom</PresentationFormat>
  <Paragraphs>212</Paragraphs>
  <Slides>37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37</vt:i4>
      </vt:variant>
    </vt:vector>
  </HeadingPairs>
  <TitlesOfParts>
    <vt:vector size="46" baseType="lpstr">
      <vt:lpstr>Aptos</vt:lpstr>
      <vt:lpstr>Calibri</vt:lpstr>
      <vt:lpstr>Roboto Bold</vt:lpstr>
      <vt:lpstr>Arial</vt:lpstr>
      <vt:lpstr>Montaser Arabic Semi-Bold</vt:lpstr>
      <vt:lpstr>Wingdings</vt:lpstr>
      <vt:lpstr>Roboto</vt:lpstr>
      <vt:lpstr>Montaser Arabic Bold</vt:lpstr>
      <vt:lpstr>Office Theme</vt:lpstr>
      <vt:lpstr>PowerPoint Presentation</vt:lpstr>
      <vt:lpstr>Team members: </vt:lpstr>
      <vt:lpstr>Table of content</vt:lpstr>
      <vt:lpstr>Table of content</vt:lpstr>
      <vt:lpstr>PowerPoint Presentation</vt:lpstr>
      <vt:lpstr>PowerPoint Presentation</vt:lpstr>
      <vt:lpstr>Table of content</vt:lpstr>
      <vt:lpstr>PowerPoint Presentation</vt:lpstr>
      <vt:lpstr>Overview after normalization</vt:lpstr>
      <vt:lpstr>Data Model</vt:lpstr>
      <vt:lpstr>PowerPoint Presentation</vt:lpstr>
      <vt:lpstr>PowerPoint Presentation</vt:lpstr>
      <vt:lpstr>PowerPoint Presentation</vt:lpstr>
      <vt:lpstr>Table of content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Table of content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Table of content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Blue and White Modern Sales Report Presentation</dc:title>
  <cp:lastModifiedBy>doaa soliman</cp:lastModifiedBy>
  <cp:revision>42</cp:revision>
  <dcterms:created xsi:type="dcterms:W3CDTF">2006-08-16T00:00:00Z</dcterms:created>
  <dcterms:modified xsi:type="dcterms:W3CDTF">2025-12-06T14:18:47Z</dcterms:modified>
  <dc:identifier>DAG5uqKq18Y</dc:identifier>
</cp:coreProperties>
</file>